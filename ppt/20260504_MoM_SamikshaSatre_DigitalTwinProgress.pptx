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1" d="100"/>
          <a:sy n="91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44608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2468880" cy="36576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6984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supméca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329184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28600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MECHATRONICS MODELLING OF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ENTIRE INDUSTRY 5.0</a:t>
            </a:r>
            <a:endParaRPr lang="en-US" sz="17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of Minutes — 4th supervisor meeting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C4C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May 2026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AA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Intern: </a:t>
            </a: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Samiksha Satre</a:t>
            </a:r>
            <a:endParaRPr lang="en-US" sz="950" dirty="0"/>
          </a:p>
          <a:p>
            <a:pPr marL="0" indent="0">
              <a:spcAft>
                <a:spcPts val="100"/>
              </a:spcAft>
              <a:buNone/>
            </a:pPr>
            <a:r>
              <a:rPr lang="en-US" sz="950" dirty="0">
                <a:solidFill>
                  <a:srgbClr val="AA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</a:t>
            </a: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Romain Delabeye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57200" y="4297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4TH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663440" y="411480"/>
            <a:ext cx="4114800" cy="3840480"/>
          </a:xfrm>
          <a:prstGeom prst="rect">
            <a:avLst/>
          </a:prstGeom>
          <a:solidFill>
            <a:srgbClr val="4A5A6F"/>
          </a:solidFill>
          <a:ln w="12700">
            <a:solidFill>
              <a:srgbClr val="4A5A6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1737360"/>
            <a:ext cx="4114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—</a:t>
            </a:r>
            <a:endParaRPr lang="en-US" sz="1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ALIX Industry 5.0</a:t>
            </a:r>
            <a:endParaRPr lang="en-US" sz="18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800" i="1" dirty="0">
                <a:solidFill>
                  <a:srgbClr val="D6D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Line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&amp; expected outcome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914400"/>
            <a:ext cx="0" cy="3383280"/>
          </a:xfrm>
          <a:prstGeom prst="line">
            <a:avLst/>
          </a:prstGeom>
          <a:noFill/>
          <a:ln w="15240">
            <a:solidFill>
              <a:srgbClr val="2C38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601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goal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4069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a multiphysics digital twin of the ALIX Industry 5.0 production line at ISAE-Supméca.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models of all four subsystems integrated through FMI 2.0 co-simulation.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Reproduce the physical line behaviour in a virtual environment for analysis &amp; fault studies.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3154680"/>
            <a:ext cx="4069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modelling of subsystems (mechanical, electrical, control).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Modelica implementation in 3DEXPERIENCE → FMU export.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orchestration &amp; validation against TDMS experimental data.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09160" y="96012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 for this meeting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709160" y="1325880"/>
            <a:ext cx="40690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dq-frame conveyor motor model and its parameter set.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the chosen MBSE methodology and FMI co-simulation architecture.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on next subsystem to model (Dobot CR5 vs MiR100 AGV).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 experimental TDMS data acquisition plan for validation.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on the updated Gantt and milestone deadlines.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ALIX Industry 5.0 production line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cyber-physical platform integrating collaborative robots, AGVs, smart sensors, PLC automation and digital twin simulation.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690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71600"/>
            <a:ext cx="73152" cy="310896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08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Conditioning Mode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Filling, closing &amp; packaging line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2286000"/>
            <a:ext cx="3703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Filling jars with granules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containers (cap placement)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finished jars into trays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+ XY10 pick-and-place + RFID traceability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40690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1371600"/>
            <a:ext cx="73152" cy="310896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5087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Mode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Robotic gear-reducer assembly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37760" y="2286000"/>
            <a:ext cx="37033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of planetary gear reducers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Dobot CR5 cobot for component handling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MiR100 AGV for inter-station transport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In-line quality control and verification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architecture — 4 subsystems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subsystem is exported as an FMU and orchestrated in Python following the FMI 2.0 standard.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02920" y="1536192"/>
            <a:ext cx="365760" cy="365760"/>
          </a:xfrm>
          <a:prstGeom prst="ellipse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Motor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— current work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21488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3-phase induction motor + Motovario NMRV 030 gearbox.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dq-frame dynamic model in Modelica.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9160" y="137160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1536192"/>
            <a:ext cx="365760" cy="365760"/>
          </a:xfrm>
          <a:prstGeom prst="ellipse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46320" y="1536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303520" y="150876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Manipulator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1828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Dobot CR5 cobot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1488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6-DOF reduced to 3-DOF kinematic model for system-level simulation.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5 kg, reach 900 mm.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" y="3090672"/>
            <a:ext cx="365760" cy="365760"/>
          </a:xfrm>
          <a:prstGeom prst="ellipse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60120" y="3063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AGV Mobile Platform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60120" y="3383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ERMASMART / MiR100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703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Differential-drive motion model.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m/s forward, 100 kg payload, ±50 mm accuracy.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292608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46320" y="3090672"/>
            <a:ext cx="365760" cy="365760"/>
          </a:xfrm>
          <a:prstGeom prst="ellipse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46320" y="3090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303520" y="30632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 Mechanism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33832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ERMASMART XY10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37033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3-axis Cartesian pick-and-place with vacuum gripper.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Siemens S7-1200 PLC, IO-Link, RFID.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 Process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325880"/>
            <a:ext cx="1920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417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subsystems &amp; interfaces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50592" y="1325880"/>
            <a:ext cx="1920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542032" y="1417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542032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extraction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42032" y="2286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Datasheets &amp; technical docs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35424" y="1325880"/>
            <a:ext cx="1920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6864" y="1417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626864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Mathematical modelling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26864" y="2286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per subsystem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20256" y="1325880"/>
            <a:ext cx="1920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11696" y="14173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11696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Modelica behaviour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11696" y="2286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in 3DEXPERIENCE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2926080"/>
            <a:ext cx="1920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017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457200" y="3566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FMU export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Mock-up Units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450592" y="2926080"/>
            <a:ext cx="1920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42032" y="3017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2542032" y="3566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co-simulation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542032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 FMUs (FMI 2.0)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693408" y="2926080"/>
            <a:ext cx="18288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03136" y="305010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784848" y="3536731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validation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803136" y="385913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TDMS data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23">
            <a:extLst>
              <a:ext uri="{FF2B5EF4-FFF2-40B4-BE49-F238E27FC236}">
                <a16:creationId xmlns:a16="http://schemas.microsoft.com/office/drawing/2014/main" id="{36929256-2868-78BC-8CBF-86A956842796}"/>
              </a:ext>
            </a:extLst>
          </p:cNvPr>
          <p:cNvSpPr/>
          <p:nvPr/>
        </p:nvSpPr>
        <p:spPr>
          <a:xfrm>
            <a:off x="4572000" y="2926080"/>
            <a:ext cx="192024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0CF37161-EB28-B86E-A820-2BE771DEA76D}"/>
              </a:ext>
            </a:extLst>
          </p:cNvPr>
          <p:cNvSpPr/>
          <p:nvPr/>
        </p:nvSpPr>
        <p:spPr>
          <a:xfrm>
            <a:off x="4663440" y="30175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2600" dirty="0"/>
          </a:p>
        </p:txBody>
      </p:sp>
      <p:sp>
        <p:nvSpPr>
          <p:cNvPr id="41" name="Text 25">
            <a:extLst>
              <a:ext uri="{FF2B5EF4-FFF2-40B4-BE49-F238E27FC236}">
                <a16:creationId xmlns:a16="http://schemas.microsoft.com/office/drawing/2014/main" id="{5A0BD267-33E0-1E08-A57F-5FF481DFBB53}"/>
              </a:ext>
            </a:extLst>
          </p:cNvPr>
          <p:cNvSpPr/>
          <p:nvPr/>
        </p:nvSpPr>
        <p:spPr>
          <a:xfrm>
            <a:off x="4663440" y="35661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/>
              <a:t>Model Calibration</a:t>
            </a:r>
          </a:p>
        </p:txBody>
      </p:sp>
      <p:sp>
        <p:nvSpPr>
          <p:cNvPr id="42" name="Text 26">
            <a:extLst>
              <a:ext uri="{FF2B5EF4-FFF2-40B4-BE49-F238E27FC236}">
                <a16:creationId xmlns:a16="http://schemas.microsoft.com/office/drawing/2014/main" id="{D89F8B50-1E8B-0D9D-FBB6-254309FDBC87}"/>
              </a:ext>
            </a:extLst>
          </p:cNvPr>
          <p:cNvSpPr/>
          <p:nvPr/>
        </p:nvSpPr>
        <p:spPr>
          <a:xfrm>
            <a:off x="4663440" y="38862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/>
              <a:t>Calibrating the models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C3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motor — focus of this meeting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Modelling, parameters &amp; first simulation results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5C6B7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A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A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motor — specifications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914400"/>
            <a:ext cx="0" cy="3383280"/>
          </a:xfrm>
          <a:prstGeom prst="line">
            <a:avLst/>
          </a:prstGeom>
          <a:noFill/>
          <a:ln w="15240">
            <a:solidFill>
              <a:srgbClr val="2C38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Three-phase induction motor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19456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 kW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664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Voltage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194560" y="16642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 / 400 V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19568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194560" y="195681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Hz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2249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speed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194560" y="22494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1400 RPM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5760" y="2542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poles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194560" y="2542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194560" y="28346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0916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&amp; belt drive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09160" y="1371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Gearbox model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37960" y="137160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Motovario NMRV 030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09160" y="1664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ratio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37960" y="1664208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: 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09160" y="195681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type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537960" y="195681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Worm-gear, hollow shaft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709160" y="224942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Belt speed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537960" y="2249424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 – 0.22 m/s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09160" y="25420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Belt length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537960" y="254203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2.4 m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709160" y="2834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379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Jars / trays / parts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65760" y="4069080"/>
            <a:ext cx="84124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4069080"/>
            <a:ext cx="73152" cy="45720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1148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Status: </a:t>
            </a: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parameters extracted from datasheets and verified against the physical motor on the ALIX line.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motor — dq-frame mathematical model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 transformation of the 3-phase quantities into a rotating dq reference frame — captures electromagnetic torque, flux linkage and mechanical dynamics.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493776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54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Governing equations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4663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Stator voltage (d-axis):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v_sd = R_s·i_sd + dψ_sd/dt − ω_s·ψ_sq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Stator voltage (q-axis):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v_sq = R_s·i_sq + dψ_sq/dt + ω_s·ψ_sd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Rotor voltage (squirrel-cage, v_rd = v_rq = 0):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 = R_r·i_rd + dψ_rd/dt − (ω_s−ω_r)·ψ_rq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Electromagnetic torque: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T_em = (3/2)·p·(ψ_sd·i_sq − ψ_sq·i_sd)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Mechanical equation (with gearbox):</a:t>
            </a:r>
            <a:endParaRPr lang="en-US" sz="1050" dirty="0"/>
          </a:p>
          <a:p>
            <a:pPr marL="0" indent="0">
              <a:spcAft>
                <a:spcPts val="200"/>
              </a:spcAft>
              <a:buNone/>
            </a:pPr>
            <a:r>
              <a:rPr lang="en-US" sz="1050" dirty="0">
                <a:solidFill>
                  <a:srgbClr val="2C38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J·dω_m/dt = T_em − T_load/N − B·ω_m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0" y="1463040"/>
            <a:ext cx="329184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23560" y="15544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23560" y="1920240"/>
            <a:ext cx="30175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v, i, ψ</a:t>
            </a: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voltage, current, flux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R_s, R_r</a:t>
            </a: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stator / rotor resistance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ω_s, ω_r</a:t>
            </a: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synchronous / rotor speed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T_em</a:t>
            </a: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electromagnetic torque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pole pairs (= 2)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gearbox ratio (= 20)</a:t>
            </a:r>
            <a:endParaRPr lang="en-US" sz="10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J, B</a:t>
            </a: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inertia, viscous friction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motor — Modelica implementation in 3DEXPERIENCE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Behaviour-modelling diagram built in 3DEXPERIENCE — electrical chain (blue) and mechanical chain (green).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534924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pic>
        <p:nvPicPr>
          <p:cNvPr id="6" name="Image 0" descr="/home/claude/modelica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91640"/>
            <a:ext cx="5166360" cy="23042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1148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3DEXPERIENCE Behaviour Modelling — conveyor motor + gearbox + belt load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5852160" y="1371600"/>
            <a:ext cx="292608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52160" y="1371600"/>
            <a:ext cx="73152" cy="310896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35040" y="14630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&amp; sensors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989320" y="1783080"/>
            <a:ext cx="274320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chain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sineVoltage → currentSensor → powerSensor → IMC (m_phases = 3); starSupply, starMachine and ground complete the 3-phase circuit.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Mechanical chain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idealGear (ratio) → inertiaGearBox (J_gearbox) → drum (drum_radius) → belt mass → damper → fixed support.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motorSpeedSensor (rad/s), motorTorqueSensor (N·m), beltSpeedSensor (m/s).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</a:t>
            </a:r>
            <a:endParaRPr lang="en-US" sz="950" dirty="0"/>
          </a:p>
          <a:p>
            <a:pPr marL="0" indent="0">
              <a:spcAft>
                <a:spcPts val="300"/>
              </a:spcAft>
              <a:buNone/>
            </a:pPr>
            <a:r>
              <a:rPr lang="en-US" sz="9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conveyorLoad applies a constant resistive force −load_force_const on the belt mass.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motor — first simulation results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run on the 3DEXPERIENCE Modelica model — values read directly from the post-processing variable browser.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7432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pic>
        <p:nvPicPr>
          <p:cNvPr id="6" name="Image 0" descr="/home/claude/sim_resul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3040"/>
            <a:ext cx="2468880" cy="2926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246120" y="1371600"/>
            <a:ext cx="27432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46120" y="1371600"/>
            <a:ext cx="73152" cy="3108960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429000" y="146304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parameters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429000" y="182880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E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206240" y="1828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Ω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429000" y="197510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stator resistance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429000" y="217627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E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Lssigma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4206240" y="217627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 H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29000" y="232257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stator stray ind.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3429000" y="2523744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E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Lszero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4206240" y="25237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0.025 H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3429000" y="267004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zero-seq. ind.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3429000" y="2871216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E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Jr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206240" y="287121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 kg·m²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3429000" y="3017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rotor inertia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429000" y="3218688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E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206240" y="321868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0.0015 kg·m²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3429000" y="3364992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stator inertia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429000" y="356616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E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TsRef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206240" y="356616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293.15 K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3429000" y="3712464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temp.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3429000" y="3913632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4E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alpha20s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4206240" y="391363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0.00393 / K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3429000" y="4059936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temp. coefficient</a:t>
            </a:r>
            <a:endParaRPr lang="en-US" sz="800" dirty="0"/>
          </a:p>
        </p:txBody>
      </p:sp>
      <p:sp>
        <p:nvSpPr>
          <p:cNvPr id="31" name="Shape 28"/>
          <p:cNvSpPr/>
          <p:nvPr/>
        </p:nvSpPr>
        <p:spPr>
          <a:xfrm>
            <a:off x="6126480" y="1371600"/>
            <a:ext cx="265176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26480" y="1371600"/>
            <a:ext cx="73152" cy="310896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09360" y="14630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outputs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6309360" y="182880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wMechanical</a:t>
            </a:r>
            <a:endParaRPr lang="en-US" sz="1000" dirty="0"/>
          </a:p>
        </p:txBody>
      </p:sp>
      <p:sp>
        <p:nvSpPr>
          <p:cNvPr id="35" name="Text 32"/>
          <p:cNvSpPr/>
          <p:nvPr/>
        </p:nvSpPr>
        <p:spPr>
          <a:xfrm>
            <a:off x="6309360" y="202996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1496.1 RPM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6309360" y="24688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tauElectrical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6309360" y="267004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0.316 N·m</a:t>
            </a:r>
            <a:endParaRPr lang="en-US" sz="1800" dirty="0"/>
          </a:p>
        </p:txBody>
      </p:sp>
      <p:sp>
        <p:nvSpPr>
          <p:cNvPr id="38" name="Text 35"/>
          <p:cNvSpPr/>
          <p:nvPr/>
        </p:nvSpPr>
        <p:spPr>
          <a:xfrm>
            <a:off x="6309360" y="31089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tauShaft</a:t>
            </a:r>
            <a:endParaRPr lang="en-US" sz="1000" dirty="0"/>
          </a:p>
        </p:txBody>
      </p:sp>
      <p:sp>
        <p:nvSpPr>
          <p:cNvPr id="39" name="Text 36"/>
          <p:cNvSpPr/>
          <p:nvPr/>
        </p:nvSpPr>
        <p:spPr>
          <a:xfrm>
            <a:off x="6309360" y="33101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0.100 N·m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6309360" y="3794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near synchronous speed (1500 RPM) → very low slip, consistent with no-load run.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45" name="Text 42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 — research foundations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686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subsystem model is grounded in peer-reviewed literature on modelling, fault simulation and co-simulation.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371600"/>
            <a:ext cx="73152" cy="146304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5087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/ induction motor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dq-frame induction-motor models with electrical &amp; mechanical fault simulation in Modelica (broken-bar, eccentricity, voltage unbalance).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09160" y="137160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1371600"/>
            <a:ext cx="73152" cy="146304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50876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Dobot CR5 manipulator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92040" y="187452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/ inverse kinematics and Lagrangian dynamics for 6-DOF cobots; reduced-order 3-DOF surrogate for system simulation.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301752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3017520"/>
            <a:ext cx="73152" cy="146304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31546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MiR100 AGV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48640" y="35204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Differential-drive kinematics; trajectory tracking via Model Predictive Control in factory-floor environments.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017520"/>
            <a:ext cx="40690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3017520"/>
            <a:ext cx="73152" cy="146304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92040" y="315468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FMI 2.0 co-simulation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892040" y="3520440"/>
            <a:ext cx="3794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Master-slave orchestration of FMUs in Python; TDMS data acquisition for experimental validation of digital twins.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next steps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914400"/>
            <a:ext cx="0" cy="3383280"/>
          </a:xfrm>
          <a:prstGeom prst="line">
            <a:avLst/>
          </a:prstGeom>
          <a:noFill/>
          <a:ln w="15240">
            <a:solidFill>
              <a:srgbClr val="2C38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144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Achieved so far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4069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Digital-twin architecture defined for the four ALIX subsystems.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MBSE methodology validated with the supervisor (7-step pipeline).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conveyor-motor parameters extracted and cross-checked.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dq-frame mathematical model derived and implemented in Modelica / 3DEXPERIENCE.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simulation reproduces near-synchronous steady state: wMechanical ≈ 1496 RPM (slip &lt; 0.3%).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Electrical torque tauElectrical ≈ 0.316 N·m, shaft torque tauShaft ≈ 0.100 N·m at no-load.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FMU 2.0 export of the conveyor model successfully tested in a Python wrapper.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709160" y="9144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325880"/>
            <a:ext cx="40690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experimental TDMS data on the real conveyor for validation.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gearbox efficiency &amp; friction parameters from measurements.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 electrical/mechanical faults (broken bar, voltage unbalance) for fault-simulation studies.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Subsystem 2 — Dobot CR5 kinematic / dynamic model.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interface variables between conveyor and XY10 station for the conditioning mode.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 first end-to-end Python co-simulation prototype with two FMUs.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2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plan — updated planning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36576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77440" y="1280160"/>
            <a:ext cx="6217920" cy="320040"/>
          </a:xfrm>
          <a:prstGeom prst="rect">
            <a:avLst/>
          </a:prstGeom>
          <a:solidFill>
            <a:srgbClr val="2C3848"/>
          </a:solidFill>
          <a:ln w="12700">
            <a:solidFill>
              <a:srgbClr val="2C38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377440" y="1280160"/>
            <a:ext cx="8882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65714" y="1280160"/>
            <a:ext cx="8882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65714" y="1280160"/>
            <a:ext cx="0" cy="2697480"/>
          </a:xfrm>
          <a:prstGeom prst="line">
            <a:avLst/>
          </a:prstGeom>
          <a:noFill/>
          <a:ln w="6350">
            <a:solidFill>
              <a:srgbClr val="D8DC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53989" y="1280160"/>
            <a:ext cx="8882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153989" y="1280160"/>
            <a:ext cx="0" cy="2697480"/>
          </a:xfrm>
          <a:prstGeom prst="line">
            <a:avLst/>
          </a:prstGeom>
          <a:noFill/>
          <a:ln w="6350">
            <a:solidFill>
              <a:srgbClr val="D8DCE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42263" y="1280160"/>
            <a:ext cx="8882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42263" y="1280160"/>
            <a:ext cx="0" cy="2697480"/>
          </a:xfrm>
          <a:prstGeom prst="line">
            <a:avLst/>
          </a:prstGeom>
          <a:noFill/>
          <a:ln w="6350">
            <a:solidFill>
              <a:srgbClr val="D8DCE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30537" y="1280160"/>
            <a:ext cx="8882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30537" y="1280160"/>
            <a:ext cx="0" cy="2697480"/>
          </a:xfrm>
          <a:prstGeom prst="line">
            <a:avLst/>
          </a:prstGeom>
          <a:noFill/>
          <a:ln w="6350">
            <a:solidFill>
              <a:srgbClr val="D8DC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18811" y="1280160"/>
            <a:ext cx="8882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18811" y="1280160"/>
            <a:ext cx="0" cy="2697480"/>
          </a:xfrm>
          <a:prstGeom prst="line">
            <a:avLst/>
          </a:prstGeom>
          <a:noFill/>
          <a:ln w="6350">
            <a:solidFill>
              <a:srgbClr val="D8DCE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07086" y="1280160"/>
            <a:ext cx="8882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707086" y="1280160"/>
            <a:ext cx="0" cy="2697480"/>
          </a:xfrm>
          <a:prstGeom prst="line">
            <a:avLst/>
          </a:prstGeom>
          <a:noFill/>
          <a:ln w="6350">
            <a:solidFill>
              <a:srgbClr val="D8DCE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62763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 the art &amp; literature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377440" y="1682496"/>
            <a:ext cx="1332411" cy="155448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187452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MBSE plan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65714" y="1929384"/>
            <a:ext cx="888274" cy="155448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212140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Conveyor motor — modelling &amp; FMU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709851" y="2176272"/>
            <a:ext cx="1332411" cy="155448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236829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TDMS data acquisition &amp; validation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64608" y="2423160"/>
            <a:ext cx="888274" cy="155448"/>
          </a:xfrm>
          <a:prstGeom prst="rect">
            <a:avLst/>
          </a:prstGeom>
          <a:solidFill>
            <a:srgbClr val="FFB89A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2615184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Dobot CR5 — kinematic / dynamic model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42263" y="2670048"/>
            <a:ext cx="1332411" cy="155448"/>
          </a:xfrm>
          <a:prstGeom prst="rect">
            <a:avLst/>
          </a:prstGeom>
          <a:solidFill>
            <a:srgbClr val="FFB89A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862072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MiR100 AGV — motion model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30537" y="2916936"/>
            <a:ext cx="1065929" cy="155448"/>
          </a:xfrm>
          <a:prstGeom prst="rect">
            <a:avLst/>
          </a:prstGeom>
          <a:solidFill>
            <a:srgbClr val="D8DCE2"/>
          </a:solidFill>
          <a:ln w="12700">
            <a:solidFill>
              <a:srgbClr val="B8C0C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108960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XY10 assembly — Cartesian model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641157" y="3163824"/>
            <a:ext cx="1065929" cy="155448"/>
          </a:xfrm>
          <a:prstGeom prst="rect">
            <a:avLst/>
          </a:prstGeom>
          <a:solidFill>
            <a:srgbClr val="D8DCE2"/>
          </a:solidFill>
          <a:ln w="12700">
            <a:solidFill>
              <a:srgbClr val="B8C0C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3355848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co-simulation prototype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7262949" y="3410712"/>
            <a:ext cx="888274" cy="155448"/>
          </a:xfrm>
          <a:prstGeom prst="rect">
            <a:avLst/>
          </a:prstGeom>
          <a:solidFill>
            <a:srgbClr val="D8DCE2"/>
          </a:solidFill>
          <a:ln w="12700">
            <a:solidFill>
              <a:srgbClr val="B8C0C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3602736"/>
            <a:ext cx="1965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report &amp; defence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707086" y="3657600"/>
            <a:ext cx="888274" cy="155448"/>
          </a:xfrm>
          <a:prstGeom prst="rect">
            <a:avLst/>
          </a:prstGeom>
          <a:solidFill>
            <a:srgbClr val="D8DCE2"/>
          </a:solidFill>
          <a:ln w="12700">
            <a:solidFill>
              <a:srgbClr val="B8C0C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175504" y="1280160"/>
            <a:ext cx="0" cy="2697480"/>
          </a:xfrm>
          <a:prstGeom prst="line">
            <a:avLst/>
          </a:prstGeom>
          <a:noFill/>
          <a:ln w="19050">
            <a:solidFill>
              <a:srgbClr val="E84E1B"/>
            </a:solidFill>
            <a:prstDash val="dash"/>
          </a:ln>
        </p:spPr>
      </p:sp>
      <p:sp>
        <p:nvSpPr>
          <p:cNvPr id="37" name="Text 35"/>
          <p:cNvSpPr/>
          <p:nvPr/>
        </p:nvSpPr>
        <p:spPr>
          <a:xfrm>
            <a:off x="4809744" y="10058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5760" y="4251960"/>
            <a:ext cx="274320" cy="164592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421538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554480" y="4251960"/>
            <a:ext cx="274320" cy="164592"/>
          </a:xfrm>
          <a:prstGeom prst="rect">
            <a:avLst/>
          </a:prstGeom>
          <a:solidFill>
            <a:srgbClr val="FFB89A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74520" y="421538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00400" y="4251960"/>
            <a:ext cx="274320" cy="164592"/>
          </a:xfrm>
          <a:prstGeom prst="rect">
            <a:avLst/>
          </a:prstGeom>
          <a:solidFill>
            <a:srgbClr val="D8DCE2"/>
          </a:solidFill>
          <a:ln w="12700">
            <a:solidFill>
              <a:srgbClr val="B8C0C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20440" y="421538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65760" y="4617720"/>
            <a:ext cx="8412480" cy="0"/>
          </a:xfrm>
          <a:prstGeom prst="line">
            <a:avLst/>
          </a:prstGeom>
          <a:noFill/>
          <a:ln w="9525">
            <a:solidFill>
              <a:srgbClr val="B8C0C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736592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 ISAE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92024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057400" y="47365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r>
              <a:rPr lang="en-US" sz="900" dirty="0">
                <a:solidFill>
                  <a:srgbClr val="2C38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Institut supérieur de mécanique de Paris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086600" y="4736592"/>
            <a:ext cx="137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84E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183880" y="473659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384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098548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2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</a:t>
            </a:r>
            <a:endParaRPr lang="en-US" sz="2720" dirty="0"/>
          </a:p>
        </p:txBody>
      </p:sp>
      <p:sp>
        <p:nvSpPr>
          <p:cNvPr id="3" name="Shape 1"/>
          <p:cNvSpPr/>
          <p:nvPr/>
        </p:nvSpPr>
        <p:spPr>
          <a:xfrm>
            <a:off x="822960" y="2622042"/>
            <a:ext cx="2098548" cy="31090"/>
          </a:xfrm>
          <a:prstGeom prst="rect">
            <a:avLst/>
          </a:prstGeom>
          <a:solidFill>
            <a:srgbClr val="E84E1B"/>
          </a:solidFill>
          <a:ln w="12700">
            <a:solidFill>
              <a:srgbClr val="E84E1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676449"/>
            <a:ext cx="2098548" cy="427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2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supméca</a:t>
            </a:r>
            <a:endParaRPr lang="en-US" sz="2720" dirty="0"/>
          </a:p>
        </p:txBody>
      </p:sp>
      <p:sp>
        <p:nvSpPr>
          <p:cNvPr id="5" name="Shape 3"/>
          <p:cNvSpPr/>
          <p:nvPr/>
        </p:nvSpPr>
        <p:spPr>
          <a:xfrm>
            <a:off x="3108960" y="2331720"/>
            <a:ext cx="0" cy="1188720"/>
          </a:xfrm>
          <a:prstGeom prst="line">
            <a:avLst/>
          </a:prstGeom>
          <a:noFill/>
          <a:ln w="15240">
            <a:solidFill>
              <a:srgbClr val="E84E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383280" y="2377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ISAE-Supméca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0" y="269748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supérieur de mécanique de Paris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rue Fernand Hainaut 93407 Saint-Ouen Cedex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Tél. 01 49 45 29 00  –  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www.isae-supmeca.fr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91840" y="33375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AA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Ministère de l'Enseignement supérieur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AA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de la Recherche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675120" y="2331720"/>
            <a:ext cx="0" cy="1188720"/>
          </a:xfrm>
          <a:prstGeom prst="line">
            <a:avLst/>
          </a:prstGeom>
          <a:noFill/>
          <a:ln w="15240">
            <a:solidFill>
              <a:srgbClr val="E84E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4688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GROUPE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949440" y="28346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ISAE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1551</Words>
  <Application>Microsoft Office PowerPoint</Application>
  <PresentationFormat>Affichage à l'écran (16:9)</PresentationFormat>
  <Paragraphs>316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MoM 4 - Mechatronics Modelling Industry 5.0</dc:title>
  <dc:subject>PptxGenJS Presentation</dc:subject>
  <dc:creator>Samiksha Satre</dc:creator>
  <cp:lastModifiedBy>SATRE Samiksha</cp:lastModifiedBy>
  <cp:revision>2</cp:revision>
  <dcterms:created xsi:type="dcterms:W3CDTF">2026-05-04T11:24:41Z</dcterms:created>
  <dcterms:modified xsi:type="dcterms:W3CDTF">2026-05-07T12:52:39Z</dcterms:modified>
</cp:coreProperties>
</file>