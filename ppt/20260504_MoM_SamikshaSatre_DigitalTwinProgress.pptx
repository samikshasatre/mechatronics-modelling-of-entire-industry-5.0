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0" r:id="rId5"/>
    <p:sldId id="271" r:id="rId6"/>
    <p:sldId id="272" r:id="rId7"/>
    <p:sldId id="273" r:id="rId8"/>
    <p:sldId id="259" r:id="rId9"/>
    <p:sldId id="274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460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4062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019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971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56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254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1005840"/>
            <a:ext cx="2468880" cy="36576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148840"/>
            <a:ext cx="329184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1662" y="270867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  <a:spcBef>
                <a:spcPts val="340"/>
              </a:spcBef>
            </a:pP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1400" b="1" dirty="0" err="1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</a:t>
            </a:r>
            <a:r>
              <a:rPr lang="fr-FR" sz="1400" b="1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Ms. Samiksha </a:t>
            </a: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Satre</a:t>
            </a:r>
            <a:endParaRPr lang="en-US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340"/>
              </a:spcBef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Level: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Master’s Level (M1-M2)</a:t>
            </a:r>
          </a:p>
          <a:p>
            <a:pPr algn="ctr">
              <a:lnSpc>
                <a:spcPct val="150000"/>
              </a:lnSpc>
              <a:spcBef>
                <a:spcPts val="340"/>
              </a:spcBef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Duration: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Months</a:t>
            </a:r>
          </a:p>
          <a:p>
            <a:pPr algn="ctr">
              <a:lnSpc>
                <a:spcPct val="150000"/>
              </a:lnSpc>
              <a:spcBef>
                <a:spcPts val="340"/>
              </a:spcBef>
            </a:pPr>
            <a:r>
              <a:rPr lang="en-US" sz="1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Supervisor:</a:t>
            </a: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Mr.Romain</a:t>
            </a: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Delabeye</a:t>
            </a:r>
            <a:endParaRPr lang="en-US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340"/>
              </a:spcBef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Period: 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February 2026 To June 2026 </a:t>
            </a:r>
          </a:p>
          <a:p>
            <a:pPr algn="ctr">
              <a:lnSpc>
                <a:spcPct val="150000"/>
              </a:lnSpc>
              <a:spcBef>
                <a:spcPts val="340"/>
              </a:spcBef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Location: </a:t>
            </a:r>
            <a:r>
              <a:rPr lang="en-US" sz="14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Isae-supméca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Paris, France</a:t>
            </a:r>
            <a:endParaRPr lang="fr-FR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13335" algn="ctr">
              <a:lnSpc>
                <a:spcPct val="150000"/>
              </a:lnSpc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</a:t>
            </a:r>
            <a:r>
              <a:rPr lang="en-US" sz="1400" spc="-2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1400" spc="-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Guidance </a:t>
            </a:r>
            <a:r>
              <a:rPr lang="en-US" sz="1400" spc="-2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endParaRPr lang="fr-FR" sz="14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marR="287655" indent="-15240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Dr Shrinivas S </a:t>
            </a: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Metan</a:t>
            </a:r>
            <a:endParaRPr lang="fr-FR" sz="1400" b="1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marR="287655" indent="-15240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Mr.Romain</a:t>
            </a: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Delabeye</a:t>
            </a:r>
            <a:endParaRPr lang="en-US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marR="287655" indent="-152400" algn="ctr">
              <a:lnSpc>
                <a:spcPct val="150000"/>
              </a:lnSpc>
              <a:spcBef>
                <a:spcPts val="800"/>
              </a:spcBef>
            </a:pPr>
            <a:r>
              <a:rPr lang="en-US" sz="14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Prof.</a:t>
            </a:r>
            <a:r>
              <a:rPr lang="en-US" sz="1400" b="1" spc="5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Roshan </a:t>
            </a:r>
            <a:r>
              <a:rPr lang="en-US" sz="1400" b="1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Pushpan</a:t>
            </a:r>
            <a:endParaRPr lang="en-US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3550" marR="287655" indent="-152400" algn="ctr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</a:pPr>
            <a:endParaRPr lang="fr-FR" sz="14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"/>
              </a:spcAft>
              <a:buNone/>
            </a:pP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321308"/>
            <a:ext cx="4329211" cy="3689603"/>
          </a:xfrm>
          <a:prstGeom prst="rect">
            <a:avLst/>
          </a:prstGeom>
          <a:solidFill>
            <a:srgbClr val="4A5A6F"/>
          </a:solidFill>
          <a:ln w="12700">
            <a:solidFill>
              <a:srgbClr val="4A5A6F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1" name="Text 9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D718C7EB-B222-54CF-6560-4FB19A45C1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C5624F25-B4C6-DA1F-3375-92ABB15B6D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55E43968-13F4-A65F-3AE1-75C405B26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743353"/>
            <a:ext cx="4329211" cy="3371294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8BF6786-3A51-9904-67BD-4790841DB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35" y="52442"/>
            <a:ext cx="6887845" cy="1019175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62EC2AB0-7150-088B-81D4-F4B138AD8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318" y="52442"/>
            <a:ext cx="1220893" cy="99853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CE4FB0C-7C6A-7B68-0157-1527743EA8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131769"/>
            <a:ext cx="4329211" cy="626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&amp; expected outcome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914400"/>
            <a:ext cx="0" cy="3383280"/>
          </a:xfrm>
          <a:prstGeom prst="line">
            <a:avLst/>
          </a:prstGeom>
          <a:noFill/>
          <a:ln w="15240">
            <a:solidFill>
              <a:srgbClr val="2C38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50391"/>
            <a:ext cx="4069080" cy="3675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400"/>
              </a:spcAft>
              <a:buSzPct val="100000"/>
            </a:pP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09161" y="480060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Energy analysis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calibration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validation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Spatial representation and coupling matrix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400" dirty="0">
                <a:solidFill>
                  <a:srgbClr val="12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 </a:t>
            </a:r>
            <a:endParaRPr lang="en-US" sz="1400" b="0" i="0" dirty="0">
              <a:solidFill>
                <a:srgbClr val="12121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 startAt="10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references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C3861989-1169-C477-3B1B-DDEFA3598490}"/>
              </a:ext>
            </a:extLst>
          </p:cNvPr>
          <p:cNvSpPr/>
          <p:nvPr/>
        </p:nvSpPr>
        <p:spPr>
          <a:xfrm>
            <a:off x="341586" y="1449325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 performed video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 stack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Multiphysics model ( conveyor,xy10,CR5)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2121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FMU</a:t>
            </a: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export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400" b="0" i="0" dirty="0">
                <a:solidFill>
                  <a:srgbClr val="12121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FMU vs actual specs </a:t>
            </a: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1400" b="0" i="0" dirty="0">
              <a:solidFill>
                <a:srgbClr val="12121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600"/>
              </a:spcAft>
              <a:buSzPct val="100000"/>
              <a:buFont typeface="+mj-lt"/>
              <a:buAutoNum type="arabicPeriod"/>
            </a:pPr>
            <a:endParaRPr lang="en-US" sz="1400" b="0" i="0" dirty="0">
              <a:solidFill>
                <a:srgbClr val="12121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6199" y="11808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2400" b="1" i="0" dirty="0">
                <a:solidFill>
                  <a:schemeClr val="accent1">
                    <a:lumMod val="5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11479" y="804672"/>
            <a:ext cx="45719" cy="38130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6650"/>
            <a:ext cx="8183880" cy="3222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1026" name="Picture 2" descr="Question Mark Clipart Problem Statement ...">
            <a:extLst>
              <a:ext uri="{FF2B5EF4-FFF2-40B4-BE49-F238E27FC236}">
                <a16:creationId xmlns:a16="http://schemas.microsoft.com/office/drawing/2014/main" id="{9D3EB60E-8E0F-F8F1-83DB-7C50228E9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466" y="-157"/>
            <a:ext cx="547787" cy="72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6">
            <a:extLst>
              <a:ext uri="{FF2B5EF4-FFF2-40B4-BE49-F238E27FC236}">
                <a16:creationId xmlns:a16="http://schemas.microsoft.com/office/drawing/2014/main" id="{15220D10-C23F-FD31-8712-2F7526CD55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01" y="1209361"/>
            <a:ext cx="8096119" cy="29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Modern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Industry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5.0 production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made of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machines —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conveyors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robots,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vehicles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together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movement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power 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(thermal)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linked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single model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captures all of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matches the real machine.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model,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properly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line,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digital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 smart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solves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gap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building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multiphysics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ALIX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line's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subsystems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Modelica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turning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FMUs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running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whole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one Python program, and checking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6199" y="118082"/>
            <a:ext cx="79591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24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11479" y="804672"/>
            <a:ext cx="45719" cy="38130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6650"/>
            <a:ext cx="8183880" cy="3222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050" name="Picture 2" descr="Introduction Icon PNG Images, Vectors ...">
            <a:extLst>
              <a:ext uri="{FF2B5EF4-FFF2-40B4-BE49-F238E27FC236}">
                <a16:creationId xmlns:a16="http://schemas.microsoft.com/office/drawing/2014/main" id="{E69237B5-A4D6-25A1-E6B9-917D32EA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6" y="51735"/>
            <a:ext cx="671605" cy="67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B691D2-1D70-5260-EAE9-C96E0A645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" y="835657"/>
            <a:ext cx="8412480" cy="3608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ALIX production line at the Euler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Laboratory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ISAE-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Supméca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 digital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twin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simulation model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behaves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the real machine and can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on a computer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on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multiphysics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machine on the line shows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kinds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 —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movement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mechanical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electricity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(thermal). A 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multiphysics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captures all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together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one place.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Modelica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FMUs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reusable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simulation blocks), and run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FMI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standard —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entire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line can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single program.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do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know </a:t>
            </a:r>
            <a:r>
              <a:rPr kumimoji="0" lang="fr-FR" altLang="fr-F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it's</a:t>
            </a:r>
            <a:r>
              <a:rPr kumimoji="0" lang="fr-FR" altLang="fr-F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correct?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real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recorded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running line (TDMS data),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simulation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not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matches reality.</a:t>
            </a:r>
          </a:p>
        </p:txBody>
      </p:sp>
    </p:spTree>
    <p:extLst>
      <p:ext uri="{BB962C8B-B14F-4D97-AF65-F5344CB8AC3E}">
        <p14:creationId xmlns:p14="http://schemas.microsoft.com/office/powerpoint/2010/main" val="2514287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6199" y="118082"/>
            <a:ext cx="79591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24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ALIX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11479" y="804672"/>
            <a:ext cx="45719" cy="38130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6650"/>
            <a:ext cx="8183880" cy="3222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050" name="Picture 2" descr="Introduction Icon PNG Images, Vectors ...">
            <a:extLst>
              <a:ext uri="{FF2B5EF4-FFF2-40B4-BE49-F238E27FC236}">
                <a16:creationId xmlns:a16="http://schemas.microsoft.com/office/drawing/2014/main" id="{E69237B5-A4D6-25A1-E6B9-917D32EA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6" y="51735"/>
            <a:ext cx="671605" cy="67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EB691D2-1D70-5260-EAE9-C96E0A645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" y="997240"/>
            <a:ext cx="8412480" cy="32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dirty="0"/>
              <a:t>ALIX is a bench-top Industry 5.0 production line at the Euler Laboratory — an </a:t>
            </a:r>
            <a:r>
              <a:rPr lang="en-US" sz="1400" b="1" dirty="0"/>
              <a:t>ERMASMART</a:t>
            </a:r>
            <a:r>
              <a:rPr lang="en-US" sz="1400" dirty="0"/>
              <a:t> line by ERM </a:t>
            </a:r>
            <a:r>
              <a:rPr lang="en-US" sz="1400" dirty="0" err="1"/>
              <a:t>Automatismes</a:t>
            </a:r>
            <a:r>
              <a:rPr lang="en-US" sz="1400" dirty="0"/>
              <a:t> </a:t>
            </a:r>
            <a:r>
              <a:rPr lang="en-US" sz="1400" dirty="0" err="1"/>
              <a:t>Industriels</a:t>
            </a:r>
            <a:r>
              <a:rPr lang="en-US" sz="1400" dirty="0"/>
              <a:t> (Carpentras, France).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Key facts (left column):</a:t>
            </a:r>
            <a:endParaRPr lang="en-US" sz="14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Total length </a:t>
            </a:r>
            <a:r>
              <a:rPr lang="en-US" sz="1400" b="1" dirty="0"/>
              <a:t>8445 mm</a:t>
            </a:r>
            <a:r>
              <a:rPr lang="en-US" sz="1400" dirty="0"/>
              <a:t> · five integrated stations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Two operating modes: </a:t>
            </a:r>
            <a:r>
              <a:rPr lang="en-US" sz="1400" b="1" dirty="0" err="1"/>
              <a:t>Conditionnement</a:t>
            </a:r>
            <a:r>
              <a:rPr lang="en-US" sz="1400" dirty="0"/>
              <a:t> (packaging) and </a:t>
            </a:r>
            <a:r>
              <a:rPr lang="en-US" sz="1400" b="1" dirty="0"/>
              <a:t>Assemblage</a:t>
            </a:r>
            <a:r>
              <a:rPr lang="en-US" sz="1400" dirty="0"/>
              <a:t> (assembly)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 continuous </a:t>
            </a:r>
            <a:r>
              <a:rPr lang="en-US" sz="1400" b="1" dirty="0"/>
              <a:t>conveyor</a:t>
            </a:r>
            <a:r>
              <a:rPr lang="en-US" sz="1400" dirty="0"/>
              <a:t> carries pots/parts through all stations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Supply: </a:t>
            </a:r>
            <a:r>
              <a:rPr lang="en-US" sz="1400" dirty="0"/>
              <a:t>3-phase 400 V (244 V phase RMS), 50 Hz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Control: </a:t>
            </a:r>
            <a:r>
              <a:rPr lang="en-US" sz="1400" dirty="0"/>
              <a:t>Siemens </a:t>
            </a:r>
            <a:r>
              <a:rPr lang="en-US" sz="1400" b="1" dirty="0"/>
              <a:t>S7-1200 PLC</a:t>
            </a:r>
            <a:r>
              <a:rPr lang="en-US" sz="1400" dirty="0"/>
              <a:t> + </a:t>
            </a:r>
            <a:r>
              <a:rPr lang="en-US" sz="1400" b="1" dirty="0"/>
              <a:t>TULIP</a:t>
            </a:r>
            <a:r>
              <a:rPr lang="en-US" sz="1400" dirty="0"/>
              <a:t> supervision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Photoelectric sensors detect parts and trigger each station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434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6199" y="118082"/>
            <a:ext cx="795912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spcAft>
                <a:spcPts val="600"/>
              </a:spcAft>
              <a:buSzPct val="100000"/>
            </a:pPr>
            <a:r>
              <a:rPr lang="en-US" sz="2400" b="1" i="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ALIX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411479" y="804672"/>
            <a:ext cx="45719" cy="38130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166650"/>
            <a:ext cx="8183880" cy="32224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600"/>
              </a:spcAft>
              <a:buSzPct val="100000"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050" name="Picture 2" descr="Introduction Icon PNG Images, Vectors ...">
            <a:extLst>
              <a:ext uri="{FF2B5EF4-FFF2-40B4-BE49-F238E27FC236}">
                <a16:creationId xmlns:a16="http://schemas.microsoft.com/office/drawing/2014/main" id="{E69237B5-A4D6-25A1-E6B9-917D32EA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676" y="51735"/>
            <a:ext cx="671605" cy="67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A732B3E-76E4-245F-6D26-6785D94681C4}"/>
              </a:ext>
            </a:extLst>
          </p:cNvPr>
          <p:cNvSpPr txBox="1"/>
          <p:nvPr/>
        </p:nvSpPr>
        <p:spPr>
          <a:xfrm>
            <a:off x="514478" y="885433"/>
            <a:ext cx="8576961" cy="360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ALIX is the Euler Laboratory's bench-top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ERMASMART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line by ERM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Automatismes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Industriels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(Carpentras, France) — a flexible Industry 5.0 platform for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packaging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demonstrates (technologies):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Smart sensors · IO-Link · supervision (TULIP) ·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cobotics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machine vision · RFID traceability · industrial automation (S7-1200 PLC)</a:t>
            </a:r>
          </a:p>
          <a:p>
            <a:pPr algn="just"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facts: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length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8445 mm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five modular stations linked by a continuous conveyor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Supply: 3-phase 400 V (244 V phase RMS), 50 Hz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&amp; reconfigurable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stations can be added, removed, or rearranged (e.g. it can run without the DX10 dosing unit; pots just stay empty)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Throughput: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finished pot every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(packaging mode); one gear-train every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min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(assembly mode)</a:t>
            </a:r>
          </a:p>
          <a:p>
            <a:pPr algn="just">
              <a:lnSpc>
                <a:spcPct val="150000"/>
              </a:lnSpc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474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100" y="238927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MODES</a:t>
            </a: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09471"/>
            <a:ext cx="4069080" cy="3662329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8077" y="1143763"/>
            <a:ext cx="365760" cy="36576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7" name="Text 5"/>
          <p:cNvSpPr/>
          <p:nvPr/>
        </p:nvSpPr>
        <p:spPr>
          <a:xfrm>
            <a:off x="551859" y="1109472"/>
            <a:ext cx="365760" cy="476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2891" y="115976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Conditionnement (packaging)</a:t>
            </a:r>
            <a:endParaRPr lang="en-US" sz="1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1971" y="2906952"/>
            <a:ext cx="3556434" cy="332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 </a:t>
            </a:r>
            <a:r>
              <a:rPr lang="fr-FR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Supply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2D </a:t>
            </a:r>
            <a:r>
              <a:rPr lang="fr-FR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Depalletizing</a:t>
            </a: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Robot (ON10)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Granule </a:t>
            </a:r>
            <a:r>
              <a:rPr lang="fr-FR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Filling</a:t>
            </a: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(DX10)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 Placement (MI00 + MR10)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Optional</a:t>
            </a: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</a:t>
            </a: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Cap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Tray</a:t>
            </a: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Packaging (XY10)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↓</a:t>
            </a:r>
            <a:b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Storage (VL10)</a:t>
            </a:r>
            <a:endParaRPr lang="en-US" sz="12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76835" y="1109472"/>
            <a:ext cx="4069080" cy="3627119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14984" y="1122590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4984" y="110044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6351" y="110044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Assemblage (</a:t>
            </a:r>
            <a:r>
              <a:rPr lang="fr-FR" sz="1400" b="1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assembly</a:t>
            </a:r>
            <a:r>
              <a:rPr lang="fr-FR" sz="1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81389" y="2863541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Reducer Base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XY10 Positioning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MI00 + MR10 Assembly Robot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Lower Shaft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Planet Gears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 Central Gear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Vision Inspection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ON10 Places and Screws Cover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↓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VL10 Storage</a:t>
            </a:r>
          </a:p>
        </p:txBody>
      </p:sp>
      <p:sp>
        <p:nvSpPr>
          <p:cNvPr id="19" name="Text 17"/>
          <p:cNvSpPr/>
          <p:nvPr/>
        </p:nvSpPr>
        <p:spPr>
          <a:xfrm>
            <a:off x="5029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771801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4">
            <a:extLst>
              <a:ext uri="{FF2B5EF4-FFF2-40B4-BE49-F238E27FC236}">
                <a16:creationId xmlns:a16="http://schemas.microsoft.com/office/drawing/2014/main" id="{2B160AB2-B50C-F3AC-044D-1C03E20054AE}"/>
              </a:ext>
            </a:extLst>
          </p:cNvPr>
          <p:cNvSpPr/>
          <p:nvPr/>
        </p:nvSpPr>
        <p:spPr>
          <a:xfrm flipH="1">
            <a:off x="357794" y="1109472"/>
            <a:ext cx="45719" cy="3627119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33B25D3A-FB93-6DAD-2856-ED2025217CBB}"/>
              </a:ext>
            </a:extLst>
          </p:cNvPr>
          <p:cNvSpPr/>
          <p:nvPr/>
        </p:nvSpPr>
        <p:spPr>
          <a:xfrm>
            <a:off x="320040" y="893065"/>
            <a:ext cx="8610600" cy="45719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37" name="Shape 1"/>
          <p:cNvSpPr/>
          <p:nvPr/>
        </p:nvSpPr>
        <p:spPr>
          <a:xfrm>
            <a:off x="358658" y="1555243"/>
            <a:ext cx="8363211" cy="45719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BF2A55C3-FAA0-4946-AD4F-C07210487ABB}"/>
              </a:ext>
            </a:extLst>
          </p:cNvPr>
          <p:cNvSpPr/>
          <p:nvPr/>
        </p:nvSpPr>
        <p:spPr>
          <a:xfrm flipH="1">
            <a:off x="4686291" y="1100446"/>
            <a:ext cx="45719" cy="3636146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23597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STATIONS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7272" y="768097"/>
            <a:ext cx="2608273" cy="1537557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2198" y="950714"/>
            <a:ext cx="365760" cy="36576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7872" y="840828"/>
            <a:ext cx="201536" cy="53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5557" y="95071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ON10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36230" y="1291984"/>
            <a:ext cx="22318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Robot collaboratif de </a:t>
            </a:r>
            <a:r>
              <a:rPr lang="fr-FR" sz="110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dévracage</a:t>
            </a:r>
            <a:r>
              <a:rPr lang="fr-FR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2D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60681" y="1611762"/>
            <a:ext cx="235589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Bin-pick pots from bulk and place on conveyor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41625" y="796733"/>
            <a:ext cx="2860750" cy="14783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4516" y="961307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0101" y="1013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930547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DX10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11880" y="1279369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Dosaxe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18376" y="1658309"/>
            <a:ext cx="2447334" cy="590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Fill pots with a determined dose of granules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2360" y="2937379"/>
            <a:ext cx="2608273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XY10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8997" y="3395761"/>
            <a:ext cx="2013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Robot cartésien XYZ de conditionnement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447872" y="3703320"/>
            <a:ext cx="230084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Pack capped pots into trays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068101" y="2947495"/>
            <a:ext cx="2458403" cy="1445171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11682" y="3145667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5" name="Text 23"/>
          <p:cNvSpPr/>
          <p:nvPr/>
        </p:nvSpPr>
        <p:spPr>
          <a:xfrm>
            <a:off x="3131195" y="3147953"/>
            <a:ext cx="2873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703320" y="3116263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VL10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3165454" y="3754401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Store packaged 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4BA2E526-AF51-E30D-AE26-FF01A12955DE}"/>
              </a:ext>
            </a:extLst>
          </p:cNvPr>
          <p:cNvSpPr/>
          <p:nvPr/>
        </p:nvSpPr>
        <p:spPr>
          <a:xfrm>
            <a:off x="6147106" y="808310"/>
            <a:ext cx="2614316" cy="1481613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6424C33E-21E9-CD4D-0453-78B0C43EB942}"/>
              </a:ext>
            </a:extLst>
          </p:cNvPr>
          <p:cNvSpPr/>
          <p:nvPr/>
        </p:nvSpPr>
        <p:spPr>
          <a:xfrm>
            <a:off x="3253978" y="876458"/>
            <a:ext cx="186386" cy="53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hape 16"/>
          <p:cNvSpPr/>
          <p:nvPr/>
        </p:nvSpPr>
        <p:spPr>
          <a:xfrm>
            <a:off x="372198" y="3134711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CD98F953-8286-B46F-E542-34C205F871A1}"/>
              </a:ext>
            </a:extLst>
          </p:cNvPr>
          <p:cNvSpPr/>
          <p:nvPr/>
        </p:nvSpPr>
        <p:spPr>
          <a:xfrm>
            <a:off x="6295235" y="935823"/>
            <a:ext cx="365760" cy="36576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9976FE99-033D-B3F3-F22C-4B0C1932955D}"/>
              </a:ext>
            </a:extLst>
          </p:cNvPr>
          <p:cNvSpPr/>
          <p:nvPr/>
        </p:nvSpPr>
        <p:spPr>
          <a:xfrm>
            <a:off x="6381026" y="819780"/>
            <a:ext cx="201536" cy="53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12">
            <a:extLst>
              <a:ext uri="{FF2B5EF4-FFF2-40B4-BE49-F238E27FC236}">
                <a16:creationId xmlns:a16="http://schemas.microsoft.com/office/drawing/2014/main" id="{A6278A92-724C-7A07-36BF-307BDF8CBD43}"/>
              </a:ext>
            </a:extLst>
          </p:cNvPr>
          <p:cNvSpPr/>
          <p:nvPr/>
        </p:nvSpPr>
        <p:spPr>
          <a:xfrm>
            <a:off x="6782553" y="96152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MI00 + MD20</a:t>
            </a:r>
            <a:endParaRPr lang="en-US" sz="1400" b="1" dirty="0">
              <a:solidFill>
                <a:schemeClr val="tx2"/>
              </a:solidFill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1BE85AAB-8A40-ACAD-430D-414A5C0D6E38}"/>
              </a:ext>
            </a:extLst>
          </p:cNvPr>
          <p:cNvSpPr/>
          <p:nvPr/>
        </p:nvSpPr>
        <p:spPr>
          <a:xfrm>
            <a:off x="6766560" y="1369151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Robot collaboratif de bouchage </a:t>
            </a:r>
          </a:p>
          <a:p>
            <a:pPr marL="0" indent="0">
              <a:buNone/>
            </a:pPr>
            <a:r>
              <a:rPr lang="fr-FR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fr-FR" sz="110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Dobot</a:t>
            </a:r>
            <a:r>
              <a:rPr lang="fr-FR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CR5)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835F7D24-58AF-558F-C1C1-A58FE1F03012}"/>
              </a:ext>
            </a:extLst>
          </p:cNvPr>
          <p:cNvSpPr/>
          <p:nvPr/>
        </p:nvSpPr>
        <p:spPr>
          <a:xfrm>
            <a:off x="6330906" y="1675477"/>
            <a:ext cx="2447334" cy="590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Place caps personalization covers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4DF206F3-4DF3-37D0-A72F-17914169C61B}"/>
              </a:ext>
            </a:extLst>
          </p:cNvPr>
          <p:cNvSpPr/>
          <p:nvPr/>
        </p:nvSpPr>
        <p:spPr>
          <a:xfrm>
            <a:off x="445639" y="3040169"/>
            <a:ext cx="201536" cy="53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99E65FBF-CC2D-8932-92FF-3AC7DC010B6B}"/>
              </a:ext>
            </a:extLst>
          </p:cNvPr>
          <p:cNvSpPr/>
          <p:nvPr/>
        </p:nvSpPr>
        <p:spPr>
          <a:xfrm>
            <a:off x="3734752" y="3433240"/>
            <a:ext cx="20139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Magasin</a:t>
            </a:r>
            <a:r>
              <a:rPr lang="en-US" sz="1100" dirty="0">
                <a:solidFill>
                  <a:schemeClr val="accent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vertical</a:t>
            </a:r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DF84D14F-8F71-B02C-3DB5-BC3788F23B2B}"/>
              </a:ext>
            </a:extLst>
          </p:cNvPr>
          <p:cNvSpPr/>
          <p:nvPr/>
        </p:nvSpPr>
        <p:spPr>
          <a:xfrm flipH="1">
            <a:off x="316918" y="749808"/>
            <a:ext cx="45719" cy="3902413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52" name="Shape 1">
            <a:extLst>
              <a:ext uri="{FF2B5EF4-FFF2-40B4-BE49-F238E27FC236}">
                <a16:creationId xmlns:a16="http://schemas.microsoft.com/office/drawing/2014/main" id="{507E6967-2EF8-D588-073B-A042073481AB}"/>
              </a:ext>
            </a:extLst>
          </p:cNvPr>
          <p:cNvSpPr/>
          <p:nvPr/>
        </p:nvSpPr>
        <p:spPr>
          <a:xfrm>
            <a:off x="316918" y="2289923"/>
            <a:ext cx="8439809" cy="45719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3" name="Shape 1">
            <a:extLst>
              <a:ext uri="{FF2B5EF4-FFF2-40B4-BE49-F238E27FC236}">
                <a16:creationId xmlns:a16="http://schemas.microsoft.com/office/drawing/2014/main" id="{075BF130-623F-07BD-A9FE-915FFBCCF0E6}"/>
              </a:ext>
            </a:extLst>
          </p:cNvPr>
          <p:cNvSpPr/>
          <p:nvPr/>
        </p:nvSpPr>
        <p:spPr>
          <a:xfrm>
            <a:off x="379160" y="2920456"/>
            <a:ext cx="5147344" cy="45719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4" name="Shape 4">
            <a:extLst>
              <a:ext uri="{FF2B5EF4-FFF2-40B4-BE49-F238E27FC236}">
                <a16:creationId xmlns:a16="http://schemas.microsoft.com/office/drawing/2014/main" id="{A90160AA-A9B8-DC5A-22F1-89ED3F6EC012}"/>
              </a:ext>
            </a:extLst>
          </p:cNvPr>
          <p:cNvSpPr/>
          <p:nvPr/>
        </p:nvSpPr>
        <p:spPr>
          <a:xfrm flipH="1">
            <a:off x="8773247" y="786385"/>
            <a:ext cx="45719" cy="3831336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55" name="Shape 4">
            <a:extLst>
              <a:ext uri="{FF2B5EF4-FFF2-40B4-BE49-F238E27FC236}">
                <a16:creationId xmlns:a16="http://schemas.microsoft.com/office/drawing/2014/main" id="{488321A6-E37F-4DC0-CE12-935675253624}"/>
              </a:ext>
            </a:extLst>
          </p:cNvPr>
          <p:cNvSpPr/>
          <p:nvPr/>
        </p:nvSpPr>
        <p:spPr>
          <a:xfrm>
            <a:off x="5947502" y="768097"/>
            <a:ext cx="45719" cy="1567546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2883C4EA-D47B-6219-0167-81CA7EEB6F80}"/>
              </a:ext>
            </a:extLst>
          </p:cNvPr>
          <p:cNvSpPr/>
          <p:nvPr/>
        </p:nvSpPr>
        <p:spPr>
          <a:xfrm>
            <a:off x="2989042" y="731520"/>
            <a:ext cx="45719" cy="1567546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1059D19B-0D46-A3EE-308D-A6D52822C4E4}"/>
              </a:ext>
            </a:extLst>
          </p:cNvPr>
          <p:cNvSpPr/>
          <p:nvPr/>
        </p:nvSpPr>
        <p:spPr>
          <a:xfrm>
            <a:off x="6122958" y="769916"/>
            <a:ext cx="45719" cy="1567546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464389E0-61DD-F133-AE14-C5391BE7434E}"/>
              </a:ext>
            </a:extLst>
          </p:cNvPr>
          <p:cNvSpPr/>
          <p:nvPr/>
        </p:nvSpPr>
        <p:spPr>
          <a:xfrm>
            <a:off x="5522292" y="2970628"/>
            <a:ext cx="45719" cy="1445171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60" name="Shape 4">
            <a:extLst>
              <a:ext uri="{FF2B5EF4-FFF2-40B4-BE49-F238E27FC236}">
                <a16:creationId xmlns:a16="http://schemas.microsoft.com/office/drawing/2014/main" id="{0FDBF683-85CA-E50D-E4B4-93B8FAF7EE94}"/>
              </a:ext>
            </a:extLst>
          </p:cNvPr>
          <p:cNvSpPr/>
          <p:nvPr/>
        </p:nvSpPr>
        <p:spPr>
          <a:xfrm flipH="1">
            <a:off x="2913010" y="2970628"/>
            <a:ext cx="45719" cy="146303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C88CA771-E5F9-265D-8937-814B865464C0}"/>
              </a:ext>
            </a:extLst>
          </p:cNvPr>
          <p:cNvSpPr/>
          <p:nvPr/>
        </p:nvSpPr>
        <p:spPr>
          <a:xfrm flipV="1">
            <a:off x="355015" y="4383209"/>
            <a:ext cx="5147344" cy="45719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tx2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stations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subsystem is exported as an FMU and orchestrated in Python following the FMI 2.0 standard.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36192"/>
            <a:ext cx="365760" cy="365760"/>
          </a:xfrm>
          <a:prstGeom prst="ellipse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— current work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 induction motor + Motovario NMRV 030 gearbox.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dq-frame dynamic model in Modelica.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37160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36192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15087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Manipulator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Dobot CR5 cobot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1488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6-DOF reduced to 3-DOF kinematic model for system-level simulation.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5 kg, reach 900 mm.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090672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AGV Mobile Platform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ERMASMART / MiR100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Differential-drive motion model.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m/s forward, 100 kg payload, ±50 mm accuracy.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292608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090672"/>
            <a:ext cx="365760" cy="365760"/>
          </a:xfrm>
          <a:prstGeom prst="ellipse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303520" y="3063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Mechanism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3383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ERMASMART XY10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3-axis Cartesian pick-and-place with vacuum gripper.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S7-1200 PLC, IO-Link, RFID.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9719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Process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subsystems &amp; interfaces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50592" y="13258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42032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extraction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Datasheets &amp; technical docs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35424" y="13258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26864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modelling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26864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 per subsystem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20256" y="13258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14173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11696" y="19659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Modelica behaviour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11696" y="22860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 3DEXPERIENCE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export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Mock-up Units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450592" y="29260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42032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42032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co-simulation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42032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 FMUs (FMI 2.0)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93408" y="2926080"/>
            <a:ext cx="18288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305010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784848" y="3536731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validation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03136" y="3859136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with TDMS data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9" name="Shape 23">
            <a:extLst>
              <a:ext uri="{FF2B5EF4-FFF2-40B4-BE49-F238E27FC236}">
                <a16:creationId xmlns:a16="http://schemas.microsoft.com/office/drawing/2014/main" id="{36929256-2868-78BC-8CBF-86A956842796}"/>
              </a:ext>
            </a:extLst>
          </p:cNvPr>
          <p:cNvSpPr/>
          <p:nvPr/>
        </p:nvSpPr>
        <p:spPr>
          <a:xfrm>
            <a:off x="4572000" y="2926080"/>
            <a:ext cx="19202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40" name="Text 24">
            <a:extLst>
              <a:ext uri="{FF2B5EF4-FFF2-40B4-BE49-F238E27FC236}">
                <a16:creationId xmlns:a16="http://schemas.microsoft.com/office/drawing/2014/main" id="{0CF37161-EB28-B86E-A820-2BE771DEA76D}"/>
              </a:ext>
            </a:extLst>
          </p:cNvPr>
          <p:cNvSpPr/>
          <p:nvPr/>
        </p:nvSpPr>
        <p:spPr>
          <a:xfrm>
            <a:off x="4663440" y="3017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41" name="Text 25">
            <a:extLst>
              <a:ext uri="{FF2B5EF4-FFF2-40B4-BE49-F238E27FC236}">
                <a16:creationId xmlns:a16="http://schemas.microsoft.com/office/drawing/2014/main" id="{5A0BD267-33E0-1E08-A57F-5FF481DFBB53}"/>
              </a:ext>
            </a:extLst>
          </p:cNvPr>
          <p:cNvSpPr/>
          <p:nvPr/>
        </p:nvSpPr>
        <p:spPr>
          <a:xfrm>
            <a:off x="4663440" y="3566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Model Calibration</a:t>
            </a:r>
          </a:p>
        </p:txBody>
      </p:sp>
      <p:sp>
        <p:nvSpPr>
          <p:cNvPr id="42" name="Text 26">
            <a:extLst>
              <a:ext uri="{FF2B5EF4-FFF2-40B4-BE49-F238E27FC236}">
                <a16:creationId xmlns:a16="http://schemas.microsoft.com/office/drawing/2014/main" id="{D89F8B50-1E8B-0D9D-FBB6-254309FDBC87}"/>
              </a:ext>
            </a:extLst>
          </p:cNvPr>
          <p:cNvSpPr/>
          <p:nvPr/>
        </p:nvSpPr>
        <p:spPr>
          <a:xfrm>
            <a:off x="4663440" y="38862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/>
              <a:t>Calibrating the models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3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— focus of this meeting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Modelling, parameters &amp; first simulation results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5C6B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— specifications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914400"/>
            <a:ext cx="0" cy="3383280"/>
          </a:xfrm>
          <a:prstGeom prst="line">
            <a:avLst/>
          </a:prstGeom>
          <a:noFill/>
          <a:ln w="15240">
            <a:solidFill>
              <a:srgbClr val="2C38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induction motor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 kW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166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 / 400 V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19568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Hz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speed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2494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 RPM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poles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5420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834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&amp; belt drive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09160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Gearbox model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Motovario NMRV 030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16642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ratio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37960" y="1664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: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9568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type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37960" y="1956816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Worm-gear, hollow shaft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speed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224942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 – 0.22 m/s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Belt length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2.4 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0916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Jars / trays / parts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069080"/>
            <a:ext cx="73152" cy="45720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1148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</a:t>
            </a: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parameters extracted from datasheets and verified against the physical motor on the ALIX line.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— dq-frame mathematical model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 transformation of the 3-phase quantities into a rotating dq reference frame — captures electromagnetic torque, flux linkage and mechanical dynamics.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9377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Governing equations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Stator voltage (d-axis):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v_sd = R_s·i_sd + dψ_sd/dt − ω_s·ψ_sq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Stator voltage (q-axis):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v_sq = R_s·i_sq + dψ_sq/dt + ω_s·ψ_sd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Rotor voltage (squirrel-cage, v_rd = v_rq = 0):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 = R_r·i_rd + dψ_rd/dt − (ω_s−ω_r)·ψ_rq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Electromagnetic torque: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T_em = (3/2)·p·(ψ_sd·i_sq − ψ_sq·i_sd)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Mechanical equation (with gearbox):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2C3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J·dω_m/dt = T_em − T_load/N − B·ω_m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0" y="1463040"/>
            <a:ext cx="329184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23560" y="1554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23560" y="192024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i, ψ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voltage, current, flux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R_s, R_r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stator / rotor resistance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ω_s, ω_r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synchronous / rotor speed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T_em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electromagnetic torque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pole pairs (= 2)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gearbox ratio (= 20)</a:t>
            </a:r>
            <a:endParaRPr lang="en-US" sz="1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J, B</a:t>
            </a: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inertia, viscous friction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— Modelica implementation in 3DEXPERIENCE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Behaviour-modelling diagram built in 3DEXPERIENCE — electrical chain (blue) and mechanical chain (green).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349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pic>
        <p:nvPicPr>
          <p:cNvPr id="6" name="Image 0" descr="/home/claude/modelica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640"/>
            <a:ext cx="5166360" cy="2304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1148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3DEXPERIENCE Behaviour Modelling — conveyor motor + gearbox + belt load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1371600"/>
            <a:ext cx="29260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52160" y="1371600"/>
            <a:ext cx="73152" cy="310896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350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sensors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89320" y="1783080"/>
            <a:ext cx="27432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chain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sineVoltage → currentSensor → powerSensor → IMC (m_phases = 3); starSupply, starMachine and ground complete the 3-phase circuit.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chain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idealGear (ratio) → inertiaGearBox (J_gearbox) → drum (drum_radius) → belt mass → damper → fixed support.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motorSpeedSensor (rad/s), motorTorqueSensor (N·m), beltSpeedSensor (m/s).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9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9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conveyorLoad applies a constant resistive force −load_force_const on the belt mass.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— first simulation results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run on the 3DEXPERIENCE Modelica model — values read directly from the post-processing variable browser.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pic>
        <p:nvPicPr>
          <p:cNvPr id="6" name="Image 0" descr="/home/claude/sim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246888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46120" y="1371600"/>
            <a:ext cx="27432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46120" y="1371600"/>
            <a:ext cx="73152" cy="3108960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9000" y="14630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parameters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29000" y="18288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206240" y="182880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Ω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429000" y="19751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 resistance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429000" y="217627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Lssigma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206240" y="217627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 H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429000" y="23225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 stray ind.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429000" y="252374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Lszero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06240" y="252374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0.025 H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429000" y="267004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zero-seq. ind.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429000" y="287121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206240" y="287121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 kg·m²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429000" y="301752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inertia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429000" y="321868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206240" y="321868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0.0015 kg·m²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3649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stator inertia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429000" y="35661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TsRef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06240" y="356616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293.15 K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429000" y="37124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temp.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429000" y="39136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E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alpha20s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206240" y="3913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0.00393 / K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29000" y="40599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temp. coefficient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126480" y="1371600"/>
            <a:ext cx="265176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26480" y="1371600"/>
            <a:ext cx="73152" cy="310896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outputs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09360" y="18288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wMechanical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309360" y="20299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1496.1 RPM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6309360" y="2468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tauElectrical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30936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0.316 N·m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309360" y="31089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tauShaft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309360" y="3310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0.100 N·m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630936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near synchronous speed (1500 RPM) → very low slip, consistent with no-load run.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44" name="Text 41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— research foundations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686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subsystem model is grounded in peer-reviewed literature on modelling, fault simulation and co-simulation.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73152" cy="146304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/ induction motor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dq-frame induction-motor models with electrical &amp; mechanical fault simulation in Modelica (broken-bar, eccentricity, voltage unbalance).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371600"/>
            <a:ext cx="73152" cy="146304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Dobot CR5 manipulator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/ inverse kinematics and Lagrangian dynamics for 6-DOF cobots; reduced-order 3-DOF surrogate for system simulation.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17520"/>
            <a:ext cx="73152" cy="146304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54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MiR100 AGV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Differential-drive kinematics; trajectory tracking via Model Predictive Control in factory-floor environments.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069080" cy="14630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017520"/>
            <a:ext cx="73152" cy="146304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546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FMI 2.0 co-simulation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520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Master-slave orchestration of FMUs in Python; TDMS data acquisition for experimental validation of digital twins.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914400"/>
            <a:ext cx="0" cy="3383280"/>
          </a:xfrm>
          <a:prstGeom prst="line">
            <a:avLst/>
          </a:prstGeom>
          <a:noFill/>
          <a:ln w="15240">
            <a:solidFill>
              <a:srgbClr val="2C38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so far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4069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Digital-twin architecture defined for the four ALIX subsystems.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MBSE methodology validated with the supervisor (7-step pipeline).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conveyor-motor parameters extracted and cross-checked.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dq-frame mathematical model derived and implemented in Modelica / 3DEXPERIENCE.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simulation reproduces near-synchronous steady state: wMechanical ≈ 1496 RPM (slip &lt; 0.3%).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torque tauElectrical ≈ 0.316 N·m, shaft torque tauShaft ≈ 0.100 N·m at no-load.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FMU 2.0 export of the conveyor model successfully tested in a Python wrapper.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709160" y="9144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09160" y="1325880"/>
            <a:ext cx="40690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experimental TDMS data on the real conveyor for validation.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gearbox efficiency &amp; friction parameters from measurements.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 electrical/mechanical faults (broken bar, voltage unbalance) for fault-simulation studies.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Subsystem 2 — Dobot CR5 kinematic / dynamic model.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interface variables between conveyor and XY10 station for the conditioning mode.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first end-to-end Python co-simulation prototype with two FMUs.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2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 — updated planning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77440" y="1280160"/>
            <a:ext cx="6217920" cy="320040"/>
          </a:xfrm>
          <a:prstGeom prst="rect">
            <a:avLst/>
          </a:prstGeom>
          <a:solidFill>
            <a:srgbClr val="2C3848"/>
          </a:solidFill>
          <a:ln w="12700">
            <a:solidFill>
              <a:srgbClr val="2C38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65714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65714" y="1280160"/>
            <a:ext cx="0" cy="2697480"/>
          </a:xfrm>
          <a:prstGeom prst="line">
            <a:avLst/>
          </a:prstGeom>
          <a:noFill/>
          <a:ln w="6350">
            <a:solidFill>
              <a:srgbClr val="D8DC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53989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53989" y="1280160"/>
            <a:ext cx="0" cy="2697480"/>
          </a:xfrm>
          <a:prstGeom prst="line">
            <a:avLst/>
          </a:prstGeom>
          <a:noFill/>
          <a:ln w="6350">
            <a:solidFill>
              <a:srgbClr val="D8DC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42263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42263" y="1280160"/>
            <a:ext cx="0" cy="2697480"/>
          </a:xfrm>
          <a:prstGeom prst="line">
            <a:avLst/>
          </a:prstGeom>
          <a:noFill/>
          <a:ln w="6350">
            <a:solidFill>
              <a:srgbClr val="D8DC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30537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30537" y="1280160"/>
            <a:ext cx="0" cy="2697480"/>
          </a:xfrm>
          <a:prstGeom prst="line">
            <a:avLst/>
          </a:prstGeom>
          <a:noFill/>
          <a:ln w="6350">
            <a:solidFill>
              <a:srgbClr val="D8DC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8811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18811" y="1280160"/>
            <a:ext cx="0" cy="2697480"/>
          </a:xfrm>
          <a:prstGeom prst="line">
            <a:avLst/>
          </a:prstGeom>
          <a:noFill/>
          <a:ln w="6350">
            <a:solidFill>
              <a:srgbClr val="D8DC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07086" y="1280160"/>
            <a:ext cx="8882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07086" y="1280160"/>
            <a:ext cx="0" cy="2697480"/>
          </a:xfrm>
          <a:prstGeom prst="line">
            <a:avLst/>
          </a:prstGeom>
          <a:noFill/>
          <a:ln w="6350">
            <a:solidFill>
              <a:srgbClr val="D8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62763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 &amp; literature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0" y="1682496"/>
            <a:ext cx="1332411" cy="1554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7452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MBSE plan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65714" y="1929384"/>
            <a:ext cx="888274" cy="1554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12140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motor — modelling &amp; FMU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09851" y="2176272"/>
            <a:ext cx="1332411" cy="155448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36829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TDMS data acquisition &amp; validation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64608" y="2423160"/>
            <a:ext cx="888274" cy="155448"/>
          </a:xfrm>
          <a:prstGeom prst="rect">
            <a:avLst/>
          </a:prstGeom>
          <a:solidFill>
            <a:srgbClr val="FFB89A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615184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Dobot CR5 — kinematic / dynamic 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42263" y="2670048"/>
            <a:ext cx="1332411" cy="155448"/>
          </a:xfrm>
          <a:prstGeom prst="rect">
            <a:avLst/>
          </a:prstGeom>
          <a:solidFill>
            <a:srgbClr val="FFB89A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62072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MiR100 AGV — motion model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30537" y="2916936"/>
            <a:ext cx="1065929" cy="155448"/>
          </a:xfrm>
          <a:prstGeom prst="rect">
            <a:avLst/>
          </a:prstGeom>
          <a:solidFill>
            <a:srgbClr val="D8DCE2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108960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XY10 assembly — Cartesian model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641157" y="3163824"/>
            <a:ext cx="1065929" cy="155448"/>
          </a:xfrm>
          <a:prstGeom prst="rect">
            <a:avLst/>
          </a:prstGeom>
          <a:solidFill>
            <a:srgbClr val="D8DCE2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355848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co-simulation prototype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62949" y="3410712"/>
            <a:ext cx="888274" cy="155448"/>
          </a:xfrm>
          <a:prstGeom prst="rect">
            <a:avLst/>
          </a:prstGeom>
          <a:solidFill>
            <a:srgbClr val="D8DCE2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02736"/>
            <a:ext cx="1965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&amp; defence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07086" y="3657600"/>
            <a:ext cx="888274" cy="155448"/>
          </a:xfrm>
          <a:prstGeom prst="rect">
            <a:avLst/>
          </a:prstGeom>
          <a:solidFill>
            <a:srgbClr val="D8DCE2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175504" y="1280160"/>
            <a:ext cx="0" cy="2697480"/>
          </a:xfrm>
          <a:prstGeom prst="line">
            <a:avLst/>
          </a:prstGeom>
          <a:noFill/>
          <a:ln w="19050">
            <a:solidFill>
              <a:srgbClr val="E84E1B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809744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251960"/>
            <a:ext cx="274320" cy="164592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42153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554480" y="4251960"/>
            <a:ext cx="274320" cy="164592"/>
          </a:xfrm>
          <a:prstGeom prst="rect">
            <a:avLst/>
          </a:prstGeom>
          <a:solidFill>
            <a:srgbClr val="FFB89A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74520" y="421538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0" y="4251960"/>
            <a:ext cx="274320" cy="164592"/>
          </a:xfrm>
          <a:prstGeom prst="rect">
            <a:avLst/>
          </a:prstGeom>
          <a:solidFill>
            <a:srgbClr val="D8DCE2"/>
          </a:solidFill>
          <a:ln w="12700">
            <a:solidFill>
              <a:srgbClr val="B8C0C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42153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9525">
            <a:solidFill>
              <a:srgbClr val="B8C0C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7365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ISAE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92024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057400" y="473659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r>
              <a:rPr lang="en-US" sz="900" dirty="0">
                <a:solidFill>
                  <a:srgbClr val="2C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Institut supérieur de mécanique de Paris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086600" y="4736592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183880" y="473659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3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09854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2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</a:t>
            </a:r>
            <a:endParaRPr lang="en-US" sz="2720" dirty="0"/>
          </a:p>
        </p:txBody>
      </p:sp>
      <p:sp>
        <p:nvSpPr>
          <p:cNvPr id="3" name="Shape 1"/>
          <p:cNvSpPr/>
          <p:nvPr/>
        </p:nvSpPr>
        <p:spPr>
          <a:xfrm>
            <a:off x="822960" y="2622042"/>
            <a:ext cx="2098548" cy="31090"/>
          </a:xfrm>
          <a:prstGeom prst="rect">
            <a:avLst/>
          </a:prstGeom>
          <a:solidFill>
            <a:srgbClr val="E84E1B"/>
          </a:solidFill>
          <a:ln w="12700">
            <a:solidFill>
              <a:srgbClr val="E84E1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76449"/>
            <a:ext cx="2098548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2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supméca</a:t>
            </a:r>
            <a:endParaRPr lang="en-US" sz="2720" dirty="0"/>
          </a:p>
        </p:txBody>
      </p:sp>
      <p:sp>
        <p:nvSpPr>
          <p:cNvPr id="5" name="Shape 3"/>
          <p:cNvSpPr/>
          <p:nvPr/>
        </p:nvSpPr>
        <p:spPr>
          <a:xfrm>
            <a:off x="3108960" y="2331720"/>
            <a:ext cx="0" cy="1188720"/>
          </a:xfrm>
          <a:prstGeom prst="line">
            <a:avLst/>
          </a:prstGeom>
          <a:noFill/>
          <a:ln w="15240">
            <a:solidFill>
              <a:srgbClr val="E84E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ISAE-Supméca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supérieur de mécanique de Paris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rue Fernand Hainaut 93407 Saint-Ouen Cedex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Tél. 01 49 45 29 00  –  </a:t>
            </a: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www.isae-supmeca.fr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l'Enseignement supérieur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AAB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de la Recherche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675120" y="2331720"/>
            <a:ext cx="0" cy="1188720"/>
          </a:xfrm>
          <a:prstGeom prst="line">
            <a:avLst/>
          </a:prstGeom>
          <a:noFill/>
          <a:ln w="15240">
            <a:solidFill>
              <a:srgbClr val="E84E1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ISAE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1635</TotalTime>
  <Words>2189</Words>
  <Application>Microsoft Office PowerPoint</Application>
  <PresentationFormat>Affichage à l'écran (16:9)</PresentationFormat>
  <Paragraphs>405</Paragraphs>
  <Slides>19</Slides>
  <Notes>19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MoM 4 - Mechatronics Modelling Industry 5.0</dc:title>
  <dc:subject>PptxGenJS Presentation</dc:subject>
  <dc:creator>Samiksha Satre</dc:creator>
  <cp:lastModifiedBy>SATRE Samiksha</cp:lastModifiedBy>
  <cp:revision>4</cp:revision>
  <dcterms:created xsi:type="dcterms:W3CDTF">2026-05-04T11:24:41Z</dcterms:created>
  <dcterms:modified xsi:type="dcterms:W3CDTF">2026-05-30T08:55:47Z</dcterms:modified>
</cp:coreProperties>
</file>