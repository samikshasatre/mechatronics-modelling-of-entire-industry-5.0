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39"/>
  </p:notesMasterIdLst>
  <p:sldIdLst>
    <p:sldId id="295" r:id="rId2"/>
    <p:sldId id="302" r:id="rId3"/>
    <p:sldId id="257" r:id="rId4"/>
    <p:sldId id="258" r:id="rId5"/>
    <p:sldId id="274" r:id="rId6"/>
    <p:sldId id="261" r:id="rId7"/>
    <p:sldId id="262" r:id="rId8"/>
    <p:sldId id="259" r:id="rId9"/>
    <p:sldId id="312" r:id="rId10"/>
    <p:sldId id="281" r:id="rId11"/>
    <p:sldId id="282" r:id="rId12"/>
    <p:sldId id="288" r:id="rId13"/>
    <p:sldId id="313" r:id="rId14"/>
    <p:sldId id="299" r:id="rId15"/>
    <p:sldId id="276" r:id="rId16"/>
    <p:sldId id="264" r:id="rId17"/>
    <p:sldId id="314" r:id="rId18"/>
    <p:sldId id="300" r:id="rId19"/>
    <p:sldId id="301" r:id="rId20"/>
    <p:sldId id="310" r:id="rId21"/>
    <p:sldId id="311" r:id="rId22"/>
    <p:sldId id="277" r:id="rId23"/>
    <p:sldId id="318" r:id="rId24"/>
    <p:sldId id="315" r:id="rId25"/>
    <p:sldId id="320" r:id="rId26"/>
    <p:sldId id="266" r:id="rId27"/>
    <p:sldId id="316" r:id="rId28"/>
    <p:sldId id="267" r:id="rId29"/>
    <p:sldId id="317" r:id="rId30"/>
    <p:sldId id="324" r:id="rId31"/>
    <p:sldId id="325" r:id="rId32"/>
    <p:sldId id="319" r:id="rId33"/>
    <p:sldId id="321" r:id="rId34"/>
    <p:sldId id="271" r:id="rId35"/>
    <p:sldId id="273" r:id="rId36"/>
    <p:sldId id="305" r:id="rId37"/>
    <p:sldId id="307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C4602-F916-4561-94F0-1174EF718920}" type="doc">
      <dgm:prSet loTypeId="urn:microsoft.com/office/officeart/2005/8/layout/b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19B1A2E-66A5-48B7-80CD-7064159DA0D2}">
      <dgm:prSet phldrT="[Texte]" custT="1"/>
      <dgm:spPr>
        <a:solidFill>
          <a:schemeClr val="tx2">
            <a:lumMod val="50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sz="1400" b="1" spc="2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MISSION</a:t>
          </a:r>
          <a:endParaRPr lang="fr-FR" sz="1400" b="1" dirty="0">
            <a:solidFill>
              <a:schemeClr val="lt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B717E7-21D8-4669-8696-9E86DD0081CC}" type="parTrans" cxnId="{15BAB6F0-FEA8-4ABB-B147-ACDA636B65FF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C1741461-3621-488D-B395-5C804300F421}" type="sibTrans" cxnId="{15BAB6F0-FEA8-4ABB-B147-ACDA636B65FF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6F73FBD5-8E5D-43A2-8F18-2CF31141E1E0}">
      <dgm:prSet phldrT="[Texte]" custT="1"/>
      <dgm:spPr>
        <a:solidFill>
          <a:schemeClr val="tx2">
            <a:lumMod val="75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sz="1400" b="1" spc="2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SYSTEM</a:t>
          </a:r>
          <a:endParaRPr lang="fr-FR" sz="1400" dirty="0">
            <a:solidFill>
              <a:schemeClr val="lt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B5CF79-D05D-48BB-9398-ECA126501B08}" type="parTrans" cxnId="{AD490C9E-C1E6-47B0-A096-BE6206AB29D0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4105248A-EBAD-4626-A94E-C82BA2970CBD}" type="sibTrans" cxnId="{AD490C9E-C1E6-47B0-A096-BE6206AB29D0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35997C89-6974-4F4D-B60D-B6EDCAA6B936}">
      <dgm:prSet phldrT="[Texte]" custT="1"/>
      <dgm:spPr>
        <a:solidFill>
          <a:schemeClr val="tx2">
            <a:lumMod val="40000"/>
            <a:lumOff val="60000"/>
          </a:schemeClr>
        </a:solidFill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r>
            <a:rPr lang="en-US" sz="1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STATIONS</a:t>
          </a:r>
          <a:endParaRPr lang="fr-FR" sz="14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628D424-AA2C-4EE1-9224-DEC7544911EB}" type="parTrans" cxnId="{88FD3588-3BD7-481E-AB5A-2B5FAF1ADFD4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C77A0B72-BBC5-410C-A6D3-CF796114A480}" type="sibTrans" cxnId="{88FD3588-3BD7-481E-AB5A-2B5FAF1ADFD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CBA39CA0-27DF-4267-82CE-6202AC19AA98}">
      <dgm:prSet phldrT="[Texte]" custT="1"/>
      <dgm:spPr>
        <a:solidFill>
          <a:schemeClr val="tx2">
            <a:lumMod val="40000"/>
            <a:lumOff val="6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fr-FR" sz="1400" b="1" dirty="0">
              <a:solidFill>
                <a:schemeClr val="accent1">
                  <a:lumMod val="50000"/>
                </a:schemeClr>
              </a:solidFill>
            </a:rPr>
            <a:t>SPATIAL &amp; COUPLING ANALYSIS</a:t>
          </a:r>
          <a:endParaRPr lang="fr-FR" sz="14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A65408-7FD9-452D-9DE5-3CCAC0C6FAEA}" type="parTrans" cxnId="{C8DF8E50-4872-461A-B925-97B7C7503566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F6FB23E4-E5B6-425B-AABB-B4BF0829B412}" type="sibTrans" cxnId="{C8DF8E50-4872-461A-B925-97B7C7503566}">
      <dgm:prSet/>
      <dgm:spPr>
        <a:solidFill>
          <a:schemeClr val="tx2"/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2CD977B8-635C-4C6C-B6DC-9A72953CA0C8}">
      <dgm:prSet phldrT="[Texte]" custT="1"/>
      <dgm:spPr>
        <a:solidFill>
          <a:srgbClr val="0070C0"/>
        </a:solidFill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pPr>
            <a:buNone/>
          </a:pPr>
          <a:r>
            <a:rPr lang="fr-F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DELIVERABLES</a:t>
          </a:r>
          <a:endParaRPr lang="fr-FR" sz="14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483F62-7B1A-48C0-AD92-7021A9C4B7B8}" type="parTrans" cxnId="{E90A42E6-89F5-4805-8359-AD5E0B01F34A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6E1B58C3-D7FF-42D8-BCF5-95767AFBE604}" type="sibTrans" cxnId="{E90A42E6-89F5-4805-8359-AD5E0B01F34A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BC385E7A-6FE1-4C68-998B-A731E28F508F}">
      <dgm:prSet phldrT="[Texte]" custT="1"/>
      <dgm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sz="1400" b="1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CONCLUSION</a:t>
          </a:r>
          <a:endParaRPr lang="fr-FR" sz="14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607576-D451-4544-A631-B3526A19275A}" type="parTrans" cxnId="{0B5619B2-B0F5-44B3-98BC-CDD42FF9B249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5FA961D1-7544-4BB5-BEB6-D8B5EDA4C8EF}" type="sibTrans" cxnId="{0B5619B2-B0F5-44B3-98BC-CDD42FF9B249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8607FA3B-248D-4CDC-81E1-0F9C3EF330A0}">
      <dgm:prSet phldrT="[Texte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MODEL CALLIBRATION</a:t>
          </a:r>
          <a:endParaRPr lang="fr-FR" sz="14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8A9334-24BF-4182-ABB5-DC57A24EE7FE}" type="parTrans" cxnId="{55AE1881-5C8F-4E03-BAF9-B4C46DC2827D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822A3295-8279-4442-AB68-FEA01176A666}" type="sibTrans" cxnId="{55AE1881-5C8F-4E03-BAF9-B4C46DC2827D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7DD1BDB5-B2B0-4BE0-8A2C-DA40B328DAD1}">
      <dgm:prSet phldrT="[Texte]" custT="1"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sz="1400" b="1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HEADLINE-PERFORMANCE METRICS</a:t>
          </a:r>
          <a:endParaRPr lang="fr-FR" sz="14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E2D7EA2-79BB-4F2C-895E-EBF88A8D9AB4}" type="parTrans" cxnId="{BF20CF6A-1899-44AC-9B1D-FC95F6044A61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956F09EC-4C73-4E3F-88B6-B2AD8136C77D}" type="sibTrans" cxnId="{BF20CF6A-1899-44AC-9B1D-FC95F6044A61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302A1040-D4C4-4883-85A2-34D881AEDA09}">
      <dgm:prSet phldrT="[Texte]" custT="1"/>
      <dgm:spPr>
        <a:solidFill>
          <a:schemeClr val="tx2">
            <a:lumMod val="20000"/>
            <a:lumOff val="8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REAL-TIME EXPERIMENT ON THE ALIX LINE</a:t>
          </a:r>
          <a:endParaRPr lang="fr-FR" sz="14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644D1D4-724E-4BB5-BCF5-8B60DB508AB5}" type="parTrans" cxnId="{299EDF36-9C02-44EF-A786-CC0DF0E13842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728132BD-BBD8-4EAF-BE87-B650668EBA80}" type="sibTrans" cxnId="{299EDF36-9C02-44EF-A786-CC0DF0E1384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0C54568A-0EF5-43D2-936F-96F8C5DF093A}">
      <dgm:prSet phldrT="[Texte]" custT="1"/>
      <dgm:spPr>
        <a:solidFill>
          <a:schemeClr val="tx2">
            <a:lumMod val="40000"/>
            <a:lumOff val="60000"/>
          </a:schemeClr>
        </a:solidFill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r>
            <a:rPr lang="en-US" sz="1400" b="1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MULTIPHYSICS MODELS,EQUATIONS</a:t>
          </a:r>
          <a:endParaRPr lang="fr-FR" sz="14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B4B4AE9-99DC-4569-B684-8812A59E1F1C}" type="parTrans" cxnId="{EBBDDDCA-104F-4AAF-A266-119590B137FF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9580B8B3-13AC-4C52-9055-F6E9EE539471}" type="sibTrans" cxnId="{EBBDDDCA-104F-4AAF-A266-119590B137FF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9460ECED-A340-475F-9D9C-8701D4BB917E}">
      <dgm:prSet phldrT="[Texte]" custT="1"/>
      <dgm:spPr>
        <a:solidFill>
          <a:schemeClr val="bg1">
            <a:lumMod val="85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fr-FR" sz="1600" b="1" dirty="0">
              <a:solidFill>
                <a:schemeClr val="accent1">
                  <a:lumMod val="50000"/>
                </a:schemeClr>
              </a:solidFill>
            </a:rPr>
            <a:t>ENERGY ANALYSIS</a:t>
          </a:r>
          <a:endParaRPr lang="fr-FR" sz="16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9048A71-82FD-4D39-A078-1656387DEBB8}" type="parTrans" cxnId="{68A9569C-2981-4204-AF19-C42397C4C555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41B43137-69E5-4051-BE3E-022659189EBD}" type="sibTrans" cxnId="{68A9569C-2981-4204-AF19-C42397C4C555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83F8A6F4-A467-48CC-A7EE-B9BFB9B4FEA2}">
      <dgm:prSet phldrT="[Texte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fr-FR" sz="1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PER-SUBSYSTEM VALIDATION RESULTS AND TWO STAGE VALIDATION</a:t>
          </a:r>
          <a:endParaRPr lang="fr-FR" sz="14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D5818A0-FFD2-4573-97FB-DA9AB5A2F8B2}" type="parTrans" cxnId="{42981B9A-9F51-4732-8504-ADF4EBD12D47}">
      <dgm:prSet/>
      <dgm:spPr/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5EDCAECE-8881-4EC4-93DA-FB6942309D62}" type="sibTrans" cxnId="{42981B9A-9F51-4732-8504-ADF4EBD12D47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endParaRPr lang="fr-FR">
            <a:solidFill>
              <a:sysClr val="windowText" lastClr="000000"/>
            </a:solidFill>
          </a:endParaRPr>
        </a:p>
      </dgm:t>
    </dgm:pt>
    <dgm:pt modelId="{C1F7FB1A-B8ED-4A4C-B5DA-551B3F94F3B4}" type="pres">
      <dgm:prSet presAssocID="{BABC4602-F916-4561-94F0-1174EF718920}" presName="Name0" presStyleCnt="0">
        <dgm:presLayoutVars>
          <dgm:dir/>
          <dgm:resizeHandles/>
        </dgm:presLayoutVars>
      </dgm:prSet>
      <dgm:spPr/>
    </dgm:pt>
    <dgm:pt modelId="{EC1CC78E-5FC1-4EB8-B014-6DA52407730F}" type="pres">
      <dgm:prSet presAssocID="{A19B1A2E-66A5-48B7-80CD-7064159DA0D2}" presName="compNode" presStyleCnt="0"/>
      <dgm:spPr/>
    </dgm:pt>
    <dgm:pt modelId="{7AAD8C81-9B39-4493-8779-6A015ADC0F21}" type="pres">
      <dgm:prSet presAssocID="{A19B1A2E-66A5-48B7-80CD-7064159DA0D2}" presName="dummyConnPt" presStyleCnt="0"/>
      <dgm:spPr/>
    </dgm:pt>
    <dgm:pt modelId="{1B703021-59E3-4419-9D61-2CEB5FE30219}" type="pres">
      <dgm:prSet presAssocID="{A19B1A2E-66A5-48B7-80CD-7064159DA0D2}" presName="node" presStyleLbl="node1" presStyleIdx="0" presStyleCnt="12">
        <dgm:presLayoutVars>
          <dgm:bulletEnabled val="1"/>
        </dgm:presLayoutVars>
      </dgm:prSet>
      <dgm:spPr/>
    </dgm:pt>
    <dgm:pt modelId="{4B45B782-4003-4C3A-8473-A49E890A8E9C}" type="pres">
      <dgm:prSet presAssocID="{C1741461-3621-488D-B395-5C804300F421}" presName="sibTrans" presStyleLbl="bgSibTrans2D1" presStyleIdx="0" presStyleCnt="11"/>
      <dgm:spPr/>
    </dgm:pt>
    <dgm:pt modelId="{FA194A72-11FA-4D1F-A75B-2486B1766877}" type="pres">
      <dgm:prSet presAssocID="{6F73FBD5-8E5D-43A2-8F18-2CF31141E1E0}" presName="compNode" presStyleCnt="0"/>
      <dgm:spPr/>
    </dgm:pt>
    <dgm:pt modelId="{EAD0C792-951D-40C7-BE05-CB0C23904E43}" type="pres">
      <dgm:prSet presAssocID="{6F73FBD5-8E5D-43A2-8F18-2CF31141E1E0}" presName="dummyConnPt" presStyleCnt="0"/>
      <dgm:spPr/>
    </dgm:pt>
    <dgm:pt modelId="{9D0F871E-1C9D-4C5F-9538-C72BCEEB4FBA}" type="pres">
      <dgm:prSet presAssocID="{6F73FBD5-8E5D-43A2-8F18-2CF31141E1E0}" presName="node" presStyleLbl="node1" presStyleIdx="1" presStyleCnt="12">
        <dgm:presLayoutVars>
          <dgm:bulletEnabled val="1"/>
        </dgm:presLayoutVars>
      </dgm:prSet>
      <dgm:spPr/>
    </dgm:pt>
    <dgm:pt modelId="{8D1B9DA0-9190-4227-9F39-43DFC509E4AF}" type="pres">
      <dgm:prSet presAssocID="{4105248A-EBAD-4626-A94E-C82BA2970CBD}" presName="sibTrans" presStyleLbl="bgSibTrans2D1" presStyleIdx="1" presStyleCnt="11"/>
      <dgm:spPr/>
    </dgm:pt>
    <dgm:pt modelId="{5483D2F5-56BB-469E-8D66-F9632EB5094F}" type="pres">
      <dgm:prSet presAssocID="{35997C89-6974-4F4D-B60D-B6EDCAA6B936}" presName="compNode" presStyleCnt="0"/>
      <dgm:spPr/>
    </dgm:pt>
    <dgm:pt modelId="{8F3FB6BE-9ACE-4B04-8909-4334BAFC3C83}" type="pres">
      <dgm:prSet presAssocID="{35997C89-6974-4F4D-B60D-B6EDCAA6B936}" presName="dummyConnPt" presStyleCnt="0"/>
      <dgm:spPr/>
    </dgm:pt>
    <dgm:pt modelId="{CF353763-D98E-40AD-9C29-233E2890D36F}" type="pres">
      <dgm:prSet presAssocID="{35997C89-6974-4F4D-B60D-B6EDCAA6B936}" presName="node" presStyleLbl="node1" presStyleIdx="2" presStyleCnt="12">
        <dgm:presLayoutVars>
          <dgm:bulletEnabled val="1"/>
        </dgm:presLayoutVars>
      </dgm:prSet>
      <dgm:spPr/>
    </dgm:pt>
    <dgm:pt modelId="{B65FCB62-98B4-4EC3-B0EA-1AB114DE640C}" type="pres">
      <dgm:prSet presAssocID="{C77A0B72-BBC5-410C-A6D3-CF796114A480}" presName="sibTrans" presStyleLbl="bgSibTrans2D1" presStyleIdx="2" presStyleCnt="11"/>
      <dgm:spPr/>
    </dgm:pt>
    <dgm:pt modelId="{5B55F879-CDDF-4C52-A3A0-F07F3F56A696}" type="pres">
      <dgm:prSet presAssocID="{0C54568A-0EF5-43D2-936F-96F8C5DF093A}" presName="compNode" presStyleCnt="0"/>
      <dgm:spPr/>
    </dgm:pt>
    <dgm:pt modelId="{28A221AD-387A-4085-A9A1-5BF00751743F}" type="pres">
      <dgm:prSet presAssocID="{0C54568A-0EF5-43D2-936F-96F8C5DF093A}" presName="dummyConnPt" presStyleCnt="0"/>
      <dgm:spPr/>
    </dgm:pt>
    <dgm:pt modelId="{312D0520-7E2C-4A1E-911E-6BF9A76473D4}" type="pres">
      <dgm:prSet presAssocID="{0C54568A-0EF5-43D2-936F-96F8C5DF093A}" presName="node" presStyleLbl="node1" presStyleIdx="3" presStyleCnt="12">
        <dgm:presLayoutVars>
          <dgm:bulletEnabled val="1"/>
        </dgm:presLayoutVars>
      </dgm:prSet>
      <dgm:spPr/>
    </dgm:pt>
    <dgm:pt modelId="{A71C0391-88B8-490B-8E79-1CE05AF85AB3}" type="pres">
      <dgm:prSet presAssocID="{9580B8B3-13AC-4C52-9055-F6E9EE539471}" presName="sibTrans" presStyleLbl="bgSibTrans2D1" presStyleIdx="3" presStyleCnt="11"/>
      <dgm:spPr/>
    </dgm:pt>
    <dgm:pt modelId="{C901D6ED-A9B1-4C0C-8C77-FE2FF5BCF9FC}" type="pres">
      <dgm:prSet presAssocID="{CBA39CA0-27DF-4267-82CE-6202AC19AA98}" presName="compNode" presStyleCnt="0"/>
      <dgm:spPr/>
    </dgm:pt>
    <dgm:pt modelId="{DCBC26D1-EE79-446B-AB6C-9FC2CEC4E41F}" type="pres">
      <dgm:prSet presAssocID="{CBA39CA0-27DF-4267-82CE-6202AC19AA98}" presName="dummyConnPt" presStyleCnt="0"/>
      <dgm:spPr/>
    </dgm:pt>
    <dgm:pt modelId="{295FCE7E-A9CC-49AD-979A-EAB0C8C8CA2C}" type="pres">
      <dgm:prSet presAssocID="{CBA39CA0-27DF-4267-82CE-6202AC19AA98}" presName="node" presStyleLbl="node1" presStyleIdx="4" presStyleCnt="12">
        <dgm:presLayoutVars>
          <dgm:bulletEnabled val="1"/>
        </dgm:presLayoutVars>
      </dgm:prSet>
      <dgm:spPr/>
    </dgm:pt>
    <dgm:pt modelId="{02E898E7-0A52-4039-B7FC-734AF75B816C}" type="pres">
      <dgm:prSet presAssocID="{F6FB23E4-E5B6-425B-AABB-B4BF0829B412}" presName="sibTrans" presStyleLbl="bgSibTrans2D1" presStyleIdx="4" presStyleCnt="11"/>
      <dgm:spPr/>
    </dgm:pt>
    <dgm:pt modelId="{99586B51-E51D-4E55-BDB8-ABE275215177}" type="pres">
      <dgm:prSet presAssocID="{302A1040-D4C4-4883-85A2-34D881AEDA09}" presName="compNode" presStyleCnt="0"/>
      <dgm:spPr/>
    </dgm:pt>
    <dgm:pt modelId="{7A13E61D-67C7-4BFA-B0AA-A7C70D5E1161}" type="pres">
      <dgm:prSet presAssocID="{302A1040-D4C4-4883-85A2-34D881AEDA09}" presName="dummyConnPt" presStyleCnt="0"/>
      <dgm:spPr/>
    </dgm:pt>
    <dgm:pt modelId="{AF4BF84F-DF98-4328-9438-95B0CC1389B0}" type="pres">
      <dgm:prSet presAssocID="{302A1040-D4C4-4883-85A2-34D881AEDA09}" presName="node" presStyleLbl="node1" presStyleIdx="5" presStyleCnt="12">
        <dgm:presLayoutVars>
          <dgm:bulletEnabled val="1"/>
        </dgm:presLayoutVars>
      </dgm:prSet>
      <dgm:spPr/>
    </dgm:pt>
    <dgm:pt modelId="{D9050FAF-CC66-4A35-9F86-9E77A27FACAB}" type="pres">
      <dgm:prSet presAssocID="{728132BD-BBD8-4EAF-BE87-B650668EBA80}" presName="sibTrans" presStyleLbl="bgSibTrans2D1" presStyleIdx="5" presStyleCnt="11"/>
      <dgm:spPr/>
    </dgm:pt>
    <dgm:pt modelId="{E1CBECAC-A46E-47B4-948A-DF1402ECBCE4}" type="pres">
      <dgm:prSet presAssocID="{83F8A6F4-A467-48CC-A7EE-B9BFB9B4FEA2}" presName="compNode" presStyleCnt="0"/>
      <dgm:spPr/>
    </dgm:pt>
    <dgm:pt modelId="{64549F5E-43E8-4F41-A55E-97A81AA65DAD}" type="pres">
      <dgm:prSet presAssocID="{83F8A6F4-A467-48CC-A7EE-B9BFB9B4FEA2}" presName="dummyConnPt" presStyleCnt="0"/>
      <dgm:spPr/>
    </dgm:pt>
    <dgm:pt modelId="{68E79E20-D653-4382-928B-8F309B969809}" type="pres">
      <dgm:prSet presAssocID="{83F8A6F4-A467-48CC-A7EE-B9BFB9B4FEA2}" presName="node" presStyleLbl="node1" presStyleIdx="6" presStyleCnt="12">
        <dgm:presLayoutVars>
          <dgm:bulletEnabled val="1"/>
        </dgm:presLayoutVars>
      </dgm:prSet>
      <dgm:spPr/>
    </dgm:pt>
    <dgm:pt modelId="{2F8D3363-B538-4349-AB5E-3BCBF7E318A3}" type="pres">
      <dgm:prSet presAssocID="{5EDCAECE-8881-4EC4-93DA-FB6942309D62}" presName="sibTrans" presStyleLbl="bgSibTrans2D1" presStyleIdx="6" presStyleCnt="11"/>
      <dgm:spPr/>
    </dgm:pt>
    <dgm:pt modelId="{335F1008-D6C4-45D4-94B1-FFEDE7A7CEAE}" type="pres">
      <dgm:prSet presAssocID="{7DD1BDB5-B2B0-4BE0-8A2C-DA40B328DAD1}" presName="compNode" presStyleCnt="0"/>
      <dgm:spPr/>
    </dgm:pt>
    <dgm:pt modelId="{69656AB1-8518-4850-AFB4-9AA2F95250A3}" type="pres">
      <dgm:prSet presAssocID="{7DD1BDB5-B2B0-4BE0-8A2C-DA40B328DAD1}" presName="dummyConnPt" presStyleCnt="0"/>
      <dgm:spPr/>
    </dgm:pt>
    <dgm:pt modelId="{74BC2963-B7FA-43C3-B6D5-B1AB93136B64}" type="pres">
      <dgm:prSet presAssocID="{7DD1BDB5-B2B0-4BE0-8A2C-DA40B328DAD1}" presName="node" presStyleLbl="node1" presStyleIdx="7" presStyleCnt="12">
        <dgm:presLayoutVars>
          <dgm:bulletEnabled val="1"/>
        </dgm:presLayoutVars>
      </dgm:prSet>
      <dgm:spPr/>
    </dgm:pt>
    <dgm:pt modelId="{44219DBE-12D5-4EC4-96B9-931CEA7B9446}" type="pres">
      <dgm:prSet presAssocID="{956F09EC-4C73-4E3F-88B6-B2AD8136C77D}" presName="sibTrans" presStyleLbl="bgSibTrans2D1" presStyleIdx="7" presStyleCnt="11"/>
      <dgm:spPr/>
    </dgm:pt>
    <dgm:pt modelId="{8CA34576-B982-4AFD-AF73-D4321B186708}" type="pres">
      <dgm:prSet presAssocID="{9460ECED-A340-475F-9D9C-8701D4BB917E}" presName="compNode" presStyleCnt="0"/>
      <dgm:spPr/>
    </dgm:pt>
    <dgm:pt modelId="{55EED7D1-1E0D-4BC7-AD3E-F62D1355CB31}" type="pres">
      <dgm:prSet presAssocID="{9460ECED-A340-475F-9D9C-8701D4BB917E}" presName="dummyConnPt" presStyleCnt="0"/>
      <dgm:spPr/>
    </dgm:pt>
    <dgm:pt modelId="{DF11795B-72BE-4C0B-90A2-782E29161B23}" type="pres">
      <dgm:prSet presAssocID="{9460ECED-A340-475F-9D9C-8701D4BB917E}" presName="node" presStyleLbl="node1" presStyleIdx="8" presStyleCnt="12">
        <dgm:presLayoutVars>
          <dgm:bulletEnabled val="1"/>
        </dgm:presLayoutVars>
      </dgm:prSet>
      <dgm:spPr/>
    </dgm:pt>
    <dgm:pt modelId="{7AAA45A3-0B03-4835-AB6D-EC2C330405B4}" type="pres">
      <dgm:prSet presAssocID="{41B43137-69E5-4051-BE3E-022659189EBD}" presName="sibTrans" presStyleLbl="bgSibTrans2D1" presStyleIdx="8" presStyleCnt="11"/>
      <dgm:spPr/>
    </dgm:pt>
    <dgm:pt modelId="{DA417B9D-8574-4888-9F16-E5415D0CFEC4}" type="pres">
      <dgm:prSet presAssocID="{8607FA3B-248D-4CDC-81E1-0F9C3EF330A0}" presName="compNode" presStyleCnt="0"/>
      <dgm:spPr/>
    </dgm:pt>
    <dgm:pt modelId="{D75E2B98-9283-4338-81E2-28A6490ABB87}" type="pres">
      <dgm:prSet presAssocID="{8607FA3B-248D-4CDC-81E1-0F9C3EF330A0}" presName="dummyConnPt" presStyleCnt="0"/>
      <dgm:spPr/>
    </dgm:pt>
    <dgm:pt modelId="{5633ACF9-9AD5-426F-80DE-1CBBBBF6D9DB}" type="pres">
      <dgm:prSet presAssocID="{8607FA3B-248D-4CDC-81E1-0F9C3EF330A0}" presName="node" presStyleLbl="node1" presStyleIdx="9" presStyleCnt="12" custLinFactNeighborX="659" custLinFactNeighborY="-323">
        <dgm:presLayoutVars>
          <dgm:bulletEnabled val="1"/>
        </dgm:presLayoutVars>
      </dgm:prSet>
      <dgm:spPr/>
    </dgm:pt>
    <dgm:pt modelId="{0AF8A915-D3B1-49B8-8101-70A87B361F55}" type="pres">
      <dgm:prSet presAssocID="{822A3295-8279-4442-AB68-FEA01176A666}" presName="sibTrans" presStyleLbl="bgSibTrans2D1" presStyleIdx="9" presStyleCnt="11"/>
      <dgm:spPr/>
    </dgm:pt>
    <dgm:pt modelId="{1BC92D5F-90D1-4EDA-92BD-E4AD203C63BC}" type="pres">
      <dgm:prSet presAssocID="{2CD977B8-635C-4C6C-B6DC-9A72953CA0C8}" presName="compNode" presStyleCnt="0"/>
      <dgm:spPr/>
    </dgm:pt>
    <dgm:pt modelId="{8A750ED3-CB73-4976-A160-95C5B91C1B24}" type="pres">
      <dgm:prSet presAssocID="{2CD977B8-635C-4C6C-B6DC-9A72953CA0C8}" presName="dummyConnPt" presStyleCnt="0"/>
      <dgm:spPr/>
    </dgm:pt>
    <dgm:pt modelId="{D53153EF-E877-420F-80CC-EB8F13D2742A}" type="pres">
      <dgm:prSet presAssocID="{2CD977B8-635C-4C6C-B6DC-9A72953CA0C8}" presName="node" presStyleLbl="node1" presStyleIdx="10" presStyleCnt="12">
        <dgm:presLayoutVars>
          <dgm:bulletEnabled val="1"/>
        </dgm:presLayoutVars>
      </dgm:prSet>
      <dgm:spPr/>
    </dgm:pt>
    <dgm:pt modelId="{0B234B90-0325-417B-8ED2-3265EFD53A7F}" type="pres">
      <dgm:prSet presAssocID="{6E1B58C3-D7FF-42D8-BCF5-95767AFBE604}" presName="sibTrans" presStyleLbl="bgSibTrans2D1" presStyleIdx="10" presStyleCnt="11"/>
      <dgm:spPr/>
    </dgm:pt>
    <dgm:pt modelId="{305484D1-54AB-4445-8B7A-DAA7847FA3A9}" type="pres">
      <dgm:prSet presAssocID="{BC385E7A-6FE1-4C68-998B-A731E28F508F}" presName="compNode" presStyleCnt="0"/>
      <dgm:spPr/>
    </dgm:pt>
    <dgm:pt modelId="{A11A5359-E81E-4FE5-B371-4C2C406E4661}" type="pres">
      <dgm:prSet presAssocID="{BC385E7A-6FE1-4C68-998B-A731E28F508F}" presName="dummyConnPt" presStyleCnt="0"/>
      <dgm:spPr/>
    </dgm:pt>
    <dgm:pt modelId="{A8D3B634-4E6D-41E1-8414-6D2D152F283C}" type="pres">
      <dgm:prSet presAssocID="{BC385E7A-6FE1-4C68-998B-A731E28F508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64B84008-D9CD-4652-BCF5-FEE6E21DFB92}" type="presOf" srcId="{C1741461-3621-488D-B395-5C804300F421}" destId="{4B45B782-4003-4C3A-8473-A49E890A8E9C}" srcOrd="0" destOrd="0" presId="urn:microsoft.com/office/officeart/2005/8/layout/bProcess4"/>
    <dgm:cxn modelId="{D275432B-23DD-4816-8714-97B45A4836EB}" type="presOf" srcId="{7DD1BDB5-B2B0-4BE0-8A2C-DA40B328DAD1}" destId="{74BC2963-B7FA-43C3-B6D5-B1AB93136B64}" srcOrd="0" destOrd="0" presId="urn:microsoft.com/office/officeart/2005/8/layout/bProcess4"/>
    <dgm:cxn modelId="{299EDF36-9C02-44EF-A786-CC0DF0E13842}" srcId="{BABC4602-F916-4561-94F0-1174EF718920}" destId="{302A1040-D4C4-4883-85A2-34D881AEDA09}" srcOrd="5" destOrd="0" parTransId="{C644D1D4-724E-4BB5-BCF5-8B60DB508AB5}" sibTransId="{728132BD-BBD8-4EAF-BE87-B650668EBA80}"/>
    <dgm:cxn modelId="{D927DB40-B0D6-4D96-8093-E6C5BD03B722}" type="presOf" srcId="{C77A0B72-BBC5-410C-A6D3-CF796114A480}" destId="{B65FCB62-98B4-4EC3-B0EA-1AB114DE640C}" srcOrd="0" destOrd="0" presId="urn:microsoft.com/office/officeart/2005/8/layout/bProcess4"/>
    <dgm:cxn modelId="{747A495E-592E-4A7A-BC15-7083995CD166}" type="presOf" srcId="{CBA39CA0-27DF-4267-82CE-6202AC19AA98}" destId="{295FCE7E-A9CC-49AD-979A-EAB0C8C8CA2C}" srcOrd="0" destOrd="0" presId="urn:microsoft.com/office/officeart/2005/8/layout/bProcess4"/>
    <dgm:cxn modelId="{BF541C41-5462-4B50-B2CE-E6FDB1E95F28}" type="presOf" srcId="{F6FB23E4-E5B6-425B-AABB-B4BF0829B412}" destId="{02E898E7-0A52-4039-B7FC-734AF75B816C}" srcOrd="0" destOrd="0" presId="urn:microsoft.com/office/officeart/2005/8/layout/bProcess4"/>
    <dgm:cxn modelId="{36F63461-E8D9-402C-ACDB-A4F1166817B8}" type="presOf" srcId="{BABC4602-F916-4561-94F0-1174EF718920}" destId="{C1F7FB1A-B8ED-4A4C-B5DA-551B3F94F3B4}" srcOrd="0" destOrd="0" presId="urn:microsoft.com/office/officeart/2005/8/layout/bProcess4"/>
    <dgm:cxn modelId="{BF20CF6A-1899-44AC-9B1D-FC95F6044A61}" srcId="{BABC4602-F916-4561-94F0-1174EF718920}" destId="{7DD1BDB5-B2B0-4BE0-8A2C-DA40B328DAD1}" srcOrd="7" destOrd="0" parTransId="{CE2D7EA2-79BB-4F2C-895E-EBF88A8D9AB4}" sibTransId="{956F09EC-4C73-4E3F-88B6-B2AD8136C77D}"/>
    <dgm:cxn modelId="{1835126E-F76D-4060-B312-E57CE5948AB8}" type="presOf" srcId="{822A3295-8279-4442-AB68-FEA01176A666}" destId="{0AF8A915-D3B1-49B8-8101-70A87B361F55}" srcOrd="0" destOrd="0" presId="urn:microsoft.com/office/officeart/2005/8/layout/bProcess4"/>
    <dgm:cxn modelId="{C8DF8E50-4872-461A-B925-97B7C7503566}" srcId="{BABC4602-F916-4561-94F0-1174EF718920}" destId="{CBA39CA0-27DF-4267-82CE-6202AC19AA98}" srcOrd="4" destOrd="0" parTransId="{F8A65408-7FD9-452D-9DE5-3CCAC0C6FAEA}" sibTransId="{F6FB23E4-E5B6-425B-AABB-B4BF0829B412}"/>
    <dgm:cxn modelId="{204BBE50-710F-4ADA-9A60-06685F02ACA6}" type="presOf" srcId="{6F73FBD5-8E5D-43A2-8F18-2CF31141E1E0}" destId="{9D0F871E-1C9D-4C5F-9538-C72BCEEB4FBA}" srcOrd="0" destOrd="0" presId="urn:microsoft.com/office/officeart/2005/8/layout/bProcess4"/>
    <dgm:cxn modelId="{F6055251-4E2D-48A0-877D-5B1DB14B2E97}" type="presOf" srcId="{9580B8B3-13AC-4C52-9055-F6E9EE539471}" destId="{A71C0391-88B8-490B-8E79-1CE05AF85AB3}" srcOrd="0" destOrd="0" presId="urn:microsoft.com/office/officeart/2005/8/layout/bProcess4"/>
    <dgm:cxn modelId="{15D3B551-BD31-4359-AEFF-E466B5D9FDF8}" type="presOf" srcId="{4105248A-EBAD-4626-A94E-C82BA2970CBD}" destId="{8D1B9DA0-9190-4227-9F39-43DFC509E4AF}" srcOrd="0" destOrd="0" presId="urn:microsoft.com/office/officeart/2005/8/layout/bProcess4"/>
    <dgm:cxn modelId="{C39DC071-057E-4892-9FB1-0FD2D1571463}" type="presOf" srcId="{5EDCAECE-8881-4EC4-93DA-FB6942309D62}" destId="{2F8D3363-B538-4349-AB5E-3BCBF7E318A3}" srcOrd="0" destOrd="0" presId="urn:microsoft.com/office/officeart/2005/8/layout/bProcess4"/>
    <dgm:cxn modelId="{FA2D9B7C-6638-44F8-BA57-6216F3FB39BF}" type="presOf" srcId="{A19B1A2E-66A5-48B7-80CD-7064159DA0D2}" destId="{1B703021-59E3-4419-9D61-2CEB5FE30219}" srcOrd="0" destOrd="0" presId="urn:microsoft.com/office/officeart/2005/8/layout/bProcess4"/>
    <dgm:cxn modelId="{55AE1881-5C8F-4E03-BAF9-B4C46DC2827D}" srcId="{BABC4602-F916-4561-94F0-1174EF718920}" destId="{8607FA3B-248D-4CDC-81E1-0F9C3EF330A0}" srcOrd="9" destOrd="0" parTransId="{398A9334-24BF-4182-ABB5-DC57A24EE7FE}" sibTransId="{822A3295-8279-4442-AB68-FEA01176A666}"/>
    <dgm:cxn modelId="{88FD3588-3BD7-481E-AB5A-2B5FAF1ADFD4}" srcId="{BABC4602-F916-4561-94F0-1174EF718920}" destId="{35997C89-6974-4F4D-B60D-B6EDCAA6B936}" srcOrd="2" destOrd="0" parTransId="{9628D424-AA2C-4EE1-9224-DEC7544911EB}" sibTransId="{C77A0B72-BBC5-410C-A6D3-CF796114A480}"/>
    <dgm:cxn modelId="{2CD8B798-9ED7-4250-BE09-404D4CD4F002}" type="presOf" srcId="{BC385E7A-6FE1-4C68-998B-A731E28F508F}" destId="{A8D3B634-4E6D-41E1-8414-6D2D152F283C}" srcOrd="0" destOrd="0" presId="urn:microsoft.com/office/officeart/2005/8/layout/bProcess4"/>
    <dgm:cxn modelId="{42981B9A-9F51-4732-8504-ADF4EBD12D47}" srcId="{BABC4602-F916-4561-94F0-1174EF718920}" destId="{83F8A6F4-A467-48CC-A7EE-B9BFB9B4FEA2}" srcOrd="6" destOrd="0" parTransId="{BD5818A0-FFD2-4573-97FB-DA9AB5A2F8B2}" sibTransId="{5EDCAECE-8881-4EC4-93DA-FB6942309D62}"/>
    <dgm:cxn modelId="{68A9569C-2981-4204-AF19-C42397C4C555}" srcId="{BABC4602-F916-4561-94F0-1174EF718920}" destId="{9460ECED-A340-475F-9D9C-8701D4BB917E}" srcOrd="8" destOrd="0" parTransId="{09048A71-82FD-4D39-A078-1656387DEBB8}" sibTransId="{41B43137-69E5-4051-BE3E-022659189EBD}"/>
    <dgm:cxn modelId="{AD490C9E-C1E6-47B0-A096-BE6206AB29D0}" srcId="{BABC4602-F916-4561-94F0-1174EF718920}" destId="{6F73FBD5-8E5D-43A2-8F18-2CF31141E1E0}" srcOrd="1" destOrd="0" parTransId="{05B5CF79-D05D-48BB-9398-ECA126501B08}" sibTransId="{4105248A-EBAD-4626-A94E-C82BA2970CBD}"/>
    <dgm:cxn modelId="{F87265A4-687B-4490-8DCD-64AA9F11077E}" type="presOf" srcId="{83F8A6F4-A467-48CC-A7EE-B9BFB9B4FEA2}" destId="{68E79E20-D653-4382-928B-8F309B969809}" srcOrd="0" destOrd="0" presId="urn:microsoft.com/office/officeart/2005/8/layout/bProcess4"/>
    <dgm:cxn modelId="{0B5619B2-B0F5-44B3-98BC-CDD42FF9B249}" srcId="{BABC4602-F916-4561-94F0-1174EF718920}" destId="{BC385E7A-6FE1-4C68-998B-A731E28F508F}" srcOrd="11" destOrd="0" parTransId="{88607576-D451-4544-A631-B3526A19275A}" sibTransId="{5FA961D1-7544-4BB5-BEB6-D8B5EDA4C8EF}"/>
    <dgm:cxn modelId="{EB8E3DB3-AC08-4A40-89E5-E5E2DB21973A}" type="presOf" srcId="{8607FA3B-248D-4CDC-81E1-0F9C3EF330A0}" destId="{5633ACF9-9AD5-426F-80DE-1CBBBBF6D9DB}" srcOrd="0" destOrd="0" presId="urn:microsoft.com/office/officeart/2005/8/layout/bProcess4"/>
    <dgm:cxn modelId="{CD979EB4-3C7C-497B-95E5-0968FA1E7039}" type="presOf" srcId="{728132BD-BBD8-4EAF-BE87-B650668EBA80}" destId="{D9050FAF-CC66-4A35-9F86-9E77A27FACAB}" srcOrd="0" destOrd="0" presId="urn:microsoft.com/office/officeart/2005/8/layout/bProcess4"/>
    <dgm:cxn modelId="{2A4AF7B4-54B2-4E5B-B03E-5A1571707A0F}" type="presOf" srcId="{6E1B58C3-D7FF-42D8-BCF5-95767AFBE604}" destId="{0B234B90-0325-417B-8ED2-3265EFD53A7F}" srcOrd="0" destOrd="0" presId="urn:microsoft.com/office/officeart/2005/8/layout/bProcess4"/>
    <dgm:cxn modelId="{1D6D88B8-11F9-4C9D-B5A6-D68FA5876C80}" type="presOf" srcId="{35997C89-6974-4F4D-B60D-B6EDCAA6B936}" destId="{CF353763-D98E-40AD-9C29-233E2890D36F}" srcOrd="0" destOrd="0" presId="urn:microsoft.com/office/officeart/2005/8/layout/bProcess4"/>
    <dgm:cxn modelId="{C9371EB9-0146-4BE4-9971-92E1017B7324}" type="presOf" srcId="{9460ECED-A340-475F-9D9C-8701D4BB917E}" destId="{DF11795B-72BE-4C0B-90A2-782E29161B23}" srcOrd="0" destOrd="0" presId="urn:microsoft.com/office/officeart/2005/8/layout/bProcess4"/>
    <dgm:cxn modelId="{EA58DDB9-8E10-4E4E-B069-D6D328674354}" type="presOf" srcId="{0C54568A-0EF5-43D2-936F-96F8C5DF093A}" destId="{312D0520-7E2C-4A1E-911E-6BF9A76473D4}" srcOrd="0" destOrd="0" presId="urn:microsoft.com/office/officeart/2005/8/layout/bProcess4"/>
    <dgm:cxn modelId="{EBBDDDCA-104F-4AAF-A266-119590B137FF}" srcId="{BABC4602-F916-4561-94F0-1174EF718920}" destId="{0C54568A-0EF5-43D2-936F-96F8C5DF093A}" srcOrd="3" destOrd="0" parTransId="{8B4B4AE9-99DC-4569-B684-8812A59E1F1C}" sibTransId="{9580B8B3-13AC-4C52-9055-F6E9EE539471}"/>
    <dgm:cxn modelId="{F869E8CE-FC63-44DE-8720-F86F243262A2}" type="presOf" srcId="{2CD977B8-635C-4C6C-B6DC-9A72953CA0C8}" destId="{D53153EF-E877-420F-80CC-EB8F13D2742A}" srcOrd="0" destOrd="0" presId="urn:microsoft.com/office/officeart/2005/8/layout/bProcess4"/>
    <dgm:cxn modelId="{C50795E3-3795-4AF5-80D1-298D9F1CCBF4}" type="presOf" srcId="{41B43137-69E5-4051-BE3E-022659189EBD}" destId="{7AAA45A3-0B03-4835-AB6D-EC2C330405B4}" srcOrd="0" destOrd="0" presId="urn:microsoft.com/office/officeart/2005/8/layout/bProcess4"/>
    <dgm:cxn modelId="{E90A42E6-89F5-4805-8359-AD5E0B01F34A}" srcId="{BABC4602-F916-4561-94F0-1174EF718920}" destId="{2CD977B8-635C-4C6C-B6DC-9A72953CA0C8}" srcOrd="10" destOrd="0" parTransId="{63483F62-7B1A-48C0-AD92-7021A9C4B7B8}" sibTransId="{6E1B58C3-D7FF-42D8-BCF5-95767AFBE604}"/>
    <dgm:cxn modelId="{080EE3E7-FD05-4BB9-9157-01FB8290EC14}" type="presOf" srcId="{302A1040-D4C4-4883-85A2-34D881AEDA09}" destId="{AF4BF84F-DF98-4328-9438-95B0CC1389B0}" srcOrd="0" destOrd="0" presId="urn:microsoft.com/office/officeart/2005/8/layout/bProcess4"/>
    <dgm:cxn modelId="{2FE68BE8-F3F2-48F3-AFDB-1DEFB03DAEDD}" type="presOf" srcId="{956F09EC-4C73-4E3F-88B6-B2AD8136C77D}" destId="{44219DBE-12D5-4EC4-96B9-931CEA7B9446}" srcOrd="0" destOrd="0" presId="urn:microsoft.com/office/officeart/2005/8/layout/bProcess4"/>
    <dgm:cxn modelId="{15BAB6F0-FEA8-4ABB-B147-ACDA636B65FF}" srcId="{BABC4602-F916-4561-94F0-1174EF718920}" destId="{A19B1A2E-66A5-48B7-80CD-7064159DA0D2}" srcOrd="0" destOrd="0" parTransId="{87B717E7-21D8-4669-8696-9E86DD0081CC}" sibTransId="{C1741461-3621-488D-B395-5C804300F421}"/>
    <dgm:cxn modelId="{DEF2D89C-AFBA-4FAB-97C9-728CEB335206}" type="presParOf" srcId="{C1F7FB1A-B8ED-4A4C-B5DA-551B3F94F3B4}" destId="{EC1CC78E-5FC1-4EB8-B014-6DA52407730F}" srcOrd="0" destOrd="0" presId="urn:microsoft.com/office/officeart/2005/8/layout/bProcess4"/>
    <dgm:cxn modelId="{6EA562FD-5D27-491D-AA85-4C2E147F2F5F}" type="presParOf" srcId="{EC1CC78E-5FC1-4EB8-B014-6DA52407730F}" destId="{7AAD8C81-9B39-4493-8779-6A015ADC0F21}" srcOrd="0" destOrd="0" presId="urn:microsoft.com/office/officeart/2005/8/layout/bProcess4"/>
    <dgm:cxn modelId="{B663BAD3-FC49-45F8-A626-DB91B1E87884}" type="presParOf" srcId="{EC1CC78E-5FC1-4EB8-B014-6DA52407730F}" destId="{1B703021-59E3-4419-9D61-2CEB5FE30219}" srcOrd="1" destOrd="0" presId="urn:microsoft.com/office/officeart/2005/8/layout/bProcess4"/>
    <dgm:cxn modelId="{71DC4984-4E1C-4DB9-B09D-9C8FA081849E}" type="presParOf" srcId="{C1F7FB1A-B8ED-4A4C-B5DA-551B3F94F3B4}" destId="{4B45B782-4003-4C3A-8473-A49E890A8E9C}" srcOrd="1" destOrd="0" presId="urn:microsoft.com/office/officeart/2005/8/layout/bProcess4"/>
    <dgm:cxn modelId="{9507C17C-FC0F-4D84-8F52-73BF7501B86C}" type="presParOf" srcId="{C1F7FB1A-B8ED-4A4C-B5DA-551B3F94F3B4}" destId="{FA194A72-11FA-4D1F-A75B-2486B1766877}" srcOrd="2" destOrd="0" presId="urn:microsoft.com/office/officeart/2005/8/layout/bProcess4"/>
    <dgm:cxn modelId="{E321F0D1-2D62-42B7-9A59-32948697936C}" type="presParOf" srcId="{FA194A72-11FA-4D1F-A75B-2486B1766877}" destId="{EAD0C792-951D-40C7-BE05-CB0C23904E43}" srcOrd="0" destOrd="0" presId="urn:microsoft.com/office/officeart/2005/8/layout/bProcess4"/>
    <dgm:cxn modelId="{217C8127-150C-44D3-8FB2-083C97988FA2}" type="presParOf" srcId="{FA194A72-11FA-4D1F-A75B-2486B1766877}" destId="{9D0F871E-1C9D-4C5F-9538-C72BCEEB4FBA}" srcOrd="1" destOrd="0" presId="urn:microsoft.com/office/officeart/2005/8/layout/bProcess4"/>
    <dgm:cxn modelId="{A054C30F-63B0-40D1-9125-5F67B8C00339}" type="presParOf" srcId="{C1F7FB1A-B8ED-4A4C-B5DA-551B3F94F3B4}" destId="{8D1B9DA0-9190-4227-9F39-43DFC509E4AF}" srcOrd="3" destOrd="0" presId="urn:microsoft.com/office/officeart/2005/8/layout/bProcess4"/>
    <dgm:cxn modelId="{40A996AB-6D7F-415A-8442-A2E60EEE94D8}" type="presParOf" srcId="{C1F7FB1A-B8ED-4A4C-B5DA-551B3F94F3B4}" destId="{5483D2F5-56BB-469E-8D66-F9632EB5094F}" srcOrd="4" destOrd="0" presId="urn:microsoft.com/office/officeart/2005/8/layout/bProcess4"/>
    <dgm:cxn modelId="{9C46A152-70F3-4879-A4F7-C39C3462B229}" type="presParOf" srcId="{5483D2F5-56BB-469E-8D66-F9632EB5094F}" destId="{8F3FB6BE-9ACE-4B04-8909-4334BAFC3C83}" srcOrd="0" destOrd="0" presId="urn:microsoft.com/office/officeart/2005/8/layout/bProcess4"/>
    <dgm:cxn modelId="{0D1A9148-4FA4-423C-9C1E-B65876EF9B77}" type="presParOf" srcId="{5483D2F5-56BB-469E-8D66-F9632EB5094F}" destId="{CF353763-D98E-40AD-9C29-233E2890D36F}" srcOrd="1" destOrd="0" presId="urn:microsoft.com/office/officeart/2005/8/layout/bProcess4"/>
    <dgm:cxn modelId="{7304A7E2-9BE5-4658-A6C7-FACDA48C6ADF}" type="presParOf" srcId="{C1F7FB1A-B8ED-4A4C-B5DA-551B3F94F3B4}" destId="{B65FCB62-98B4-4EC3-B0EA-1AB114DE640C}" srcOrd="5" destOrd="0" presId="urn:microsoft.com/office/officeart/2005/8/layout/bProcess4"/>
    <dgm:cxn modelId="{BE2B2C5A-74D6-42BD-8ABA-5347C4BD620F}" type="presParOf" srcId="{C1F7FB1A-B8ED-4A4C-B5DA-551B3F94F3B4}" destId="{5B55F879-CDDF-4C52-A3A0-F07F3F56A696}" srcOrd="6" destOrd="0" presId="urn:microsoft.com/office/officeart/2005/8/layout/bProcess4"/>
    <dgm:cxn modelId="{15BB8734-63B6-484A-8C0A-14556CB78445}" type="presParOf" srcId="{5B55F879-CDDF-4C52-A3A0-F07F3F56A696}" destId="{28A221AD-387A-4085-A9A1-5BF00751743F}" srcOrd="0" destOrd="0" presId="urn:microsoft.com/office/officeart/2005/8/layout/bProcess4"/>
    <dgm:cxn modelId="{DF221C79-FDE0-4ACB-AEC4-47DDC3C5D2EE}" type="presParOf" srcId="{5B55F879-CDDF-4C52-A3A0-F07F3F56A696}" destId="{312D0520-7E2C-4A1E-911E-6BF9A76473D4}" srcOrd="1" destOrd="0" presId="urn:microsoft.com/office/officeart/2005/8/layout/bProcess4"/>
    <dgm:cxn modelId="{5C9D3B0D-677D-4624-8725-AD0CA13D2D4B}" type="presParOf" srcId="{C1F7FB1A-B8ED-4A4C-B5DA-551B3F94F3B4}" destId="{A71C0391-88B8-490B-8E79-1CE05AF85AB3}" srcOrd="7" destOrd="0" presId="urn:microsoft.com/office/officeart/2005/8/layout/bProcess4"/>
    <dgm:cxn modelId="{D5F14FB2-07B6-4B31-8670-FF3871719140}" type="presParOf" srcId="{C1F7FB1A-B8ED-4A4C-B5DA-551B3F94F3B4}" destId="{C901D6ED-A9B1-4C0C-8C77-FE2FF5BCF9FC}" srcOrd="8" destOrd="0" presId="urn:microsoft.com/office/officeart/2005/8/layout/bProcess4"/>
    <dgm:cxn modelId="{7609DE98-7CD2-43CB-BA76-28CEA24310C8}" type="presParOf" srcId="{C901D6ED-A9B1-4C0C-8C77-FE2FF5BCF9FC}" destId="{DCBC26D1-EE79-446B-AB6C-9FC2CEC4E41F}" srcOrd="0" destOrd="0" presId="urn:microsoft.com/office/officeart/2005/8/layout/bProcess4"/>
    <dgm:cxn modelId="{F33FB1A3-A9AF-4A7A-8680-F6FBB59348F7}" type="presParOf" srcId="{C901D6ED-A9B1-4C0C-8C77-FE2FF5BCF9FC}" destId="{295FCE7E-A9CC-49AD-979A-EAB0C8C8CA2C}" srcOrd="1" destOrd="0" presId="urn:microsoft.com/office/officeart/2005/8/layout/bProcess4"/>
    <dgm:cxn modelId="{0CC8065D-A5FF-4F79-A8D3-9086B95E3DE5}" type="presParOf" srcId="{C1F7FB1A-B8ED-4A4C-B5DA-551B3F94F3B4}" destId="{02E898E7-0A52-4039-B7FC-734AF75B816C}" srcOrd="9" destOrd="0" presId="urn:microsoft.com/office/officeart/2005/8/layout/bProcess4"/>
    <dgm:cxn modelId="{45F38D0D-E854-4E08-BAB2-F57BF1E1F09C}" type="presParOf" srcId="{C1F7FB1A-B8ED-4A4C-B5DA-551B3F94F3B4}" destId="{99586B51-E51D-4E55-BDB8-ABE275215177}" srcOrd="10" destOrd="0" presId="urn:microsoft.com/office/officeart/2005/8/layout/bProcess4"/>
    <dgm:cxn modelId="{7FE67ED1-E942-43A2-B130-4504E94353EC}" type="presParOf" srcId="{99586B51-E51D-4E55-BDB8-ABE275215177}" destId="{7A13E61D-67C7-4BFA-B0AA-A7C70D5E1161}" srcOrd="0" destOrd="0" presId="urn:microsoft.com/office/officeart/2005/8/layout/bProcess4"/>
    <dgm:cxn modelId="{C92B46ED-B745-4013-9D1D-35C8302F682D}" type="presParOf" srcId="{99586B51-E51D-4E55-BDB8-ABE275215177}" destId="{AF4BF84F-DF98-4328-9438-95B0CC1389B0}" srcOrd="1" destOrd="0" presId="urn:microsoft.com/office/officeart/2005/8/layout/bProcess4"/>
    <dgm:cxn modelId="{52E08199-84A3-41BD-9034-234EF2B95C5E}" type="presParOf" srcId="{C1F7FB1A-B8ED-4A4C-B5DA-551B3F94F3B4}" destId="{D9050FAF-CC66-4A35-9F86-9E77A27FACAB}" srcOrd="11" destOrd="0" presId="urn:microsoft.com/office/officeart/2005/8/layout/bProcess4"/>
    <dgm:cxn modelId="{3A640B6A-AA22-4389-AD48-B32E3567C078}" type="presParOf" srcId="{C1F7FB1A-B8ED-4A4C-B5DA-551B3F94F3B4}" destId="{E1CBECAC-A46E-47B4-948A-DF1402ECBCE4}" srcOrd="12" destOrd="0" presId="urn:microsoft.com/office/officeart/2005/8/layout/bProcess4"/>
    <dgm:cxn modelId="{082B6769-542D-4FAB-9A41-56B238B50FFB}" type="presParOf" srcId="{E1CBECAC-A46E-47B4-948A-DF1402ECBCE4}" destId="{64549F5E-43E8-4F41-A55E-97A81AA65DAD}" srcOrd="0" destOrd="0" presId="urn:microsoft.com/office/officeart/2005/8/layout/bProcess4"/>
    <dgm:cxn modelId="{583DB640-51C5-4E39-BBF5-9EB5896E369E}" type="presParOf" srcId="{E1CBECAC-A46E-47B4-948A-DF1402ECBCE4}" destId="{68E79E20-D653-4382-928B-8F309B969809}" srcOrd="1" destOrd="0" presId="urn:microsoft.com/office/officeart/2005/8/layout/bProcess4"/>
    <dgm:cxn modelId="{DDD7B0E5-24DC-451D-92C0-CED057308A32}" type="presParOf" srcId="{C1F7FB1A-B8ED-4A4C-B5DA-551B3F94F3B4}" destId="{2F8D3363-B538-4349-AB5E-3BCBF7E318A3}" srcOrd="13" destOrd="0" presId="urn:microsoft.com/office/officeart/2005/8/layout/bProcess4"/>
    <dgm:cxn modelId="{749CA589-47E4-4C2E-BE79-DE5C44B40FE1}" type="presParOf" srcId="{C1F7FB1A-B8ED-4A4C-B5DA-551B3F94F3B4}" destId="{335F1008-D6C4-45D4-94B1-FFEDE7A7CEAE}" srcOrd="14" destOrd="0" presId="urn:microsoft.com/office/officeart/2005/8/layout/bProcess4"/>
    <dgm:cxn modelId="{52580053-22F0-4AC3-A6DA-EF84C984D49F}" type="presParOf" srcId="{335F1008-D6C4-45D4-94B1-FFEDE7A7CEAE}" destId="{69656AB1-8518-4850-AFB4-9AA2F95250A3}" srcOrd="0" destOrd="0" presId="urn:microsoft.com/office/officeart/2005/8/layout/bProcess4"/>
    <dgm:cxn modelId="{376ED456-5AEA-430A-BA08-8221BEF041B2}" type="presParOf" srcId="{335F1008-D6C4-45D4-94B1-FFEDE7A7CEAE}" destId="{74BC2963-B7FA-43C3-B6D5-B1AB93136B64}" srcOrd="1" destOrd="0" presId="urn:microsoft.com/office/officeart/2005/8/layout/bProcess4"/>
    <dgm:cxn modelId="{0583B649-1028-449F-A6D1-E4A54F7F3D7C}" type="presParOf" srcId="{C1F7FB1A-B8ED-4A4C-B5DA-551B3F94F3B4}" destId="{44219DBE-12D5-4EC4-96B9-931CEA7B9446}" srcOrd="15" destOrd="0" presId="urn:microsoft.com/office/officeart/2005/8/layout/bProcess4"/>
    <dgm:cxn modelId="{6BB1C29E-187C-4F50-866F-E72CC0CCE2CA}" type="presParOf" srcId="{C1F7FB1A-B8ED-4A4C-B5DA-551B3F94F3B4}" destId="{8CA34576-B982-4AFD-AF73-D4321B186708}" srcOrd="16" destOrd="0" presId="urn:microsoft.com/office/officeart/2005/8/layout/bProcess4"/>
    <dgm:cxn modelId="{FE2F2174-000C-4BE4-8369-DAC90F006289}" type="presParOf" srcId="{8CA34576-B982-4AFD-AF73-D4321B186708}" destId="{55EED7D1-1E0D-4BC7-AD3E-F62D1355CB31}" srcOrd="0" destOrd="0" presId="urn:microsoft.com/office/officeart/2005/8/layout/bProcess4"/>
    <dgm:cxn modelId="{5CA263FC-4243-469F-919A-9F9825679FB1}" type="presParOf" srcId="{8CA34576-B982-4AFD-AF73-D4321B186708}" destId="{DF11795B-72BE-4C0B-90A2-782E29161B23}" srcOrd="1" destOrd="0" presId="urn:microsoft.com/office/officeart/2005/8/layout/bProcess4"/>
    <dgm:cxn modelId="{FDE8C974-47A4-4507-89C5-50992653B675}" type="presParOf" srcId="{C1F7FB1A-B8ED-4A4C-B5DA-551B3F94F3B4}" destId="{7AAA45A3-0B03-4835-AB6D-EC2C330405B4}" srcOrd="17" destOrd="0" presId="urn:microsoft.com/office/officeart/2005/8/layout/bProcess4"/>
    <dgm:cxn modelId="{1EFC17B9-76C1-4DB2-A914-3022B258C988}" type="presParOf" srcId="{C1F7FB1A-B8ED-4A4C-B5DA-551B3F94F3B4}" destId="{DA417B9D-8574-4888-9F16-E5415D0CFEC4}" srcOrd="18" destOrd="0" presId="urn:microsoft.com/office/officeart/2005/8/layout/bProcess4"/>
    <dgm:cxn modelId="{C1147A3B-59E5-4903-853D-C9AE42BD0C71}" type="presParOf" srcId="{DA417B9D-8574-4888-9F16-E5415D0CFEC4}" destId="{D75E2B98-9283-4338-81E2-28A6490ABB87}" srcOrd="0" destOrd="0" presId="urn:microsoft.com/office/officeart/2005/8/layout/bProcess4"/>
    <dgm:cxn modelId="{88FDB7A2-88F5-4524-A38A-7C092AE6D58C}" type="presParOf" srcId="{DA417B9D-8574-4888-9F16-E5415D0CFEC4}" destId="{5633ACF9-9AD5-426F-80DE-1CBBBBF6D9DB}" srcOrd="1" destOrd="0" presId="urn:microsoft.com/office/officeart/2005/8/layout/bProcess4"/>
    <dgm:cxn modelId="{1E04A69F-8DEA-4ECF-979D-F7D3AFAC1C59}" type="presParOf" srcId="{C1F7FB1A-B8ED-4A4C-B5DA-551B3F94F3B4}" destId="{0AF8A915-D3B1-49B8-8101-70A87B361F55}" srcOrd="19" destOrd="0" presId="urn:microsoft.com/office/officeart/2005/8/layout/bProcess4"/>
    <dgm:cxn modelId="{64743401-9FD8-4D0C-999A-D992E6E25DE7}" type="presParOf" srcId="{C1F7FB1A-B8ED-4A4C-B5DA-551B3F94F3B4}" destId="{1BC92D5F-90D1-4EDA-92BD-E4AD203C63BC}" srcOrd="20" destOrd="0" presId="urn:microsoft.com/office/officeart/2005/8/layout/bProcess4"/>
    <dgm:cxn modelId="{041686E6-B007-4F4A-9306-23ED9CBE787A}" type="presParOf" srcId="{1BC92D5F-90D1-4EDA-92BD-E4AD203C63BC}" destId="{8A750ED3-CB73-4976-A160-95C5B91C1B24}" srcOrd="0" destOrd="0" presId="urn:microsoft.com/office/officeart/2005/8/layout/bProcess4"/>
    <dgm:cxn modelId="{AF4EADF4-E575-474B-9EA2-99112FBDAFDA}" type="presParOf" srcId="{1BC92D5F-90D1-4EDA-92BD-E4AD203C63BC}" destId="{D53153EF-E877-420F-80CC-EB8F13D2742A}" srcOrd="1" destOrd="0" presId="urn:microsoft.com/office/officeart/2005/8/layout/bProcess4"/>
    <dgm:cxn modelId="{58360739-916F-4D16-9BEA-6FA3B80523AE}" type="presParOf" srcId="{C1F7FB1A-B8ED-4A4C-B5DA-551B3F94F3B4}" destId="{0B234B90-0325-417B-8ED2-3265EFD53A7F}" srcOrd="21" destOrd="0" presId="urn:microsoft.com/office/officeart/2005/8/layout/bProcess4"/>
    <dgm:cxn modelId="{6AAD12E7-132F-41C3-B4D8-F9E01E57CC6B}" type="presParOf" srcId="{C1F7FB1A-B8ED-4A4C-B5DA-551B3F94F3B4}" destId="{305484D1-54AB-4445-8B7A-DAA7847FA3A9}" srcOrd="22" destOrd="0" presId="urn:microsoft.com/office/officeart/2005/8/layout/bProcess4"/>
    <dgm:cxn modelId="{3CDEC336-2ACB-4610-A1C0-06B06639E45F}" type="presParOf" srcId="{305484D1-54AB-4445-8B7A-DAA7847FA3A9}" destId="{A11A5359-E81E-4FE5-B371-4C2C406E4661}" srcOrd="0" destOrd="0" presId="urn:microsoft.com/office/officeart/2005/8/layout/bProcess4"/>
    <dgm:cxn modelId="{D21B88A0-877E-4824-9B8F-DF5E0C9FEC9A}" type="presParOf" srcId="{305484D1-54AB-4445-8B7A-DAA7847FA3A9}" destId="{A8D3B634-4E6D-41E1-8414-6D2D152F283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5B782-4003-4C3A-8473-A49E890A8E9C}">
      <dsp:nvSpPr>
        <dsp:cNvPr id="0" name=""/>
        <dsp:cNvSpPr/>
      </dsp:nvSpPr>
      <dsp:spPr>
        <a:xfrm rot="5400000">
          <a:off x="1985337" y="1005399"/>
          <a:ext cx="1570108" cy="189146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703021-59E3-4419-9D61-2CEB5FE30219}">
      <dsp:nvSpPr>
        <dsp:cNvPr id="0" name=""/>
        <dsp:cNvSpPr/>
      </dsp:nvSpPr>
      <dsp:spPr>
        <a:xfrm>
          <a:off x="2347013" y="4074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MISSION</a:t>
          </a:r>
          <a:endParaRPr lang="fr-FR" sz="1400" b="1" kern="1200" dirty="0">
            <a:solidFill>
              <a:schemeClr val="lt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83946" y="41007"/>
        <a:ext cx="2027756" cy="1187107"/>
      </dsp:txXfrm>
    </dsp:sp>
    <dsp:sp modelId="{8D1B9DA0-9190-4227-9F39-43DFC509E4AF}">
      <dsp:nvSpPr>
        <dsp:cNvPr id="0" name=""/>
        <dsp:cNvSpPr/>
      </dsp:nvSpPr>
      <dsp:spPr>
        <a:xfrm rot="5400000">
          <a:off x="1985337" y="2581615"/>
          <a:ext cx="1570108" cy="189146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0F871E-1C9D-4C5F-9538-C72BCEEB4FBA}">
      <dsp:nvSpPr>
        <dsp:cNvPr id="0" name=""/>
        <dsp:cNvSpPr/>
      </dsp:nvSpPr>
      <dsp:spPr>
        <a:xfrm>
          <a:off x="2347013" y="1580290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SYSTEM</a:t>
          </a:r>
          <a:endParaRPr lang="fr-FR" sz="1400" kern="1200" dirty="0">
            <a:solidFill>
              <a:schemeClr val="lt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83946" y="1617223"/>
        <a:ext cx="2027756" cy="1187107"/>
      </dsp:txXfrm>
    </dsp:sp>
    <dsp:sp modelId="{B65FCB62-98B4-4EC3-B0EA-1AB114DE640C}">
      <dsp:nvSpPr>
        <dsp:cNvPr id="0" name=""/>
        <dsp:cNvSpPr/>
      </dsp:nvSpPr>
      <dsp:spPr>
        <a:xfrm rot="5400000">
          <a:off x="1985337" y="4157832"/>
          <a:ext cx="1570108" cy="189146"/>
        </a:xfrm>
        <a:prstGeom prst="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353763-D98E-40AD-9C29-233E2890D36F}">
      <dsp:nvSpPr>
        <dsp:cNvPr id="0" name=""/>
        <dsp:cNvSpPr/>
      </dsp:nvSpPr>
      <dsp:spPr>
        <a:xfrm>
          <a:off x="2347013" y="3156507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STATIONS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83946" y="3193440"/>
        <a:ext cx="2027756" cy="1187107"/>
      </dsp:txXfrm>
    </dsp:sp>
    <dsp:sp modelId="{A71C0391-88B8-490B-8E79-1CE05AF85AB3}">
      <dsp:nvSpPr>
        <dsp:cNvPr id="0" name=""/>
        <dsp:cNvSpPr/>
      </dsp:nvSpPr>
      <dsp:spPr>
        <a:xfrm>
          <a:off x="2773446" y="4945940"/>
          <a:ext cx="2789049" cy="189146"/>
        </a:xfrm>
        <a:prstGeom prst="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2D0520-7E2C-4A1E-911E-6BF9A76473D4}">
      <dsp:nvSpPr>
        <dsp:cNvPr id="0" name=""/>
        <dsp:cNvSpPr/>
      </dsp:nvSpPr>
      <dsp:spPr>
        <a:xfrm>
          <a:off x="2347013" y="4732724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MULTIPHYSICS MODELS,EQUATIONS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83946" y="4769657"/>
        <a:ext cx="2027756" cy="1187107"/>
      </dsp:txXfrm>
    </dsp:sp>
    <dsp:sp modelId="{02E898E7-0A52-4039-B7FC-734AF75B816C}">
      <dsp:nvSpPr>
        <dsp:cNvPr id="0" name=""/>
        <dsp:cNvSpPr/>
      </dsp:nvSpPr>
      <dsp:spPr>
        <a:xfrm rot="16200000">
          <a:off x="4780495" y="4157832"/>
          <a:ext cx="1570108" cy="189146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5FCE7E-A9CC-49AD-979A-EAB0C8C8CA2C}">
      <dsp:nvSpPr>
        <dsp:cNvPr id="0" name=""/>
        <dsp:cNvSpPr/>
      </dsp:nvSpPr>
      <dsp:spPr>
        <a:xfrm>
          <a:off x="5142170" y="4732724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accent1">
                  <a:lumMod val="50000"/>
                </a:schemeClr>
              </a:solidFill>
            </a:rPr>
            <a:t>SPATIAL &amp; COUPLING ANALYSIS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79103" y="4769657"/>
        <a:ext cx="2027756" cy="1187107"/>
      </dsp:txXfrm>
    </dsp:sp>
    <dsp:sp modelId="{D9050FAF-CC66-4A35-9F86-9E77A27FACAB}">
      <dsp:nvSpPr>
        <dsp:cNvPr id="0" name=""/>
        <dsp:cNvSpPr/>
      </dsp:nvSpPr>
      <dsp:spPr>
        <a:xfrm rot="16200000">
          <a:off x="4780495" y="2581615"/>
          <a:ext cx="1570108" cy="189146"/>
        </a:xfrm>
        <a:prstGeom prst="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4BF84F-DF98-4328-9438-95B0CC1389B0}">
      <dsp:nvSpPr>
        <dsp:cNvPr id="0" name=""/>
        <dsp:cNvSpPr/>
      </dsp:nvSpPr>
      <dsp:spPr>
        <a:xfrm>
          <a:off x="5142170" y="3156507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REAL-TIME EXPERIMENT ON THE ALIX LINE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79103" y="3193440"/>
        <a:ext cx="2027756" cy="1187107"/>
      </dsp:txXfrm>
    </dsp:sp>
    <dsp:sp modelId="{2F8D3363-B538-4349-AB5E-3BCBF7E318A3}">
      <dsp:nvSpPr>
        <dsp:cNvPr id="0" name=""/>
        <dsp:cNvSpPr/>
      </dsp:nvSpPr>
      <dsp:spPr>
        <a:xfrm rot="16200000">
          <a:off x="4780495" y="1005399"/>
          <a:ext cx="1570108" cy="189146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E79E20-D653-4382-928B-8F309B969809}">
      <dsp:nvSpPr>
        <dsp:cNvPr id="0" name=""/>
        <dsp:cNvSpPr/>
      </dsp:nvSpPr>
      <dsp:spPr>
        <a:xfrm>
          <a:off x="5142170" y="1580290"/>
          <a:ext cx="2101622" cy="1260973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PER-SUBSYSTEM VALIDATION RESULTS AND TWO STAGE VALIDATION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79103" y="1617223"/>
        <a:ext cx="2027756" cy="1187107"/>
      </dsp:txXfrm>
    </dsp:sp>
    <dsp:sp modelId="{44219DBE-12D5-4EC4-96B9-931CEA7B9446}">
      <dsp:nvSpPr>
        <dsp:cNvPr id="0" name=""/>
        <dsp:cNvSpPr/>
      </dsp:nvSpPr>
      <dsp:spPr>
        <a:xfrm>
          <a:off x="5568603" y="217290"/>
          <a:ext cx="2789049" cy="189146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BC2963-B7FA-43C3-B6D5-B1AB93136B64}">
      <dsp:nvSpPr>
        <dsp:cNvPr id="0" name=""/>
        <dsp:cNvSpPr/>
      </dsp:nvSpPr>
      <dsp:spPr>
        <a:xfrm>
          <a:off x="5142170" y="4074"/>
          <a:ext cx="2101622" cy="126097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HEADLINE-PERFORMANCE METRICS</a:t>
          </a:r>
          <a:endParaRPr lang="fr-FR" sz="14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79103" y="41007"/>
        <a:ext cx="2027756" cy="1187107"/>
      </dsp:txXfrm>
    </dsp:sp>
    <dsp:sp modelId="{7AAA45A3-0B03-4835-AB6D-EC2C330405B4}">
      <dsp:nvSpPr>
        <dsp:cNvPr id="0" name=""/>
        <dsp:cNvSpPr/>
      </dsp:nvSpPr>
      <dsp:spPr>
        <a:xfrm rot="5376348">
          <a:off x="7581541" y="1004889"/>
          <a:ext cx="1569126" cy="189146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11795B-72BE-4C0B-90A2-782E29161B23}">
      <dsp:nvSpPr>
        <dsp:cNvPr id="0" name=""/>
        <dsp:cNvSpPr/>
      </dsp:nvSpPr>
      <dsp:spPr>
        <a:xfrm>
          <a:off x="7937328" y="4074"/>
          <a:ext cx="2101622" cy="126097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accent1">
                  <a:lumMod val="50000"/>
                </a:schemeClr>
              </a:solidFill>
            </a:rPr>
            <a:t>ENERGY ANALYSIS</a:t>
          </a:r>
          <a:endParaRPr lang="fr-FR" sz="16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974261" y="41007"/>
        <a:ext cx="2027756" cy="1187107"/>
      </dsp:txXfrm>
    </dsp:sp>
    <dsp:sp modelId="{0AF8A915-D3B1-49B8-8101-70A87B361F55}">
      <dsp:nvSpPr>
        <dsp:cNvPr id="0" name=""/>
        <dsp:cNvSpPr/>
      </dsp:nvSpPr>
      <dsp:spPr>
        <a:xfrm rot="5430245">
          <a:off x="7580510" y="2579579"/>
          <a:ext cx="1574242" cy="189146"/>
        </a:xfrm>
        <a:prstGeom prst="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33ACF9-9AD5-426F-80DE-1CBBBBF6D9DB}">
      <dsp:nvSpPr>
        <dsp:cNvPr id="0" name=""/>
        <dsp:cNvSpPr/>
      </dsp:nvSpPr>
      <dsp:spPr>
        <a:xfrm>
          <a:off x="7951178" y="1576217"/>
          <a:ext cx="2101622" cy="1260973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MODEL CALLIBRATION</a:t>
          </a:r>
          <a:endParaRPr lang="fr-FR" sz="14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988111" y="1613150"/>
        <a:ext cx="2027756" cy="1187107"/>
      </dsp:txXfrm>
    </dsp:sp>
    <dsp:sp modelId="{0B234B90-0325-417B-8ED2-3265EFD53A7F}">
      <dsp:nvSpPr>
        <dsp:cNvPr id="0" name=""/>
        <dsp:cNvSpPr/>
      </dsp:nvSpPr>
      <dsp:spPr>
        <a:xfrm rot="5400000">
          <a:off x="7575653" y="4157832"/>
          <a:ext cx="1570108" cy="189146"/>
        </a:xfrm>
        <a:prstGeom prst="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3153EF-E877-420F-80CC-EB8F13D2742A}">
      <dsp:nvSpPr>
        <dsp:cNvPr id="0" name=""/>
        <dsp:cNvSpPr/>
      </dsp:nvSpPr>
      <dsp:spPr>
        <a:xfrm>
          <a:off x="7937328" y="3156507"/>
          <a:ext cx="2101622" cy="1260973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DELIVERABLES</a:t>
          </a:r>
          <a:endParaRPr lang="fr-FR" sz="14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974261" y="3193440"/>
        <a:ext cx="2027756" cy="1187107"/>
      </dsp:txXfrm>
    </dsp:sp>
    <dsp:sp modelId="{A8D3B634-4E6D-41E1-8414-6D2D152F283C}">
      <dsp:nvSpPr>
        <dsp:cNvPr id="0" name=""/>
        <dsp:cNvSpPr/>
      </dsp:nvSpPr>
      <dsp:spPr>
        <a:xfrm>
          <a:off x="7937328" y="4732724"/>
          <a:ext cx="2101622" cy="1260973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CONCLUSION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974261" y="4769657"/>
        <a:ext cx="2027756" cy="1187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4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8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7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16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00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26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46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A383-F942-FB02-8F75-7E7163F2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BE264-C796-2B31-9B31-C98CD8073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F9D51-C243-2AD1-A6F6-C0E4D86C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64317-FE55-5029-6C0B-9F677DA93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10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81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71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4878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83240" y="67715"/>
            <a:ext cx="7712542" cy="9784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974" y="190644"/>
            <a:ext cx="6805533" cy="7071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78662" y="34896"/>
            <a:ext cx="1613337" cy="102470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851" y="67715"/>
            <a:ext cx="1063873" cy="9918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417320"/>
            <a:ext cx="4892040" cy="4047728"/>
          </a:xfrm>
          <a:prstGeom prst="roundRect">
            <a:avLst>
              <a:gd name="adj" fmla="val 5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1526623"/>
            <a:ext cx="4617720" cy="3389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68312" y="4989560"/>
            <a:ext cx="4617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The ALIX line — ERMASMART (ERM </a:t>
            </a:r>
            <a:r>
              <a:rPr sz="1200" b="0" i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Automatismes</a:t>
            </a:r>
            <a:r>
              <a:rPr sz="1200" b="0" i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) · CR5 </a:t>
            </a:r>
            <a:r>
              <a:rPr sz="1200" b="0" i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cobot</a:t>
            </a:r>
            <a:r>
              <a:rPr sz="1200" b="0" i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 under 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862" y="17595"/>
            <a:ext cx="1905001" cy="102470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461" y="118872"/>
            <a:ext cx="1765099" cy="832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1389888"/>
            <a:ext cx="5989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06A1E"/>
                </a:solidFill>
                <a:highlight>
                  <a:srgbClr val="C0C0C0"/>
                </a:highlight>
                <a:latin typeface="Trebuchet MS"/>
              </a:rPr>
              <a:t>INTERNSHIP  ·  EULER LABORATORY  ·  ISAE-SUPMÉCA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952459"/>
            <a:ext cx="6473952" cy="138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Trebuchet MS"/>
              </a:rPr>
              <a:t>Mechatronics Modelling</a:t>
            </a:r>
          </a:p>
          <a:p>
            <a:pPr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Trebuchet MS"/>
              </a:rPr>
              <a:t>of an Entire </a:t>
            </a:r>
            <a:r>
              <a:rPr sz="3000" b="1" i="0" dirty="0">
                <a:solidFill>
                  <a:srgbClr val="FFC000"/>
                </a:solidFill>
                <a:highlight>
                  <a:srgbClr val="C0C0C0"/>
                </a:highlight>
                <a:latin typeface="Trebuchet MS"/>
              </a:rPr>
              <a:t>Industry 5.0</a:t>
            </a:r>
          </a:p>
          <a:p>
            <a:pPr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Trebuchet MS"/>
              </a:rPr>
              <a:t>Production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429000"/>
            <a:ext cx="5989320" cy="328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Ms. Samiksha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Satre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Duration: 4 Months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Supervisor: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Mr.Romain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Delabeye</a:t>
            </a:r>
            <a:endParaRPr lang="en-US" b="1" dirty="0"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Co-supervisor: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Dr.Shriniwas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Metan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Period: February 2026 To June 2026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Location: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Isae-supméca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Aptos Display" panose="020B0004020202020204" pitchFamily="34" charset="0"/>
                <a:cs typeface="Times New Roman" panose="02020603050405020304" pitchFamily="18" charset="0"/>
              </a:rPr>
              <a:t> Paris, France</a:t>
            </a:r>
            <a:endParaRPr lang="fr-FR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Aptos Display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Aptos Display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5477" y="5996781"/>
            <a:ext cx="5989320" cy="601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Electronics &amp; Telecommunication Engineering</a:t>
            </a:r>
            <a:r>
              <a:rPr lang="fr-FR" sz="1600" b="1" i="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 </a:t>
            </a:r>
            <a:r>
              <a:rPr lang="fr-FR" sz="1600" b="1" i="0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department</a:t>
            </a:r>
            <a:endParaRPr sz="1600" b="1" i="0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"/>
              </a:rPr>
              <a:t>N. K. Orchid College of Engineering &amp; Technology, Solapur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073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AGENDA</a:t>
            </a:r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Euler Laboratory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5B37A21A-FFDE-CAFA-6E1C-97C7E09B3308}"/>
              </a:ext>
            </a:extLst>
          </p:cNvPr>
          <p:cNvSpPr/>
          <p:nvPr/>
        </p:nvSpPr>
        <p:spPr>
          <a:xfrm flipV="1">
            <a:off x="0" y="723069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graphicFrame>
        <p:nvGraphicFramePr>
          <p:cNvPr id="32" name="Diagramme 31">
            <a:extLst>
              <a:ext uri="{FF2B5EF4-FFF2-40B4-BE49-F238E27FC236}">
                <a16:creationId xmlns:a16="http://schemas.microsoft.com/office/drawing/2014/main" id="{E3CB49C6-A514-DC41-5BDC-FB84411FB1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055518"/>
              </p:ext>
            </p:extLst>
          </p:nvPr>
        </p:nvGraphicFramePr>
        <p:xfrm>
          <a:off x="722776" y="598771"/>
          <a:ext cx="12385964" cy="5997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7151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Calibri (Corps)"/>
                <a:ea typeface="Trebuchet MS" pitchFamily="34" charset="-122"/>
                <a:cs typeface="Trebuchet MS" pitchFamily="34" charset="-120"/>
              </a:rPr>
              <a:t>From physical line to digital twin</a:t>
            </a:r>
            <a:endParaRPr lang="en-US" sz="2000" dirty="0">
              <a:latin typeface="Calibri (Corps)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9824" y="1463040"/>
            <a:ext cx="65806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process, mechatronic and multiphysics model of an entire Industry 5.0 production line.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384048" cy="384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30449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line architecture &amp; mechatronic subsystems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5568" y="359359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subsystem in Modelica (mech · electrical · thermal)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4160520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5568" y="41422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production sequence &amp; process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384048" cy="38404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6908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FMUs and orchestrate from Python via FMI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257800"/>
            <a:ext cx="384048" cy="384048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523951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whole line end-to-end from one program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80644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7881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parameters &amp; validate against measurements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Euler Laboratory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</a:t>
            </a:r>
            <a:r>
              <a:rPr lang="en-US" sz="12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SupmécaSSSS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5B37A21A-FFDE-CAFA-6E1C-97C7E09B3308}"/>
              </a:ext>
            </a:extLst>
          </p:cNvPr>
          <p:cNvSpPr/>
          <p:nvPr/>
        </p:nvSpPr>
        <p:spPr>
          <a:xfrm flipV="1">
            <a:off x="0" y="723069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BC5A49C2-42D6-0219-9269-18FB84D7E193}"/>
              </a:ext>
            </a:extLst>
          </p:cNvPr>
          <p:cNvSpPr/>
          <p:nvPr/>
        </p:nvSpPr>
        <p:spPr>
          <a:xfrm flipV="1">
            <a:off x="-13855" y="1152491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40955E19-B190-433A-6210-B22E98C11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098" y="1481149"/>
            <a:ext cx="4974128" cy="5167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Calibri (Corps)"/>
                <a:ea typeface="Trebuchet MS" pitchFamily="34" charset="-122"/>
                <a:cs typeface="Trebuchet MS" pitchFamily="34" charset="-120"/>
              </a:rPr>
              <a:t>ALIX — the ERMASMART Industry 5.0 line</a:t>
            </a:r>
            <a:endParaRPr lang="en-US" sz="2000" dirty="0">
              <a:latin typeface="Calibri (Corps)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lab's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ERMASMART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by ERM Automatismes (Carpentras, France) — a bench-top flexible line showcasing smart sensors, IO-Link, supervision, cobotics, vision &amp; RFID traceability.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8445 mm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40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length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01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34472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3-ph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472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V phase · 50 Hz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533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04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S7-1200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1904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PLC · TULIP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965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336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9336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finished pot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stations  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Bin-picking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vision feed-in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15184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816352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16352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16352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axis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pots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64608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065776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1F8A7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65776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65776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cobot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Dobot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4032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15200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D98A1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XYZ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into trays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63456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564624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64624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VL10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64624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magazine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finished-tray store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928" y="5532120"/>
            <a:ext cx="11082528" cy="384048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5532120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conveyor belt  —  runs through all five stations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= modelled in this project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2CE40F6C-EABC-8817-4DA9-6E0D6B4C265F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AC4E542E-ADB4-810F-E380-7E8CA5D0B19C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2D40FB2A-A292-8DF9-74B8-4AAB184DFF0C}"/>
              </a:ext>
            </a:extLst>
          </p:cNvPr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0DDC678-C843-6930-0879-FDC6904D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6" y="814024"/>
            <a:ext cx="11644191" cy="5934248"/>
          </a:xfrm>
          <a:prstGeom prst="rect">
            <a:avLst/>
          </a:prstGeom>
        </p:spPr>
      </p:pic>
      <p:sp>
        <p:nvSpPr>
          <p:cNvPr id="3" name="Text 28">
            <a:extLst>
              <a:ext uri="{FF2B5EF4-FFF2-40B4-BE49-F238E27FC236}">
                <a16:creationId xmlns:a16="http://schemas.microsoft.com/office/drawing/2014/main" id="{015F9C04-4C61-59FB-C5BD-B96A9B648231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714AF066-FCF8-4236-B03C-AB3391289457}"/>
              </a:ext>
            </a:extLst>
          </p:cNvPr>
          <p:cNvSpPr/>
          <p:nvPr/>
        </p:nvSpPr>
        <p:spPr>
          <a:xfrm>
            <a:off x="11809337" y="65673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0613B0D-2F39-5074-6611-D0A53BE2CFA8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VISUAL REPRESENTATION OF ALIX LINE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71C392E-DF78-072A-DC13-A552AE1ADC22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072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subsystems · three physics domains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63040"/>
            <a:ext cx="361188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CONVEYOR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multiphysics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→ mechanical → thermal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induction machine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TECHTOP 0.09 kW · NMRV gearbox i = 20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branch: losses → ambient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Modelica blocks · 161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463040"/>
            <a:ext cx="361188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 COBOT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08576" y="1920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multibody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242316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Dobot CR5 — 6 revolute joints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from real CAD 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/ COM / inertia per link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torque inputs · 16 outputs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robot, not a generic arm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93024" y="14630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463040"/>
            <a:ext cx="3611880" cy="77724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 STATION</a:t>
            </a:r>
            <a:endParaRPr lang="en-US" sz="1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21624" y="1920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+ vacuum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9056" y="242316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(X·Y·Z) closed-loop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→ DC drive → lead-screw → stage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gripper (Boolean force)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DC-equivalent of chopper drive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inputs · 11 outputs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conveyor runs continuously; CR5 and XY10 act in discrete bursts — the model captures both regimes.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D50A1B48-5763-F111-6851-387C215C9D66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MULTIPHYSICS MODEL 1 · CONVEYOR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Electrical → mechanical → thermal chain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 supply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V · 50 Hz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42032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71216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1216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75504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75504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20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50608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79792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9792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+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load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</a:t>
            </a:r>
            <a:endParaRPr lang="en-US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120096"/>
              </p:ext>
            </p:extLst>
          </p:nvPr>
        </p:nvGraphicFramePr>
        <p:xfrm>
          <a:off x="548640" y="3326859"/>
          <a:ext cx="5120640" cy="20980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Stator / rotor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Ω / 8 Ω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Magnetising Lm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Lσ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 pairs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(4-pole)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 ratio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capacity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J/K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Conductance G / τ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W/K · 333 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33400" y="55869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prediction:  </a:t>
            </a: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1499 rpm  1.629 A RMS  107.96 W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FMU — verified vs analytical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052081" y="3241548"/>
            <a:ext cx="5669280" cy="1952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pic>
        <p:nvPicPr>
          <p:cNvPr id="21" name="Image 0" descr="/home/claude/deckimg/thermal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82696"/>
            <a:ext cx="5577286" cy="191134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989320" y="5472684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12180" y="5488617"/>
            <a:ext cx="91440" cy="1143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549554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+11.95 K </a:t>
            </a: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motor-body rise in 60 s  model vs analytical agreement </a:t>
            </a:r>
            <a:r>
              <a:rPr lang="en-US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P_elec matches the 3DEXPERIENCE reference to 0.0003 W.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1498580" y="65055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99D221B2-77AE-3E28-0640-DFDF0AC13069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A1590881-7FF6-8099-41FB-A6E3240D0CD3}"/>
              </a:ext>
            </a:extLst>
          </p:cNvPr>
          <p:cNvSpPr/>
          <p:nvPr/>
        </p:nvSpPr>
        <p:spPr>
          <a:xfrm flipV="1">
            <a:off x="-19050" y="82344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4083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6836" y="451679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1.Conveyor Motor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17F7E2D-E798-605A-7DB6-0BE6A7086544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EC589584-0A6F-ECC6-1503-29118922A978}"/>
              </a:ext>
            </a:extLst>
          </p:cNvPr>
          <p:cNvSpPr/>
          <p:nvPr/>
        </p:nvSpPr>
        <p:spPr>
          <a:xfrm flipV="1">
            <a:off x="-38100" y="435971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FC94459-C8BA-D503-588A-613118DCC5E5}"/>
              </a:ext>
            </a:extLst>
          </p:cNvPr>
          <p:cNvSpPr/>
          <p:nvPr/>
        </p:nvSpPr>
        <p:spPr>
          <a:xfrm>
            <a:off x="585216" y="1170155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Architecture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diagram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C593828-6836-CAEA-DBED-C555A8DC1639}"/>
              </a:ext>
            </a:extLst>
          </p:cNvPr>
          <p:cNvSpPr/>
          <p:nvPr/>
        </p:nvSpPr>
        <p:spPr>
          <a:xfrm>
            <a:off x="1399309" y="2078181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Electrical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3-phase 244 V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50 Hz </a:t>
            </a:r>
            <a:r>
              <a:rPr lang="fr-FR" sz="1600" b="1" dirty="0" err="1">
                <a:solidFill>
                  <a:schemeClr val="bg1"/>
                </a:solidFill>
              </a:rPr>
              <a:t>supply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E8152B2-5E05-12C2-EA6E-853C74C48FF7}"/>
              </a:ext>
            </a:extLst>
          </p:cNvPr>
          <p:cNvSpPr/>
          <p:nvPr/>
        </p:nvSpPr>
        <p:spPr>
          <a:xfrm>
            <a:off x="4262004" y="2078180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Mechanical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Motor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shaft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torque + </a:t>
            </a:r>
            <a:r>
              <a:rPr lang="el-GR" sz="1600" b="1" dirty="0">
                <a:solidFill>
                  <a:schemeClr val="bg1"/>
                </a:solidFill>
              </a:rPr>
              <a:t>ω 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974FD50-073B-3E97-DFC0-DE59E22FA52E}"/>
              </a:ext>
            </a:extLst>
          </p:cNvPr>
          <p:cNvSpPr/>
          <p:nvPr/>
        </p:nvSpPr>
        <p:spPr>
          <a:xfrm>
            <a:off x="6981582" y="2071391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Thermal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Body </a:t>
            </a:r>
            <a:r>
              <a:rPr lang="fr-FR" sz="1600" b="1" dirty="0" err="1">
                <a:solidFill>
                  <a:schemeClr val="bg1"/>
                </a:solidFill>
              </a:rPr>
              <a:t>heat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capacity</a:t>
            </a:r>
            <a:r>
              <a:rPr lang="fr-FR" sz="1600" b="1" dirty="0">
                <a:solidFill>
                  <a:schemeClr val="bg1"/>
                </a:solidFill>
              </a:rPr>
              <a:t> C</a:t>
            </a:r>
            <a:r>
              <a:rPr lang="el-GR" sz="1600" b="1" dirty="0">
                <a:solidFill>
                  <a:schemeClr val="bg1"/>
                </a:solidFill>
              </a:rPr>
              <a:t> </a:t>
            </a:r>
            <a:endParaRPr lang="fr-FR" sz="1600" b="1" dirty="0">
              <a:solidFill>
                <a:schemeClr val="bg1"/>
              </a:solidFill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6D16315-3F8D-5B22-3342-F6E9C9AD5533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3214255" y="2597726"/>
            <a:ext cx="104774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9D1972F9-514F-FB0E-F93E-E3B95987CAC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6076950" y="2597726"/>
            <a:ext cx="90463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B3F30292-7677-DE24-94AD-8AAE43CE4098}"/>
              </a:ext>
            </a:extLst>
          </p:cNvPr>
          <p:cNvCxnSpPr>
            <a:cxnSpLocks/>
          </p:cNvCxnSpPr>
          <p:nvPr/>
        </p:nvCxnSpPr>
        <p:spPr>
          <a:xfrm>
            <a:off x="5197187" y="3117272"/>
            <a:ext cx="0" cy="581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37E127-0123-30D5-F458-C1F36D3D7999}"/>
              </a:ext>
            </a:extLst>
          </p:cNvPr>
          <p:cNvCxnSpPr>
            <a:cxnSpLocks/>
          </p:cNvCxnSpPr>
          <p:nvPr/>
        </p:nvCxnSpPr>
        <p:spPr>
          <a:xfrm>
            <a:off x="7889055" y="3110345"/>
            <a:ext cx="0" cy="581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BDD462D-02E5-4E71-7CF6-13D0C5B68258}"/>
              </a:ext>
            </a:extLst>
          </p:cNvPr>
          <p:cNvCxnSpPr>
            <a:cxnSpLocks/>
          </p:cNvCxnSpPr>
          <p:nvPr/>
        </p:nvCxnSpPr>
        <p:spPr>
          <a:xfrm>
            <a:off x="2306782" y="3124199"/>
            <a:ext cx="0" cy="581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B8187203-9847-543D-B364-2923FD731674}"/>
              </a:ext>
            </a:extLst>
          </p:cNvPr>
          <p:cNvSpPr/>
          <p:nvPr/>
        </p:nvSpPr>
        <p:spPr>
          <a:xfrm>
            <a:off x="1411987" y="3713019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Stator + rotor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squirrel</a:t>
            </a:r>
            <a:r>
              <a:rPr lang="fr-FR" sz="1600" b="1" dirty="0">
                <a:solidFill>
                  <a:schemeClr val="bg1"/>
                </a:solidFill>
              </a:rPr>
              <a:t> cage) 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B150ED6-EAB3-8BDC-31FA-48154DB002D0}"/>
              </a:ext>
            </a:extLst>
          </p:cNvPr>
          <p:cNvSpPr/>
          <p:nvPr/>
        </p:nvSpPr>
        <p:spPr>
          <a:xfrm>
            <a:off x="4262004" y="3718008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Air-gap torque </a:t>
            </a: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equation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AAFD325-C865-D8DD-60FB-511FBD96AB4E}"/>
              </a:ext>
            </a:extLst>
          </p:cNvPr>
          <p:cNvSpPr/>
          <p:nvPr/>
        </p:nvSpPr>
        <p:spPr>
          <a:xfrm>
            <a:off x="7012133" y="3685585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Conductance G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to ambient</a:t>
            </a:r>
          </a:p>
        </p:txBody>
      </p: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2482D782-433B-A80E-B998-1B5918C2C2F7}"/>
              </a:ext>
            </a:extLst>
          </p:cNvPr>
          <p:cNvCxnSpPr>
            <a:stCxn id="43" idx="2"/>
          </p:cNvCxnSpPr>
          <p:nvPr/>
        </p:nvCxnSpPr>
        <p:spPr>
          <a:xfrm rot="16200000" flipH="1">
            <a:off x="2582835" y="4488735"/>
            <a:ext cx="1310155" cy="1836904"/>
          </a:xfrm>
          <a:prstGeom prst="bentConnector2">
            <a:avLst/>
          </a:prstGeom>
          <a:ln>
            <a:solidFill>
              <a:srgbClr val="00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B8B3B5C-5D60-5884-F81E-B232360F7F38}"/>
              </a:ext>
            </a:extLst>
          </p:cNvPr>
          <p:cNvSpPr/>
          <p:nvPr/>
        </p:nvSpPr>
        <p:spPr>
          <a:xfrm>
            <a:off x="4169111" y="5542719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Copper + </a:t>
            </a:r>
            <a:r>
              <a:rPr lang="fr-FR" sz="1600" b="1" dirty="0" err="1">
                <a:solidFill>
                  <a:schemeClr val="bg1"/>
                </a:solidFill>
              </a:rPr>
              <a:t>iron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losses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heatPort</a:t>
            </a:r>
            <a:r>
              <a:rPr lang="fr-FR" sz="1600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CB424A3C-022F-B4E9-50F1-EAFFCCE1D822}"/>
              </a:ext>
            </a:extLst>
          </p:cNvPr>
          <p:cNvCxnSpPr/>
          <p:nvPr/>
        </p:nvCxnSpPr>
        <p:spPr>
          <a:xfrm flipV="1">
            <a:off x="5964384" y="6055473"/>
            <a:ext cx="104774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85BCC31A-1648-874B-4290-7D4BC0466ECF}"/>
              </a:ext>
            </a:extLst>
          </p:cNvPr>
          <p:cNvSpPr/>
          <p:nvPr/>
        </p:nvSpPr>
        <p:spPr>
          <a:xfrm>
            <a:off x="7034402" y="5488790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Ambient 20 °C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A66E3CE9-7F78-195C-FC0C-9667E3710C1F}"/>
              </a:ext>
            </a:extLst>
          </p:cNvPr>
          <p:cNvCxnSpPr>
            <a:cxnSpLocks/>
          </p:cNvCxnSpPr>
          <p:nvPr/>
        </p:nvCxnSpPr>
        <p:spPr>
          <a:xfrm>
            <a:off x="7867165" y="4757099"/>
            <a:ext cx="0" cy="7316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28">
            <a:extLst>
              <a:ext uri="{FF2B5EF4-FFF2-40B4-BE49-F238E27FC236}">
                <a16:creationId xmlns:a16="http://schemas.microsoft.com/office/drawing/2014/main" id="{BDDE82B7-5EE5-63AA-8B52-668E714BB1EA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 CONVEYOR </a:t>
            </a:r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(</a:t>
            </a:r>
            <a:r>
              <a:rPr lang="fr-FR" sz="32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mechanical</a:t>
            </a:r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+ thermal) EQUATIONS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71216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175504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20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1498580" y="65055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99D221B2-77AE-3E28-0640-DFDF0AC13069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18B712BE-80EE-E939-A8D4-C592185DA5C5}"/>
              </a:ext>
            </a:extLst>
          </p:cNvPr>
          <p:cNvSpPr/>
          <p:nvPr/>
        </p:nvSpPr>
        <p:spPr>
          <a:xfrm flipV="1">
            <a:off x="7551" y="829472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22EFB97B-1859-1A80-6CD1-3852ACDE9245}"/>
              </a:ext>
            </a:extLst>
          </p:cNvPr>
          <p:cNvSpPr/>
          <p:nvPr/>
        </p:nvSpPr>
        <p:spPr>
          <a:xfrm>
            <a:off x="327660" y="923497"/>
            <a:ext cx="11699194" cy="5744199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2F3536C0-ABC6-A1BF-F753-11DD91521FFF}"/>
                  </a:ext>
                </a:extLst>
              </p:cNvPr>
              <p:cNvSpPr txBox="1"/>
              <p:nvPr/>
            </p:nvSpPr>
            <p:spPr>
              <a:xfrm>
                <a:off x="580782" y="910914"/>
                <a:ext cx="5930854" cy="5809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MECHANICAL (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rotational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then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translational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1400" b="1" dirty="0" err="1"/>
                  <a:t>Motor</a:t>
                </a:r>
                <a:r>
                  <a:rPr lang="fr-FR" sz="1400" b="1" dirty="0"/>
                  <a:t> </a:t>
                </a:r>
                <a:r>
                  <a:rPr lang="fr-FR" sz="1400" b="1" dirty="0" err="1"/>
                  <a:t>rotational</a:t>
                </a:r>
                <a:r>
                  <a:rPr lang="fr-FR" sz="1400" b="1" dirty="0"/>
                  <a:t> </a:t>
                </a:r>
                <a:r>
                  <a:rPr lang="fr-FR" sz="1400" b="1" dirty="0" err="1"/>
                  <a:t>dynamics</a:t>
                </a:r>
                <a:r>
                  <a:rPr lang="fr-FR" sz="1400" b="1" dirty="0"/>
                  <a:t>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  <m:t>𝑜𝑚𝑒𝑔</m:t>
                              </m:r>
                              <m:sSub>
                                <m:sSubPr>
                                  <m:ctrlPr>
                                    <a:rPr lang="fr-FR" sz="140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 dirty="0" err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i="1" dirty="0" err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𝑒𝑚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𝑔𝑒𝑎𝑟</m:t>
                              </m:r>
                            </m:sub>
                          </m:sSub>
                        </m:den>
                      </m:f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𝑜𝑚𝑒𝑔</m:t>
                      </m:r>
                      <m:sSub>
                        <m:sSub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Gearbox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(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ideal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, ratio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i_gear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= 20):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𝒐𝒎𝒆𝒈</m:t>
                    </m:r>
                    <m:sSub>
                      <m:sSub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𝒅𝒓𝒖𝒎</m:t>
                        </m:r>
                      </m:sub>
                    </m:sSub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𝑜𝑚𝑒𝑔</m:t>
                        </m:r>
                        <m:sSub>
                          <m:sSubPr>
                            <m:ctrlP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  <m:t>𝑔𝑒𝑎𝑟</m:t>
                            </m:r>
                          </m:sub>
                        </m:sSub>
                      </m:den>
                    </m:f>
                  </m:oMath>
                </a14:m>
                <a:endParaRPr lang="fr-FR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fr-FR" sz="1400" b="1" i="1" dirty="0" err="1" smtClean="0">
                          <a:latin typeface="Cambria Math" panose="02040503050406030204" pitchFamily="18" charset="0"/>
                        </a:rPr>
                        <m:t>𝒕𝒂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𝒅𝒓𝒖𝒎</m:t>
                          </m:r>
                        </m:sub>
                      </m:sSub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𝑔𝑒𝑎𝑟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fr-FR" sz="1400" i="1" dirty="0" err="1" smtClean="0">
                          <a:latin typeface="Cambria Math" panose="02040503050406030204" pitchFamily="18" charset="0"/>
                        </a:rPr>
                        <m:t>𝑡𝑎</m:t>
                      </m:r>
                      <m:sSub>
                        <m:sSubPr>
                          <m:ctrlP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𝑚𝑜𝑡𝑜𝑟</m:t>
                          </m:r>
                        </m:sub>
                      </m:sSub>
                    </m:oMath>
                  </m:oMathPara>
                </a14:m>
                <a:endParaRPr lang="fr-FR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Drum-to-belt conversion (</a:t>
                </a:r>
                <a:r>
                  <a:rPr lang="en-US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r_drum</a:t>
                </a: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= 25 mm):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𝒃𝒆𝒍𝒕</m:t>
                          </m:r>
                        </m:sub>
                      </m:sSub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400" i="1" dirty="0" err="1" smtClean="0">
                          <a:latin typeface="Cambria Math" panose="02040503050406030204" pitchFamily="18" charset="0"/>
                        </a:rPr>
                        <m:t>𝑜𝑚𝑒𝑔</m:t>
                      </m:r>
                      <m:sSub>
                        <m:sSubPr>
                          <m:ctrlP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𝑑𝑟𝑢𝑚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𝑑𝑟𝑢𝑚</m:t>
                          </m:r>
                        </m:sub>
                      </m:sSub>
                    </m:oMath>
                  </m:oMathPara>
                </a14:m>
                <a:endParaRPr lang="fr-FR" sz="1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fr-FR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fr-FR" sz="1400" b="1" i="1" dirty="0" smtClean="0">
                              <a:latin typeface="Cambria Math" panose="02040503050406030204" pitchFamily="18" charset="0"/>
                            </a:rPr>
                            <m:t>𝒍𝒐𝒂𝒅</m:t>
                          </m:r>
                        </m:sub>
                      </m:sSub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𝑡𝑎</m:t>
                          </m:r>
                          <m:sSub>
                            <m:sSubPr>
                              <m:ctrlP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  <m:t>𝑑𝑟𝑢𝑚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𝑑𝑟𝑢𝑚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Belt mass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dynamics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𝒃𝒆𝒍𝒕</m:t>
                        </m:r>
                      </m:sub>
                    </m:sSub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d>
                          <m:dPr>
                            <m:ctrlPr>
                              <a:rPr lang="fr-F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 dirty="0" err="1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fr-FR" sz="1400" b="1" i="1" dirty="0" err="1" smtClean="0">
                                    <a:latin typeface="Cambria Math" panose="02040503050406030204" pitchFamily="18" charset="0"/>
                                  </a:rPr>
                                  <m:t>𝒃𝒆𝒍𝒕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fr-FR" sz="1400" b="1" i="1" dirty="0" err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4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𝑙𝑜𝑎𝑑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fr-FR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𝑑𝑎𝑚𝑝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∗ </m:t>
                    </m:r>
                    <m:sSub>
                      <m:sSubPr>
                        <m:ctrlPr>
                          <a:rPr lang="fr-FR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𝑏𝑒𝑙𝑡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fr-FR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𝑓𝑟𝑖𝑐𝑡𝑖𝑜𝑛</m:t>
                        </m:r>
                      </m:sub>
                    </m:sSub>
                  </m:oMath>
                </a14:m>
                <a:endParaRPr lang="fr-FR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THERMAL (lumped 1st-order, motor housing)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𝒅𝑻</m:t>
                        </m:r>
                      </m:num>
                      <m:den>
                        <m:r>
                          <a:rPr lang="fr-FR" sz="1400" b="1" i="1" dirty="0" err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4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𝑙𝑜𝑠𝑠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 ∗ </m:t>
                    </m:r>
                    <m:d>
                      <m:dPr>
                        <m:ctrlPr>
                          <a:rPr lang="fr-FR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400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𝑎𝑚𝑏𝑖𝑒𝑛𝑡</m:t>
                            </m:r>
                          </m:sub>
                        </m:sSub>
                      </m:e>
                    </m:d>
                  </m:oMath>
                </a14:m>
                <a:endParaRPr lang="fr-FR" sz="14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fr-FR" sz="14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2F3536C0-ABC6-A1BF-F753-11DD9152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82" y="910914"/>
                <a:ext cx="5930854" cy="5809026"/>
              </a:xfrm>
              <a:prstGeom prst="rect">
                <a:avLst/>
              </a:prstGeom>
              <a:blipFill>
                <a:blip r:embed="rId3"/>
                <a:stretch>
                  <a:fillRect l="-3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B4E72E08-7297-5B9B-3886-4A5883F26099}"/>
                  </a:ext>
                </a:extLst>
              </p:cNvPr>
              <p:cNvSpPr txBox="1"/>
              <p:nvPr/>
            </p:nvSpPr>
            <p:spPr>
              <a:xfrm>
                <a:off x="6181344" y="950893"/>
                <a:ext cx="5635889" cy="5037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Power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losses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𝒍𝒐𝒔𝒔</m:t>
                        </m:r>
                      </m:sub>
                    </m:sSub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4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𝑐𝑜𝑝𝑝𝑒𝑟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fr-FR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𝑖𝑟𝑜𝑛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fr-FR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𝑓𝑟𝑖𝑐𝑡𝑖𝑜𝑛</m:t>
                        </m:r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fr-FR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400" i="1" dirty="0" err="1" smtClean="0">
                            <a:latin typeface="Cambria Math" panose="02040503050406030204" pitchFamily="18" charset="0"/>
                          </a:rPr>
                          <m:t>𝑠𝑡𝑟𝑎𝑦</m:t>
                        </m:r>
                      </m:sub>
                    </m:sSub>
                  </m:oMath>
                </a14:m>
                <a:endParaRPr lang="fr-FR" sz="1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𝒄𝒐𝒑𝒑𝒆𝒓</m:t>
                          </m:r>
                        </m:sub>
                      </m:sSub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sSup>
                        <m:sSup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fr-FR" sz="1400" i="1" dirty="0" err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sz="1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 	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𝒊𝒓𝒐𝒏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fr-FR" sz="1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400" i="1" dirty="0" err="1" smtClean="0">
                                  <a:latin typeface="Cambria Math" panose="02040503050406030204" pitchFamily="18" charset="0"/>
                                </a:rPr>
                                <m:t>𝑖𝑟𝑜𝑛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1400" b="1" i="1" dirty="0" err="1" smtClean="0">
                              <a:latin typeface="Cambria Math" panose="02040503050406030204" pitchFamily="18" charset="0"/>
                            </a:rPr>
                            <m:t>𝒇𝒓𝒊𝒄𝒕𝒊𝒐𝒏</m:t>
                          </m:r>
                        </m:sub>
                      </m:sSub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𝑜𝑚𝑒𝑔</m:t>
                      </m:r>
                      <m:sSubSup>
                        <m:sSubSupPr>
                          <m:ctrlPr>
                            <a:rPr lang="fr-FR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fr-FR" sz="1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Thermal time constant: 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𝑡𝑎</m:t>
                    </m:r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𝑡h𝑒𝑟𝑚𝑎𝑙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1.5</m:t>
                        </m:r>
                      </m:den>
                    </m:f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 333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  <a:p>
                <a:pPr>
                  <a:lnSpc>
                    <a:spcPct val="150000"/>
                  </a:lnSpc>
                </a:pPr>
                <a:r>
                  <a:rPr lang="en-US" sz="1400" dirty="0"/>
                  <a:t>	-&gt; motor takes ~16 min (5*tau) to reach steady-state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Steady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-state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temperature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rise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1400" dirty="0"/>
                  <a:t>	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𝑑𝑒𝑙𝑡</m:t>
                    </m:r>
                    <m:sSub>
                      <m:sSubPr>
                        <m:ctrlPr>
                          <a:rPr lang="fr-F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𝑠𝑠</m:t>
                            </m:r>
                          </m:sub>
                        </m:sSub>
                      </m:sub>
                    </m:sSub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r-FR" sz="1400" i="1" dirty="0" err="1" smtClean="0">
                                <a:latin typeface="Cambria Math" panose="02040503050406030204" pitchFamily="18" charset="0"/>
                              </a:rPr>
                              <m:t>𝑙𝑜𝑠𝑠</m:t>
                            </m:r>
                          </m:sub>
                        </m:sSub>
                      </m:num>
                      <m:den>
                        <m:r>
                          <a:rPr lang="fr-FR" sz="14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 dirty="0" err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sz="1400" i="1" dirty="0" err="1" smtClean="0">
                                    <a:latin typeface="Cambria Math" panose="02040503050406030204" pitchFamily="18" charset="0"/>
                                  </a:rPr>
                                  <m:t>𝑙𝑜𝑠𝑠</m:t>
                                </m:r>
                              </m:sub>
                            </m:sSub>
                            <m: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40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fr-FR" sz="1400" i="1" dirty="0" smtClean="0">
                            <a:latin typeface="Cambria Math" panose="02040503050406030204" pitchFamily="18" charset="0"/>
                          </a:rPr>
                          <m:t>1.5</m:t>
                        </m:r>
                      </m:den>
                    </m:f>
                  </m:oMath>
                </a14:m>
                <a:endParaRPr lang="fr-FR" sz="1400" dirty="0"/>
              </a:p>
              <a:p>
                <a:pPr>
                  <a:lnSpc>
                    <a:spcPct val="150000"/>
                  </a:lnSpc>
                </a:pPr>
                <a:r>
                  <a:rPr lang="fr-FR" sz="1400" dirty="0"/>
                  <a:t>	For </a:t>
                </a:r>
                <a:r>
                  <a:rPr lang="fr-FR" sz="1400" dirty="0" err="1"/>
                  <a:t>P_loss</a:t>
                </a:r>
                <a:r>
                  <a:rPr lang="fr-FR" sz="1400" dirty="0"/>
                  <a:t> = 18 W: </a:t>
                </a:r>
                <a:r>
                  <a:rPr lang="fr-FR" sz="1400" dirty="0" err="1"/>
                  <a:t>delta_T_ss</a:t>
                </a:r>
                <a:r>
                  <a:rPr lang="fr-FR" sz="1400" dirty="0"/>
                  <a:t> = 12 K -&gt; </a:t>
                </a:r>
                <a:r>
                  <a:rPr lang="fr-FR" sz="1400" dirty="0" err="1"/>
                  <a:t>validated</a:t>
                </a:r>
                <a:r>
                  <a:rPr lang="fr-FR" sz="1400" dirty="0"/>
                  <a:t> (11.86 K </a:t>
                </a:r>
                <a:r>
                  <a:rPr lang="fr-FR" sz="1400" dirty="0" err="1"/>
                  <a:t>measured</a:t>
                </a:r>
                <a:r>
                  <a:rPr lang="fr-FR" sz="1400" dirty="0"/>
                  <a:t>)</a:t>
                </a:r>
                <a:endParaRPr lang="fr-FR" sz="14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B4E72E08-7297-5B9B-3886-4A5883F26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950893"/>
                <a:ext cx="5635889" cy="5037213"/>
              </a:xfrm>
              <a:prstGeom prst="rect">
                <a:avLst/>
              </a:prstGeom>
              <a:blipFill>
                <a:blip r:embed="rId4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hape 19">
            <a:extLst>
              <a:ext uri="{FF2B5EF4-FFF2-40B4-BE49-F238E27FC236}">
                <a16:creationId xmlns:a16="http://schemas.microsoft.com/office/drawing/2014/main" id="{96542FBD-5ED3-2434-DD10-A66FA7CD5AB2}"/>
              </a:ext>
            </a:extLst>
          </p:cNvPr>
          <p:cNvSpPr/>
          <p:nvPr/>
        </p:nvSpPr>
        <p:spPr>
          <a:xfrm>
            <a:off x="343038" y="1159355"/>
            <a:ext cx="45719" cy="5071865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DF3007C3-6D5F-684F-B2A7-D2C35E44F1B9}"/>
              </a:ext>
            </a:extLst>
          </p:cNvPr>
          <p:cNvSpPr/>
          <p:nvPr/>
        </p:nvSpPr>
        <p:spPr>
          <a:xfrm>
            <a:off x="11984461" y="1103792"/>
            <a:ext cx="45719" cy="5071865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0AF6D15E-CAB3-8F6A-F2FE-03AF2A3B0D07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5933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353F11-1E3D-A0CB-B00B-33C1AFFC6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6" y="537515"/>
            <a:ext cx="11988754" cy="6237704"/>
          </a:xfrm>
          <a:prstGeom prst="rect">
            <a:avLst/>
          </a:prstGeom>
        </p:spPr>
      </p:pic>
      <p:sp>
        <p:nvSpPr>
          <p:cNvPr id="2" name="Text 28">
            <a:extLst>
              <a:ext uri="{FF2B5EF4-FFF2-40B4-BE49-F238E27FC236}">
                <a16:creationId xmlns:a16="http://schemas.microsoft.com/office/drawing/2014/main" id="{EC81C732-1FD6-C597-5652-7D330052DA2C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30867046-35F3-C737-613E-BE74473FEB79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8E7A4D-5B08-EFB1-87F0-1CC3798C67BF}"/>
              </a:ext>
            </a:extLst>
          </p:cNvPr>
          <p:cNvSpPr txBox="1"/>
          <p:nvPr/>
        </p:nvSpPr>
        <p:spPr>
          <a:xfrm>
            <a:off x="2784764" y="5929927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No.1.Conveyor </a:t>
            </a:r>
            <a:r>
              <a:rPr lang="fr-FR" sz="1400" dirty="0" err="1">
                <a:solidFill>
                  <a:schemeClr val="tx2"/>
                </a:solidFill>
              </a:rPr>
              <a:t>motor</a:t>
            </a:r>
            <a:r>
              <a:rPr lang="fr-FR" sz="1400" dirty="0">
                <a:solidFill>
                  <a:schemeClr val="tx2"/>
                </a:solidFill>
              </a:rPr>
              <a:t> model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3D22719-A234-09D0-8CE6-FEC0A1985223}"/>
              </a:ext>
            </a:extLst>
          </p:cNvPr>
          <p:cNvSpPr/>
          <p:nvPr/>
        </p:nvSpPr>
        <p:spPr>
          <a:xfrm flipV="1">
            <a:off x="-38100" y="782001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03136AC-6999-9CE7-7161-633AA8D9D60A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CONVEYOR MOTOR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638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DD12A9-17A7-8013-5579-61501407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35" y="884420"/>
            <a:ext cx="11262770" cy="5665803"/>
          </a:xfrm>
          <a:prstGeom prst="rect">
            <a:avLst/>
          </a:prstGeom>
        </p:spPr>
      </p:pic>
      <p:sp>
        <p:nvSpPr>
          <p:cNvPr id="2" name="Text 13">
            <a:extLst>
              <a:ext uri="{FF2B5EF4-FFF2-40B4-BE49-F238E27FC236}">
                <a16:creationId xmlns:a16="http://schemas.microsoft.com/office/drawing/2014/main" id="{74729221-37F3-68AC-3691-0D31F1186B11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4" name="Text 28">
            <a:extLst>
              <a:ext uri="{FF2B5EF4-FFF2-40B4-BE49-F238E27FC236}">
                <a16:creationId xmlns:a16="http://schemas.microsoft.com/office/drawing/2014/main" id="{61433B6F-216D-0013-77F9-89DDF9745B41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F0B948-75DD-3B43-E609-D7A9AA00AB6B}"/>
              </a:ext>
            </a:extLst>
          </p:cNvPr>
          <p:cNvSpPr txBox="1"/>
          <p:nvPr/>
        </p:nvSpPr>
        <p:spPr>
          <a:xfrm>
            <a:off x="3999221" y="6494795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No.2.Conveyor </a:t>
            </a:r>
            <a:r>
              <a:rPr lang="fr-FR" sz="1400" dirty="0" err="1">
                <a:solidFill>
                  <a:schemeClr val="tx2"/>
                </a:solidFill>
              </a:rPr>
              <a:t>motor</a:t>
            </a:r>
            <a:r>
              <a:rPr lang="fr-FR" sz="1400" dirty="0">
                <a:solidFill>
                  <a:schemeClr val="tx2"/>
                </a:solidFill>
              </a:rPr>
              <a:t> model FMU </a:t>
            </a:r>
            <a:r>
              <a:rPr lang="fr-FR" sz="1400" dirty="0" err="1">
                <a:solidFill>
                  <a:schemeClr val="tx2"/>
                </a:solidFill>
              </a:rPr>
              <a:t>Verification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8BE9621-20C2-692F-788F-22E3413E6F65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CONVEYOR FMU VALIDATION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85F09BC2-25E1-A19A-2479-00DE5C4DA9FD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1231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· CR5 COBOT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faithful 6-DOF multibody twin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4068" y="1289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Kinematic chain  (Dobot CR5 axis convention)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J1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Z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5"/>
          <p:cNvSpPr/>
          <p:nvPr/>
        </p:nvSpPr>
        <p:spPr>
          <a:xfrm>
            <a:off x="175564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48256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J2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8"/>
          <p:cNvSpPr/>
          <p:nvPr/>
        </p:nvSpPr>
        <p:spPr>
          <a:xfrm>
            <a:off x="3236976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9584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9584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J3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18304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10912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J4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X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99632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J5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73568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J6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Z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" y="28346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2834640"/>
            <a:ext cx="91440" cy="1508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 from the real robot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" y="3291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Per-link mass, COM and inertia extracted from the public CR5 CAD in </a:t>
            </a: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3DEXPERINCE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6× Revolute + 6× BodyShape, Newton-Euler assembled automatically by the MultiBody library.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45262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" y="46451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94.9%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07208" y="468172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agreement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23.74 kg vs brochure 25 kg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Joint-2 gravity pendulum period matches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566928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943600" y="5989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 Model</a:t>
            </a:r>
            <a:endParaRPr lang="en-US" sz="14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2D62EE51-0630-D5B8-79A6-E2A4A755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23744"/>
            <a:ext cx="5178552" cy="4224528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A14863FA-5946-3F6D-C1B5-7D71107A5347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B85DE988-E4A9-13DE-676F-8FC8FF7A54F1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8A7330B-DC8F-2F10-03BF-71F36582B655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6332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4C188B9-AFB0-8992-DFC4-C842162C1884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CR5 COBOT MODEL PHYSICS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954AE04-1380-1C7E-8FA9-DC6FFED40F97}"/>
              </a:ext>
            </a:extLst>
          </p:cNvPr>
          <p:cNvSpPr/>
          <p:nvPr/>
        </p:nvSpPr>
        <p:spPr>
          <a:xfrm flipV="1">
            <a:off x="-19050" y="795735"/>
            <a:ext cx="1221105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7" name="Shape 24">
            <a:extLst>
              <a:ext uri="{FF2B5EF4-FFF2-40B4-BE49-F238E27FC236}">
                <a16:creationId xmlns:a16="http://schemas.microsoft.com/office/drawing/2014/main" id="{842C12E2-D130-E8F5-6ABD-429E40AE1EB7}"/>
              </a:ext>
            </a:extLst>
          </p:cNvPr>
          <p:cNvSpPr/>
          <p:nvPr/>
        </p:nvSpPr>
        <p:spPr>
          <a:xfrm>
            <a:off x="384047" y="914815"/>
            <a:ext cx="11530861" cy="5763076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504BD2-6932-B79F-8166-509126675FD3}"/>
              </a:ext>
            </a:extLst>
          </p:cNvPr>
          <p:cNvSpPr txBox="1"/>
          <p:nvPr/>
        </p:nvSpPr>
        <p:spPr>
          <a:xfrm>
            <a:off x="566928" y="795735"/>
            <a:ext cx="1177636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KINEMATIC CHAIN</a:t>
            </a:r>
          </a:p>
          <a:p>
            <a:pPr>
              <a:lnSpc>
                <a:spcPct val="150000"/>
              </a:lnSpc>
            </a:pPr>
            <a:r>
              <a:rPr lang="fr-FR" sz="1600" dirty="0"/>
              <a:t>   </a:t>
            </a:r>
            <a:r>
              <a:rPr lang="fr-FR" sz="1600" b="1" dirty="0"/>
              <a:t>World -&gt; J1(Z) -&gt; L1 -&gt; J2(Y) -&gt; L2 -&gt; J3(Y) -&gt; L3</a:t>
            </a:r>
          </a:p>
          <a:p>
            <a:pPr>
              <a:lnSpc>
                <a:spcPct val="150000"/>
              </a:lnSpc>
            </a:pPr>
            <a:r>
              <a:rPr lang="fr-FR" sz="1600" b="1" dirty="0"/>
              <a:t>                                       -&gt; J4(X) -&gt; L4</a:t>
            </a:r>
          </a:p>
          <a:p>
            <a:pPr>
              <a:lnSpc>
                <a:spcPct val="150000"/>
              </a:lnSpc>
            </a:pPr>
            <a:r>
              <a:rPr lang="fr-FR" sz="1600" b="1" dirty="0"/>
              <a:t>                                       -&gt; J5(Y) -&gt; L5</a:t>
            </a:r>
          </a:p>
          <a:p>
            <a:pPr>
              <a:lnSpc>
                <a:spcPct val="150000"/>
              </a:lnSpc>
            </a:pPr>
            <a:r>
              <a:rPr lang="fr-FR" sz="1600" b="1" dirty="0"/>
              <a:t>                                       -&gt; J6(Z) -&gt; L6 -&gt; TCP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EQUATION OF MOTION (Newton-Euler,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manipulator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form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fr-FR" sz="1600" b="1" u="sng" dirty="0">
                <a:solidFill>
                  <a:schemeClr val="accent1">
                    <a:lumMod val="50000"/>
                  </a:schemeClr>
                </a:solidFill>
              </a:rPr>
              <a:t> M(q)  * </a:t>
            </a:r>
            <a:r>
              <a:rPr lang="fr-FR" sz="1600" b="1" u="sng" dirty="0" err="1">
                <a:solidFill>
                  <a:schemeClr val="accent1">
                    <a:lumMod val="50000"/>
                  </a:schemeClr>
                </a:solidFill>
              </a:rPr>
              <a:t>q_ddot</a:t>
            </a:r>
            <a:r>
              <a:rPr lang="fr-FR" sz="1600" b="1" u="sng" dirty="0">
                <a:solidFill>
                  <a:schemeClr val="accent1">
                    <a:lumMod val="50000"/>
                  </a:schemeClr>
                </a:solidFill>
              </a:rPr>
              <a:t> + C(</a:t>
            </a:r>
            <a:r>
              <a:rPr lang="fr-FR" sz="1600" b="1" u="sng" dirty="0" err="1">
                <a:solidFill>
                  <a:schemeClr val="accent1">
                    <a:lumMod val="50000"/>
                  </a:schemeClr>
                </a:solidFill>
              </a:rPr>
              <a:t>q,q_dot</a:t>
            </a:r>
            <a:r>
              <a:rPr lang="fr-FR" sz="1600" b="1" u="sng" dirty="0">
                <a:solidFill>
                  <a:schemeClr val="accent1">
                    <a:lumMod val="50000"/>
                  </a:schemeClr>
                </a:solidFill>
              </a:rPr>
              <a:t>)*</a:t>
            </a:r>
            <a:r>
              <a:rPr lang="fr-FR" sz="1600" b="1" u="sng" dirty="0" err="1">
                <a:solidFill>
                  <a:schemeClr val="accent1">
                    <a:lumMod val="50000"/>
                  </a:schemeClr>
                </a:solidFill>
              </a:rPr>
              <a:t>q_dot</a:t>
            </a:r>
            <a:r>
              <a:rPr lang="fr-FR" sz="1600" b="1" u="sng" dirty="0">
                <a:solidFill>
                  <a:schemeClr val="accent1">
                    <a:lumMod val="50000"/>
                  </a:schemeClr>
                </a:solidFill>
              </a:rPr>
              <a:t> + g(q) = tau - D * </a:t>
            </a:r>
            <a:r>
              <a:rPr lang="fr-FR" sz="1600" b="1" u="sng" dirty="0" err="1">
                <a:solidFill>
                  <a:schemeClr val="accent1">
                    <a:lumMod val="50000"/>
                  </a:schemeClr>
                </a:solidFill>
              </a:rPr>
              <a:t>q_dot</a:t>
            </a:r>
            <a:endParaRPr lang="fr-FR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fr-F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  q in R^6 </a:t>
            </a:r>
            <a:r>
              <a:rPr lang="fr-FR" sz="1600" dirty="0"/>
              <a:t>= joint angles</a:t>
            </a:r>
          </a:p>
          <a:p>
            <a:pPr>
              <a:lnSpc>
                <a:spcPct val="150000"/>
              </a:lnSpc>
            </a:pPr>
            <a:r>
              <a:rPr lang="fr-FR" sz="1600" dirty="0"/>
              <a:t>    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M(q)    </a:t>
            </a:r>
            <a:r>
              <a:rPr lang="fr-FR" sz="1600" dirty="0"/>
              <a:t>= 6x6 </a:t>
            </a:r>
            <a:r>
              <a:rPr lang="fr-FR" sz="1600" dirty="0" err="1"/>
              <a:t>inertia</a:t>
            </a:r>
            <a:r>
              <a:rPr lang="fr-FR" sz="1600" dirty="0"/>
              <a:t> matrix (configuration-</a:t>
            </a:r>
            <a:r>
              <a:rPr lang="fr-FR" sz="1600" dirty="0" err="1"/>
              <a:t>dependent</a:t>
            </a:r>
            <a:r>
              <a:rPr lang="fr-F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  C(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q,q_dot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fr-FR" sz="1600" dirty="0"/>
              <a:t>= Coriolis/</a:t>
            </a:r>
            <a:r>
              <a:rPr lang="fr-FR" sz="1600" dirty="0" err="1"/>
              <a:t>centripetal</a:t>
            </a:r>
            <a:r>
              <a:rPr lang="fr-FR" sz="1600" dirty="0"/>
              <a:t> matrix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  g(q)    </a:t>
            </a:r>
            <a:r>
              <a:rPr lang="fr-FR" sz="1600" dirty="0"/>
              <a:t>= </a:t>
            </a:r>
            <a:r>
              <a:rPr lang="fr-FR" sz="1600" dirty="0" err="1"/>
              <a:t>gravity</a:t>
            </a:r>
            <a:r>
              <a:rPr lang="fr-FR" sz="1600" dirty="0"/>
              <a:t> </a:t>
            </a:r>
            <a:r>
              <a:rPr lang="fr-FR" sz="1600" dirty="0" err="1"/>
              <a:t>vector</a:t>
            </a:r>
            <a:endParaRPr lang="fr-FR" sz="1600" dirty="0"/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  tau     </a:t>
            </a:r>
            <a:r>
              <a:rPr lang="fr-FR" sz="1600" dirty="0"/>
              <a:t>= 6x1 </a:t>
            </a:r>
            <a:r>
              <a:rPr lang="fr-FR" sz="1600" dirty="0" err="1"/>
              <a:t>applied</a:t>
            </a:r>
            <a:r>
              <a:rPr lang="fr-FR" sz="1600" dirty="0"/>
              <a:t> joint torques (FMU inputs)</a:t>
            </a:r>
          </a:p>
          <a:p>
            <a:endParaRPr lang="fr-FR" sz="1600" dirty="0"/>
          </a:p>
          <a:p>
            <a:endParaRPr lang="fr-FR" sz="16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274FBD66-C246-84E1-A648-29719F94CBDA}"/>
              </a:ext>
            </a:extLst>
          </p:cNvPr>
          <p:cNvSpPr/>
          <p:nvPr/>
        </p:nvSpPr>
        <p:spPr>
          <a:xfrm flipH="1">
            <a:off x="391527" y="1149927"/>
            <a:ext cx="45719" cy="541733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14B04D-83FB-6435-3E23-7A95ECAAF14E}"/>
              </a:ext>
            </a:extLst>
          </p:cNvPr>
          <p:cNvSpPr txBox="1"/>
          <p:nvPr/>
        </p:nvSpPr>
        <p:spPr>
          <a:xfrm>
            <a:off x="6149477" y="998150"/>
            <a:ext cx="5721928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Inertia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tensor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at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CoM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 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I_xx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= </a:t>
            </a:r>
            <a:r>
              <a:rPr lang="fr-FR" sz="1600" dirty="0" err="1"/>
              <a:t>I_yy</a:t>
            </a:r>
            <a:r>
              <a:rPr lang="fr-FR" sz="1600" dirty="0"/>
              <a:t> = (1/12)*m*(3*r^2 + L^2)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 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I_zz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= </a:t>
            </a:r>
            <a:r>
              <a:rPr lang="fr-FR" sz="1600" dirty="0"/>
              <a:t>(1/2)*m*r^2</a:t>
            </a:r>
          </a:p>
          <a:p>
            <a:pPr>
              <a:lnSpc>
                <a:spcPct val="150000"/>
              </a:lnSpc>
            </a:pPr>
            <a:endParaRPr lang="fr-F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VALIDATION</a:t>
            </a:r>
          </a:p>
          <a:p>
            <a:pPr>
              <a:lnSpc>
                <a:spcPct val="150000"/>
              </a:lnSpc>
            </a:pPr>
            <a:r>
              <a:rPr lang="fr-FR" sz="1600" dirty="0"/>
              <a:t>   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Total mass:     </a:t>
            </a:r>
            <a:r>
              <a:rPr lang="fr-FR" sz="1600" dirty="0"/>
              <a:t>23.74 kg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Brochure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spec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:  </a:t>
            </a:r>
            <a:r>
              <a:rPr lang="fr-FR" sz="1600" dirty="0"/>
              <a:t>25.00 kg</a:t>
            </a:r>
          </a:p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  Agreement:      </a:t>
            </a:r>
            <a:r>
              <a:rPr lang="fr-FR" sz="1600" dirty="0"/>
              <a:t>94.9 % -&gt; 1.26 kg gap = </a:t>
            </a:r>
            <a:r>
              <a:rPr lang="fr-FR" sz="1600" dirty="0" err="1"/>
              <a:t>cable</a:t>
            </a:r>
            <a:r>
              <a:rPr lang="fr-FR" sz="1600" dirty="0"/>
              <a:t> </a:t>
            </a:r>
            <a:r>
              <a:rPr lang="fr-FR" sz="1600" dirty="0" err="1"/>
              <a:t>harness</a:t>
            </a:r>
            <a:r>
              <a:rPr lang="fr-FR" sz="1600" dirty="0"/>
              <a:t> + </a:t>
            </a:r>
            <a:r>
              <a:rPr lang="fr-FR" sz="1600" dirty="0" err="1"/>
              <a:t>flange</a:t>
            </a:r>
            <a:endParaRPr lang="fr-FR" sz="1600" dirty="0"/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BB6CE420-FC59-63BB-17CD-A2AEA3B6C6CD}"/>
              </a:ext>
            </a:extLst>
          </p:cNvPr>
          <p:cNvSpPr/>
          <p:nvPr/>
        </p:nvSpPr>
        <p:spPr>
          <a:xfrm flipH="1">
            <a:off x="11861150" y="1067108"/>
            <a:ext cx="45719" cy="541733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A5B3056-4A16-BA1B-A5B0-601E0B3D7802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5949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71677E-A676-00B8-A6FA-866F91D7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5" y="914816"/>
            <a:ext cx="11583535" cy="549486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C8D1E3A-D353-A375-CB0F-DAFAB215DFB2}"/>
              </a:ext>
            </a:extLst>
          </p:cNvPr>
          <p:cNvSpPr txBox="1"/>
          <p:nvPr/>
        </p:nvSpPr>
        <p:spPr>
          <a:xfrm>
            <a:off x="3290454" y="6409675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No.3. CR5 COBOT model</a:t>
            </a: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4D6B2DE0-AA03-7599-E2F6-11C0D5E1B161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85F3F8C-A6D8-BCE8-5DB7-4AB838D7BD78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CR5 COBOT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F142066-77DA-41F5-C1C5-0E28295D1F32}"/>
              </a:ext>
            </a:extLst>
          </p:cNvPr>
          <p:cNvSpPr/>
          <p:nvPr/>
        </p:nvSpPr>
        <p:spPr>
          <a:xfrm flipV="1">
            <a:off x="-19050" y="795735"/>
            <a:ext cx="1221105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42484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img/cr5.png">
            <a:extLst>
              <a:ext uri="{FF2B5EF4-FFF2-40B4-BE49-F238E27FC236}">
                <a16:creationId xmlns:a16="http://schemas.microsoft.com/office/drawing/2014/main" id="{B2E96E5E-CDE2-2707-0E0A-2D4678F0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64037"/>
            <a:ext cx="5522976" cy="285292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0584E20-E259-418C-CBB8-BC2090EE2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037"/>
            <a:ext cx="6004214" cy="66939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6DFB01A-B0A5-7A9E-0856-5D4207764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82855"/>
            <a:ext cx="6396182" cy="3837709"/>
          </a:xfrm>
          <a:prstGeom prst="rect">
            <a:avLst/>
          </a:prstGeom>
        </p:spPr>
      </p:pic>
      <p:sp>
        <p:nvSpPr>
          <p:cNvPr id="3" name="Text 13">
            <a:extLst>
              <a:ext uri="{FF2B5EF4-FFF2-40B4-BE49-F238E27FC236}">
                <a16:creationId xmlns:a16="http://schemas.microsoft.com/office/drawing/2014/main" id="{70B0D589-0CBE-55BC-AFFF-E3E7FC42D594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1484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· XY10 STATION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Cartesian gantry + vacuum gripper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drive  (per axis · ×3 for X · Y · Z)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691640"/>
            <a:ext cx="1371600" cy="82296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5"/>
          <p:cNvSpPr/>
          <p:nvPr/>
        </p:nvSpPr>
        <p:spPr>
          <a:xfrm>
            <a:off x="1892808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8"/>
          <p:cNvSpPr/>
          <p:nvPr/>
        </p:nvSpPr>
        <p:spPr>
          <a:xfrm>
            <a:off x="3429000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39312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D98A12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1691640"/>
            <a:ext cx="137160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DC-equiv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5192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75504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D98A12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75504" y="1691640"/>
            <a:ext cx="137160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R-L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winding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01384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11696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37576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47888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7888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Lead-screw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(rot→lin)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73768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84080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84080" y="1691640"/>
            <a:ext cx="1371600" cy="822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" y="2651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feedback closes the loop · vacuum gripper: Boolean command → switch → grip force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3063240"/>
            <a:ext cx="5486400" cy="2926080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9120" y="3063240"/>
            <a:ext cx="79248" cy="29260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3200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abstraction: DC-equivalent steppers</a:t>
            </a:r>
            <a:endParaRPr lang="en-US" sz="16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" y="37033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steppers fire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 A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chopper mode; the FMU models a smooth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time-averaged drive. At line-orchestration level what matters is envelope, timing and energy  all captured. Chopper detail belongs to EMC studies, not digital-twin operation. A documented engineering choice, not an omission.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3063240"/>
            <a:ext cx="5349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82129" y="6182729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XY10 Station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F5C1A5B1-86C5-DBBC-7975-26053ED19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744" y="3063240"/>
            <a:ext cx="3171583" cy="288036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0F666E1F-890F-0215-1CFC-18A578588EF2}"/>
              </a:ext>
            </a:extLst>
          </p:cNvPr>
          <p:cNvSpPr txBox="1"/>
          <p:nvPr/>
        </p:nvSpPr>
        <p:spPr>
          <a:xfrm>
            <a:off x="7383916" y="2818569"/>
            <a:ext cx="33112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DFD1117-DB6E-7E31-A9F1-10CD925D17DA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15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BA1B0D06-BF04-B870-8633-CA6B8328B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31" y="6453119"/>
            <a:ext cx="8324850" cy="323850"/>
          </a:xfrm>
          <a:prstGeom prst="rect">
            <a:avLst/>
          </a:prstGeom>
        </p:spPr>
      </p:pic>
      <p:sp>
        <p:nvSpPr>
          <p:cNvPr id="33" name="Shape 6">
            <a:extLst>
              <a:ext uri="{FF2B5EF4-FFF2-40B4-BE49-F238E27FC236}">
                <a16:creationId xmlns:a16="http://schemas.microsoft.com/office/drawing/2014/main" id="{DD51338A-4058-D430-AFA8-1243D73CFE1B}"/>
              </a:ext>
            </a:extLst>
          </p:cNvPr>
          <p:cNvSpPr/>
          <p:nvPr/>
        </p:nvSpPr>
        <p:spPr>
          <a:xfrm flipV="1">
            <a:off x="-19050" y="795735"/>
            <a:ext cx="1221105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31136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9A73EC-2760-3C1C-BB33-8EF7767B2CEB}"/>
              </a:ext>
            </a:extLst>
          </p:cNvPr>
          <p:cNvSpPr/>
          <p:nvPr/>
        </p:nvSpPr>
        <p:spPr>
          <a:xfrm>
            <a:off x="262128" y="384047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· XY10 STATION PHYSICS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B1F20FB1-A1FD-B931-6F79-14D82910281B}"/>
              </a:ext>
            </a:extLst>
          </p:cNvPr>
          <p:cNvSpPr/>
          <p:nvPr/>
        </p:nvSpPr>
        <p:spPr>
          <a:xfrm flipV="1">
            <a:off x="-19050" y="795735"/>
            <a:ext cx="1221105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" name="Shape 24">
            <a:extLst>
              <a:ext uri="{FF2B5EF4-FFF2-40B4-BE49-F238E27FC236}">
                <a16:creationId xmlns:a16="http://schemas.microsoft.com/office/drawing/2014/main" id="{E37A6855-4A75-D555-379B-7539F8F2C1BD}"/>
              </a:ext>
            </a:extLst>
          </p:cNvPr>
          <p:cNvSpPr/>
          <p:nvPr/>
        </p:nvSpPr>
        <p:spPr>
          <a:xfrm>
            <a:off x="262128" y="1026620"/>
            <a:ext cx="11735908" cy="5760927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DABC2083-DDA0-E3C0-E9E3-F654128FA623}"/>
              </a:ext>
            </a:extLst>
          </p:cNvPr>
          <p:cNvSpPr/>
          <p:nvPr/>
        </p:nvSpPr>
        <p:spPr>
          <a:xfrm flipH="1">
            <a:off x="262126" y="1172095"/>
            <a:ext cx="45719" cy="56154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08037B84-4976-A198-DF55-89EE37BDC853}"/>
              </a:ext>
            </a:extLst>
          </p:cNvPr>
          <p:cNvSpPr/>
          <p:nvPr/>
        </p:nvSpPr>
        <p:spPr>
          <a:xfrm flipH="1">
            <a:off x="11998035" y="1149787"/>
            <a:ext cx="45719" cy="550039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0BF3022-96B5-EF8B-F6FE-6E4DEAE64D7C}"/>
                  </a:ext>
                </a:extLst>
              </p:cNvPr>
              <p:cNvSpPr txBox="1"/>
              <p:nvPr/>
            </p:nvSpPr>
            <p:spPr>
              <a:xfrm>
                <a:off x="414256" y="1043506"/>
                <a:ext cx="5415734" cy="5300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CONTROL (PD position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loop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400" b="1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400" b="1" i="1" dirty="0" err="1">
                              <a:latin typeface="Cambria Math" panose="02040503050406030204" pitchFamily="18" charset="0"/>
                            </a:rPr>
                            <m:t>𝒄𝒐𝒎𝒎𝒂𝒏𝒅</m:t>
                          </m:r>
                        </m:sub>
                      </m:sSub>
                      <m:r>
                        <a:rPr lang="fr-FR" sz="1400" b="1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400" b="1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 </m:t>
                      </m:r>
                      <m:d>
                        <m:d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1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400" b="1" i="1" dirty="0" err="1">
                              <a:latin typeface="Cambria Math" panose="02040503050406030204" pitchFamily="18" charset="0"/>
                            </a:rPr>
                            <m:t>𝒅𝒓𝒊𝒗𝒆</m:t>
                          </m:r>
                        </m:sub>
                      </m:sSub>
                      <m:r>
                        <a:rPr lang="fr-FR" sz="1400" b="1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400" i="1" dirty="0" err="1">
                          <a:latin typeface="Cambria Math" panose="02040503050406030204" pitchFamily="18" charset="0"/>
                        </a:rPr>
                        <m:t>𝑠𝑎𝑡𝑢𝑟𝑎𝑡𝑒</m:t>
                      </m:r>
                      <m:d>
                        <m:d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  <m:t>𝑐𝑜𝑚𝑚𝑎𝑛𝑑</m:t>
                              </m:r>
                            </m:sub>
                          </m:sSub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, +</m:t>
                          </m:r>
                          <m:f>
                            <m:fPr>
                              <m:ctrlP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/>
                            <m:den>
                              <m: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1400" i="1" dirty="0" err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ELECTRICAL (DC-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equivalent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of stepper)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𝑑𝑟𝑖𝑣𝑒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fr-FR" sz="1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2∗</m:t>
                          </m:r>
                          <m:f>
                            <m:fPr>
                              <m:ctrlP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num>
                            <m:den>
                              <m: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  <m:t>𝑙𝑒𝑎𝑑</m:t>
                              </m:r>
                            </m:den>
                          </m:f>
                        </m:e>
                      </m:d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fr-FR" sz="1400" i="1" dirty="0" err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Back-EMF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term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K_t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*(2*pi/lead)*dx/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dt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converts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linear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velocity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into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induced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voltage </a:t>
                </a:r>
                <a:r>
                  <a:rPr lang="fr-FR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opposing</a:t>
                </a:r>
                <a:r>
                  <a:rPr lang="fr-FR" sz="1400" dirty="0">
                    <a:solidFill>
                      <a:schemeClr val="accent1">
                        <a:lumMod val="50000"/>
                      </a:schemeClr>
                    </a:solidFill>
                  </a:rPr>
                  <a:t> motion. </a:t>
                </a:r>
              </a:p>
              <a:p>
                <a:endParaRPr 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FORCE TRANSMISSION (lead-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screw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,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lossless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sz="14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ideal</a:t>
                </a: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400" b="1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dirty="0" err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fr-FR" sz="1400" b="1" i="1" dirty="0" err="1">
                              <a:latin typeface="Cambria Math" panose="02040503050406030204" pitchFamily="18" charset="0"/>
                            </a:rPr>
                            <m:t>𝒎𝒐𝒕𝒐𝒓</m:t>
                          </m:r>
                        </m:sub>
                      </m:sSub>
                      <m:r>
                        <a:rPr lang="fr-FR" sz="1400" b="1" i="1" dirty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fr-FR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2∗</m:t>
                          </m:r>
                          <m:f>
                            <m:fPr>
                              <m:ctrlP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num>
                            <m:den>
                              <m: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  <m:t>𝑙𝑒𝑎𝑑</m:t>
                              </m:r>
                            </m:den>
                          </m:f>
                        </m:e>
                      </m:d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fr-FR" sz="1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𝑾𝒊𝒕𝒉</m:t>
                      </m:r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dirty="0">
                          <a:latin typeface="Cambria Math" panose="02040503050406030204" pitchFamily="18" charset="0"/>
                        </a:rPr>
                        <m:t>𝒍𝒆𝒂𝒅</m:t>
                      </m:r>
                      <m:r>
                        <a:rPr lang="fr-FR" sz="14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i="1" dirty="0" err="1">
                          <a:latin typeface="Cambria Math" panose="02040503050406030204" pitchFamily="18" charset="0"/>
                        </a:rPr>
                        <m:t>𝑟𝑒𝑣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𝑔𝑎𝑖𝑛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 = 2∗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𝑝𝑖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/0.005 = 1256.6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MECHANICAL (Newton + friction + end-stops)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fr-FR" sz="1400" b="1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fr-FR" sz="14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fr-FR" sz="1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1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fr-FR" sz="1400" b="1" i="1" dirty="0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fr-FR" sz="1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400" b="1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400" b="1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𝑚𝑜𝑡𝑜𝑟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1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i="0" dirty="0" err="1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 dirty="0">
                                  <a:latin typeface="Cambria Math" panose="02040503050406030204" pitchFamily="18" charset="0"/>
                                </a:rPr>
                                <m:t>100∗</m:t>
                              </m:r>
                              <m:f>
                                <m:fPr>
                                  <m:ctrlPr>
                                    <a:rPr lang="fr-F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 dirty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lang="fr-FR" sz="1400" i="1" dirty="0" err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fr-FR" sz="1400" i="1" dirty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1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 dirty="0" err="1">
                              <a:latin typeface="Cambria Math" panose="02040503050406030204" pitchFamily="18" charset="0"/>
                            </a:rPr>
                            <m:t>𝑒𝑛𝑑𝑠𝑡𝑜𝑝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4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0BF3022-96B5-EF8B-F6FE-6E4DEAE64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56" y="1043506"/>
                <a:ext cx="5415734" cy="5300554"/>
              </a:xfrm>
              <a:prstGeom prst="rect">
                <a:avLst/>
              </a:prstGeom>
              <a:blipFill>
                <a:blip r:embed="rId2"/>
                <a:stretch>
                  <a:fillRect l="-338" t="-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87DA41A-A194-21BF-1EAD-5AE14AE8619D}"/>
                  </a:ext>
                </a:extLst>
              </p:cNvPr>
              <p:cNvSpPr txBox="1"/>
              <p:nvPr/>
            </p:nvSpPr>
            <p:spPr>
              <a:xfrm>
                <a:off x="6141717" y="1280975"/>
                <a:ext cx="5636027" cy="369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𝒆𝒏𝒅𝒔𝒕𝒐𝒑</m:t>
                        </m:r>
                      </m:sub>
                    </m:sSub>
                    <m:r>
                      <a:rPr lang="fr-FR" sz="16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600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𝑒𝑛𝑑𝑠𝑡𝑜𝑝</m:t>
                        </m:r>
                      </m:sub>
                    </m:sSub>
                    <m:r>
                      <a:rPr lang="fr-FR" sz="1600" i="1" dirty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fr-FR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fr-FR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 dirty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fr-FR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FR" sz="1600" i="1" dirty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fr-FR" sz="16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600" i="1" dirty="0" err="1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fr-FR" sz="1600" i="1" dirty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fr-FR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𝑒𝑛𝑑𝑠𝑡𝑜𝑝</m:t>
                        </m:r>
                      </m:sub>
                    </m:sSub>
                    <m:r>
                      <a:rPr lang="fr-FR" sz="1600" i="1" dirty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fr-FR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fr-FR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 dirty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sSub>
                              <m:sSubPr>
                                <m:ctrlPr>
                                  <a:rPr lang="fr-FR" sz="16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func>
                                  <m:funcPr>
                                    <m:ctrlPr>
                                      <a:rPr lang="fr-FR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1600" i="0" dirty="0" err="1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fr-FR" sz="16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</m:func>
                                <m:r>
                                  <a:rPr lang="fr-FR" sz="16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fr-FR" sz="1600" dirty="0"/>
              </a:p>
              <a:p>
                <a:endParaRPr lang="fr-FR" sz="16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PNEUMATIC (1st-order Venturi vacuum) </a:t>
                </a:r>
              </a:p>
              <a:p>
                <a:endParaRPr lang="fr-FR" sz="16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fr-FR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PARAMETERS</a:t>
                </a:r>
              </a:p>
              <a:p>
                <a:endParaRPr lang="fr-FR" sz="16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𝒕𝒂</m:t>
                    </m:r>
                    <m:sSub>
                      <m:sSubPr>
                        <m:ctrlPr>
                          <a:rPr lang="fr-FR" sz="16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fr-FR" sz="1600" b="1" i="1" dirty="0" err="1">
                            <a:latin typeface="Cambria Math" panose="02040503050406030204" pitchFamily="18" charset="0"/>
                          </a:rPr>
                          <m:t>𝒗𝒂𝒄</m:t>
                        </m:r>
                      </m:sub>
                    </m:sSub>
                    <m:r>
                      <a:rPr lang="fr-FR" sz="1600" b="1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fr-FR" sz="16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1" dirty="0" err="1">
                            <a:latin typeface="Cambria Math" panose="02040503050406030204" pitchFamily="18" charset="0"/>
                          </a:rPr>
                          <m:t>𝒅𝒑</m:t>
                        </m:r>
                      </m:num>
                      <m:den>
                        <m:r>
                          <a:rPr lang="fr-FR" sz="1600" b="1" i="1" dirty="0" err="1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fr-FR" sz="1600" b="1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600" b="1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fr-FR" sz="1600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fr-FR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1600" dirty="0"/>
              </a:p>
              <a:p>
                <a:endParaRPr lang="fr-FR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𝒕𝒂𝒓𝒈𝒆𝒕</m:t>
                        </m:r>
                      </m:sub>
                    </m:sSub>
                    <m:r>
                      <a:rPr lang="fr-FR" sz="1600" b="1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600" b="1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  <m:d>
                      <m:dPr>
                        <m:ctrlPr>
                          <a:rPr lang="fr-FR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 dirty="0" err="1">
                            <a:latin typeface="Cambria Math" panose="02040503050406030204" pitchFamily="18" charset="0"/>
                          </a:rPr>
                          <m:t>𝑤h𝑒𝑛</m:t>
                        </m:r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𝑂𝐹𝐹</m:t>
                        </m:r>
                      </m:e>
                    </m:d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𝒈𝒓𝒊𝒑𝒑𝒆</m:t>
                    </m:r>
                    <m:sSub>
                      <m:sSubPr>
                        <m:ctrlPr>
                          <a:rPr lang="fr-FR" sz="16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fr-FR" sz="1600" b="1" i="1" dirty="0" err="1">
                            <a:latin typeface="Cambria Math" panose="02040503050406030204" pitchFamily="18" charset="0"/>
                          </a:rPr>
                          <m:t>𝒂𝒕𝒕𝒂𝒄𝒉𝒆𝒅</m:t>
                        </m:r>
                      </m:sub>
                    </m:sSub>
                    <m:r>
                      <a:rPr lang="fr-FR" sz="1600" b="1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fr-FR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 &lt; </m:t>
                        </m:r>
                        <m:sSub>
                          <m:sSubPr>
                            <m:ctrlPr>
                              <a:rPr lang="fr-FR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i="1" dirty="0" err="1">
                                <a:latin typeface="Cambria Math" panose="02040503050406030204" pitchFamily="18" charset="0"/>
                              </a:rPr>
                              <m:t>𝑡h𝑟𝑒𝑠h𝑜𝑙𝑑</m:t>
                            </m:r>
                          </m:sub>
                        </m:sSub>
                      </m:e>
                    </m:d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fr-FR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87DA41A-A194-21BF-1EAD-5AE14AE86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717" y="1280975"/>
                <a:ext cx="5636027" cy="3698000"/>
              </a:xfrm>
              <a:prstGeom prst="rect">
                <a:avLst/>
              </a:prstGeom>
              <a:blipFill>
                <a:blip r:embed="rId3"/>
                <a:stretch>
                  <a:fillRect l="-5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13">
            <a:extLst>
              <a:ext uri="{FF2B5EF4-FFF2-40B4-BE49-F238E27FC236}">
                <a16:creationId xmlns:a16="http://schemas.microsoft.com/office/drawing/2014/main" id="{8D3906D4-D667-2A3F-F3EA-DDB94686B715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99736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64BB408-D7F0-65AB-60EE-287D25AC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479"/>
            <a:ext cx="12012701" cy="17388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DB5C18C-A5CD-A17A-FF04-E0F74E4EA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2784762"/>
            <a:ext cx="12102351" cy="14408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6BCD47-4828-B637-0B5E-7C00D0789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3237"/>
            <a:ext cx="12192000" cy="2762120"/>
          </a:xfrm>
          <a:prstGeom prst="rect">
            <a:avLst/>
          </a:prstGeom>
        </p:spPr>
      </p:pic>
      <p:sp>
        <p:nvSpPr>
          <p:cNvPr id="8" name="Text 39">
            <a:extLst>
              <a:ext uri="{FF2B5EF4-FFF2-40B4-BE49-F238E27FC236}">
                <a16:creationId xmlns:a16="http://schemas.microsoft.com/office/drawing/2014/main" id="{1EA2C7D3-55D4-CE92-B3A4-1FF24D345AB1}"/>
              </a:ext>
            </a:extLst>
          </p:cNvPr>
          <p:cNvSpPr/>
          <p:nvPr/>
        </p:nvSpPr>
        <p:spPr>
          <a:xfrm>
            <a:off x="116403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17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E444051-E238-3966-CBF9-B18ED987B0A1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6607EF6-F3DD-DBBB-9277-A9D9557748AD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XY10 STATION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7753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9">
            <a:extLst>
              <a:ext uri="{FF2B5EF4-FFF2-40B4-BE49-F238E27FC236}">
                <a16:creationId xmlns:a16="http://schemas.microsoft.com/office/drawing/2014/main" id="{9FBE43A9-FD48-45EA-1B65-38221533948D}"/>
              </a:ext>
            </a:extLst>
          </p:cNvPr>
          <p:cNvSpPr/>
          <p:nvPr/>
        </p:nvSpPr>
        <p:spPr>
          <a:xfrm>
            <a:off x="1159729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D481AC2-AD1B-F831-63B0-26973149CDBC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 STATION FMU VALIDATION 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0BDA83B-E1E0-5D6A-5F68-3374DFA62734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30E10E-4703-CC4B-4D2C-4C16D053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9" y="795734"/>
            <a:ext cx="10932272" cy="60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7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SPATIAL LAYOUT &amp; COUPLING ANALYSIS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2D40FB2A-A292-8DF9-74B8-4AAB184DFF0C}"/>
              </a:ext>
            </a:extLst>
          </p:cNvPr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F13510D7-501D-F236-99A1-097EE95A0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1" y="676656"/>
            <a:ext cx="12095017" cy="6071616"/>
          </a:xfrm>
          <a:prstGeom prst="rect">
            <a:avLst/>
          </a:prstGeom>
        </p:spPr>
      </p:pic>
      <p:sp>
        <p:nvSpPr>
          <p:cNvPr id="46" name="Shape 6">
            <a:extLst>
              <a:ext uri="{FF2B5EF4-FFF2-40B4-BE49-F238E27FC236}">
                <a16:creationId xmlns:a16="http://schemas.microsoft.com/office/drawing/2014/main" id="{FAC0F6C5-8EF2-88AE-EFA5-8F184F81C805}"/>
              </a:ext>
            </a:extLst>
          </p:cNvPr>
          <p:cNvSpPr/>
          <p:nvPr/>
        </p:nvSpPr>
        <p:spPr>
          <a:xfrm flipV="1">
            <a:off x="-19050" y="795735"/>
            <a:ext cx="1221105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788C0BBB-2D2C-CDA7-18B2-2024D4A1D0FD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355190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4">
            <a:extLst>
              <a:ext uri="{FF2B5EF4-FFF2-40B4-BE49-F238E27FC236}">
                <a16:creationId xmlns:a16="http://schemas.microsoft.com/office/drawing/2014/main" id="{6163EB4E-5F3C-7A4B-DF43-3750A8029FFF}"/>
              </a:ext>
            </a:extLst>
          </p:cNvPr>
          <p:cNvSpPr/>
          <p:nvPr/>
        </p:nvSpPr>
        <p:spPr>
          <a:xfrm>
            <a:off x="566928" y="1011382"/>
            <a:ext cx="10364308" cy="5573684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48F1A76-B09D-AA4E-7277-3493BD2A217F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FIVE COUPLING PATHWAYS IDENTIFIED 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615E88B8-6FE4-8E51-EF16-2FCCC5E848E0}"/>
              </a:ext>
            </a:extLst>
          </p:cNvPr>
          <p:cNvSpPr/>
          <p:nvPr/>
        </p:nvSpPr>
        <p:spPr>
          <a:xfrm>
            <a:off x="566928" y="1011382"/>
            <a:ext cx="91440" cy="557368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EE2F29F-BECE-7C2B-063A-7642278F208B}"/>
                  </a:ext>
                </a:extLst>
              </p:cNvPr>
              <p:cNvSpPr txBox="1"/>
              <p:nvPr/>
            </p:nvSpPr>
            <p:spPr>
              <a:xfrm>
                <a:off x="658368" y="1217526"/>
                <a:ext cx="3949918" cy="5641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ELECTRICAL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-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Shared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400 V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three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-phase bus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Captured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ideal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source per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subsystem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Phase 2: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shared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impedance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bus</a:t>
                </a:r>
              </a:p>
              <a:p>
                <a:pPr algn="just">
                  <a:lnSpc>
                    <a:spcPct val="150000"/>
                  </a:lnSpc>
                </a:pPr>
                <a:endParaRPr lang="fr-FR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fr-FR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PNEUMATIC 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-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Shared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5 bar air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supply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Captured</a:t>
                </a: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1st-order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chamber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dynamics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𝒕𝒂𝒖</m:t>
                    </m:r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fr-FR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𝒅𝒑</m:t>
                        </m:r>
                      </m:num>
                      <m:den>
                        <m: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fr-FR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fr-FR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– </m:t>
                    </m:r>
                    <m:r>
                      <a:rPr lang="fr-FR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fr-FR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fr-FR" u="sng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EE2F29F-BECE-7C2B-063A-7642278F2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1217526"/>
                <a:ext cx="3949918" cy="5641801"/>
              </a:xfrm>
              <a:prstGeom prst="rect">
                <a:avLst/>
              </a:prstGeom>
              <a:blipFill>
                <a:blip r:embed="rId2"/>
                <a:stretch>
                  <a:fillRect l="-1235" r="-1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10CC1ED-4443-39A2-63A0-8BCA1A804084}"/>
                  </a:ext>
                </a:extLst>
              </p:cNvPr>
              <p:cNvSpPr txBox="1"/>
              <p:nvPr/>
            </p:nvSpPr>
            <p:spPr>
              <a:xfrm>
                <a:off x="5399316" y="725478"/>
                <a:ext cx="4368799" cy="4749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fr-FR" u="sng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MECHANICAL - 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Vibration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along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aluminium frame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Captured</a:t>
                </a: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NO (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rigid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bases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assumed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)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Phase 2: 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modal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analysis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𝑮𝒐𝒗𝒆𝒓𝒏𝒊𝒏𝒈</m:t>
                    </m:r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𝒆𝒒</m:t>
                    </m:r>
                    <m:r>
                      <a:rPr lang="fr-FR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𝑟h𝑜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fr-FR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fr-FR" u="sng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fr-FR" b="1" dirty="0">
                    <a:solidFill>
                      <a:schemeClr val="accent1">
                        <a:lumMod val="50000"/>
                      </a:schemeClr>
                    </a:solidFill>
                  </a:rPr>
                  <a:t>THERMAL -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Motor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fr-FR" dirty="0" err="1">
                    <a:solidFill>
                      <a:schemeClr val="accent1">
                        <a:lumMod val="50000"/>
                      </a:schemeClr>
                    </a:solidFill>
                  </a:rPr>
                  <a:t>heat</a:t>
                </a: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 to ambient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fr-FR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num>
                      <m:den>
                        <m: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fr-FR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</m:sub>
                    </m:sSub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∗ </m:t>
                    </m:r>
                    <m:d>
                      <m:dPr>
                        <m:ctrlP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fr-FR" i="1" dirty="0" err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 err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i="1" dirty="0" err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𝑎𝑚𝑏</m:t>
                            </m:r>
                          </m:sub>
                        </m:sSub>
                      </m:e>
                    </m:d>
                  </m:oMath>
                </a14:m>
                <a:endParaRPr lang="fr-FR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𝒕𝒂</m:t>
                    </m:r>
                    <m:sSub>
                      <m:sSubPr>
                        <m:ctrlP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fr-FR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𝒕𝒉𝒆𝒓𝒎𝒂𝒍</m:t>
                        </m:r>
                      </m:sub>
                    </m:sSub>
                    <m:r>
                      <a:rPr lang="fr-FR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333 </m:t>
                    </m:r>
                    <m:r>
                      <a:rPr lang="fr-FR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fr-F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10CC1ED-4443-39A2-63A0-8BCA1A804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316" y="725478"/>
                <a:ext cx="4368799" cy="4749185"/>
              </a:xfrm>
              <a:prstGeom prst="rect">
                <a:avLst/>
              </a:prstGeom>
              <a:blipFill>
                <a:blip r:embed="rId3"/>
                <a:stretch>
                  <a:fillRect l="-1257" r="-11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25">
            <a:extLst>
              <a:ext uri="{FF2B5EF4-FFF2-40B4-BE49-F238E27FC236}">
                <a16:creationId xmlns:a16="http://schemas.microsoft.com/office/drawing/2014/main" id="{33834125-6622-9514-77C8-3971366016AB}"/>
              </a:ext>
            </a:extLst>
          </p:cNvPr>
          <p:cNvSpPr/>
          <p:nvPr/>
        </p:nvSpPr>
        <p:spPr>
          <a:xfrm>
            <a:off x="10794076" y="1044039"/>
            <a:ext cx="91440" cy="557368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B3D3FAC-3E91-4724-AA37-DCF4CFA86DF9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3C9C7864-839F-D147-FE9D-F71C96DE3DA6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62643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17728A6-EB8A-A4D3-704E-D607C60FCF98}"/>
              </a:ext>
            </a:extLst>
          </p:cNvPr>
          <p:cNvSpPr txBox="1"/>
          <p:nvPr/>
        </p:nvSpPr>
        <p:spPr>
          <a:xfrm>
            <a:off x="249382" y="189902"/>
            <a:ext cx="9644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REAL-TIME EXPERIMENT ON THE ALIX LINE</a:t>
            </a:r>
            <a:endParaRPr lang="fr-FR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A0BFDD-CF19-0FB9-C7D7-6F209820E599}"/>
              </a:ext>
            </a:extLst>
          </p:cNvPr>
          <p:cNvSpPr txBox="1"/>
          <p:nvPr/>
        </p:nvSpPr>
        <p:spPr>
          <a:xfrm>
            <a:off x="581891" y="955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The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experimental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sequence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: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2D40D78-A0B4-4658-AB63-C9FE6D38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318267"/>
              </p:ext>
            </p:extLst>
          </p:nvPr>
        </p:nvGraphicFramePr>
        <p:xfrm>
          <a:off x="595746" y="1597013"/>
          <a:ext cx="11139054" cy="448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634">
                  <a:extLst>
                    <a:ext uri="{9D8B030D-6E8A-4147-A177-3AD203B41FA5}">
                      <a16:colId xmlns:a16="http://schemas.microsoft.com/office/drawing/2014/main" val="739400680"/>
                    </a:ext>
                  </a:extLst>
                </a:gridCol>
                <a:gridCol w="7214128">
                  <a:extLst>
                    <a:ext uri="{9D8B030D-6E8A-4147-A177-3AD203B41FA5}">
                      <a16:colId xmlns:a16="http://schemas.microsoft.com/office/drawing/2014/main" val="3292622227"/>
                    </a:ext>
                  </a:extLst>
                </a:gridCol>
                <a:gridCol w="2667292">
                  <a:extLst>
                    <a:ext uri="{9D8B030D-6E8A-4147-A177-3AD203B41FA5}">
                      <a16:colId xmlns:a16="http://schemas.microsoft.com/office/drawing/2014/main" val="960381866"/>
                    </a:ext>
                  </a:extLst>
                </a:gridCol>
              </a:tblGrid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t (s)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45924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Pot enters the line from the input magazine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upstream</a:t>
                      </a:r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14014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XY10 vacuum gripper picks the empty pot from the input tray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XY10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63948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XY10 places the pot onto the moving conveyor belt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XY10 → </a:t>
                      </a:r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44122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8 →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Conveyor transports the pot along the line</a:t>
                      </a: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 (0.196 m/s steady state)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23406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Pot arrives at the CR5 capping station, photoelectric sensor S2 triggers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04967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CR5 picks a cap from the cap dispenser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CR5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66441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CR5 places the cap on the pot, vision check confirms placement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CR5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04557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Conveyor restarts and carries the capped pot downstream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05880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Cycle complete  next pot enters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76593"/>
                  </a:ext>
                </a:extLst>
              </a:tr>
            </a:tbl>
          </a:graphicData>
        </a:graphic>
      </p:graphicFrame>
      <p:sp>
        <p:nvSpPr>
          <p:cNvPr id="4" name="Text 28">
            <a:extLst>
              <a:ext uri="{FF2B5EF4-FFF2-40B4-BE49-F238E27FC236}">
                <a16:creationId xmlns:a16="http://schemas.microsoft.com/office/drawing/2014/main" id="{0984DE6A-B535-3C14-DAA2-4A6DAA7DDE80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B40E8C5D-63A1-3DBB-7BD0-5AE5BBDAB41D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4C86E32-07B4-97AE-C2E7-AF7D65BE5646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1608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82DD7AE-FF80-DED2-3CAF-1F5A8383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73" y="0"/>
            <a:ext cx="10266218" cy="6858000"/>
          </a:xfrm>
          <a:prstGeom prst="rect">
            <a:avLst/>
          </a:prstGeom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0686C0AC-DEBE-AE05-FCE7-A9FBF62E0C51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22328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9CD2FE-116E-472D-F676-8A56D930E3A9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PER-SUBSYSTEM VALIDATION RESULTS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F11D613B-E103-D944-172F-691116630D2B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C8C2F8A-83C0-D885-6C8D-B6D134413461}"/>
              </a:ext>
            </a:extLst>
          </p:cNvPr>
          <p:cNvSpPr txBox="1"/>
          <p:nvPr/>
        </p:nvSpPr>
        <p:spPr>
          <a:xfrm>
            <a:off x="245918" y="944895"/>
            <a:ext cx="611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CONVEYOR (against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first.tdms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, 150-250 s steady window) 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46C683A-B3D2-E95A-80E0-7DF49F809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295489"/>
              </p:ext>
            </p:extLst>
          </p:nvPr>
        </p:nvGraphicFramePr>
        <p:xfrm>
          <a:off x="716972" y="1314227"/>
          <a:ext cx="975706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258">
                  <a:extLst>
                    <a:ext uri="{9D8B030D-6E8A-4147-A177-3AD203B41FA5}">
                      <a16:colId xmlns:a16="http://schemas.microsoft.com/office/drawing/2014/main" val="3744479294"/>
                    </a:ext>
                  </a:extLst>
                </a:gridCol>
                <a:gridCol w="1324096">
                  <a:extLst>
                    <a:ext uri="{9D8B030D-6E8A-4147-A177-3AD203B41FA5}">
                      <a16:colId xmlns:a16="http://schemas.microsoft.com/office/drawing/2014/main" val="378130096"/>
                    </a:ext>
                  </a:extLst>
                </a:gridCol>
                <a:gridCol w="1626177">
                  <a:extLst>
                    <a:ext uri="{9D8B030D-6E8A-4147-A177-3AD203B41FA5}">
                      <a16:colId xmlns:a16="http://schemas.microsoft.com/office/drawing/2014/main" val="3678253844"/>
                    </a:ext>
                  </a:extLst>
                </a:gridCol>
                <a:gridCol w="1626177">
                  <a:extLst>
                    <a:ext uri="{9D8B030D-6E8A-4147-A177-3AD203B41FA5}">
                      <a16:colId xmlns:a16="http://schemas.microsoft.com/office/drawing/2014/main" val="1382496123"/>
                    </a:ext>
                  </a:extLst>
                </a:gridCol>
                <a:gridCol w="1626177">
                  <a:extLst>
                    <a:ext uri="{9D8B030D-6E8A-4147-A177-3AD203B41FA5}">
                      <a16:colId xmlns:a16="http://schemas.microsoft.com/office/drawing/2014/main" val="4115311491"/>
                    </a:ext>
                  </a:extLst>
                </a:gridCol>
                <a:gridCol w="1626177">
                  <a:extLst>
                    <a:ext uri="{9D8B030D-6E8A-4147-A177-3AD203B41FA5}">
                      <a16:colId xmlns:a16="http://schemas.microsoft.com/office/drawing/2014/main" val="3915075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Signal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NRMSE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MAE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FIT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Peak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86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0.9987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0.0132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3.22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96.34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Current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raw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0.5327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0.084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0.41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32.10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22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Current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aligned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0.9124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0.029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0.13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70.40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61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Temperature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0.992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0.30 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91.18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110903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B8C1686-E41D-386E-EB90-B7B35D764EE4}"/>
              </a:ext>
            </a:extLst>
          </p:cNvPr>
          <p:cNvSpPr txBox="1"/>
          <p:nvPr/>
        </p:nvSpPr>
        <p:spPr>
          <a:xfrm>
            <a:off x="245918" y="3353093"/>
            <a:ext cx="611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XY10 (against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four.tdms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burst, 85-100 s) 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2B5B8DE-B9A2-2A6B-36AD-EEC972F82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322020"/>
              </p:ext>
            </p:extLst>
          </p:nvPr>
        </p:nvGraphicFramePr>
        <p:xfrm>
          <a:off x="716972" y="3723933"/>
          <a:ext cx="975706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8532">
                  <a:extLst>
                    <a:ext uri="{9D8B030D-6E8A-4147-A177-3AD203B41FA5}">
                      <a16:colId xmlns:a16="http://schemas.microsoft.com/office/drawing/2014/main" val="4283351543"/>
                    </a:ext>
                  </a:extLst>
                </a:gridCol>
                <a:gridCol w="4878532">
                  <a:extLst>
                    <a:ext uri="{9D8B030D-6E8A-4147-A177-3AD203B41FA5}">
                      <a16:colId xmlns:a16="http://schemas.microsoft.com/office/drawing/2014/main" val="305664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Signal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9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Position 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 to 0.250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30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Position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 to 0.200 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468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Position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 to 0.050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0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Peak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current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i_x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0.041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15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Peak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current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i_y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0.042 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1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Peak power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6.65 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6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Energy/cycle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12.43 J (model) vs 4922 J (measured) 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218993"/>
                  </a:ext>
                </a:extLst>
              </a:tr>
            </a:tbl>
          </a:graphicData>
        </a:graphic>
      </p:graphicFrame>
      <p:sp>
        <p:nvSpPr>
          <p:cNvPr id="10" name="Text 13">
            <a:extLst>
              <a:ext uri="{FF2B5EF4-FFF2-40B4-BE49-F238E27FC236}">
                <a16:creationId xmlns:a16="http://schemas.microsoft.com/office/drawing/2014/main" id="{D6BBC18B-5BD4-E010-3BBE-9E0FB7999D99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81057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4">
            <a:extLst>
              <a:ext uri="{FF2B5EF4-FFF2-40B4-BE49-F238E27FC236}">
                <a16:creationId xmlns:a16="http://schemas.microsoft.com/office/drawing/2014/main" id="{492A438A-A0F7-6FA9-4D95-D3498B9153AC}"/>
              </a:ext>
            </a:extLst>
          </p:cNvPr>
          <p:cNvSpPr/>
          <p:nvPr/>
        </p:nvSpPr>
        <p:spPr>
          <a:xfrm>
            <a:off x="277091" y="272934"/>
            <a:ext cx="11596254" cy="6312132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1" name="Shape 25">
            <a:extLst>
              <a:ext uri="{FF2B5EF4-FFF2-40B4-BE49-F238E27FC236}">
                <a16:creationId xmlns:a16="http://schemas.microsoft.com/office/drawing/2014/main" id="{40FC70CE-C4E9-9D0B-3CFE-06F6341DD5F1}"/>
              </a:ext>
            </a:extLst>
          </p:cNvPr>
          <p:cNvSpPr/>
          <p:nvPr/>
        </p:nvSpPr>
        <p:spPr>
          <a:xfrm>
            <a:off x="252153" y="415636"/>
            <a:ext cx="91440" cy="616943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812428B5-B2A4-AB65-BEEE-904D59046D61}"/>
              </a:ext>
            </a:extLst>
          </p:cNvPr>
          <p:cNvSpPr/>
          <p:nvPr/>
        </p:nvSpPr>
        <p:spPr>
          <a:xfrm>
            <a:off x="11806843" y="415636"/>
            <a:ext cx="66502" cy="616943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7FE206-0229-23FB-4D46-7611C3E580F0}"/>
              </a:ext>
            </a:extLst>
          </p:cNvPr>
          <p:cNvSpPr txBox="1"/>
          <p:nvPr/>
        </p:nvSpPr>
        <p:spPr>
          <a:xfrm>
            <a:off x="368531" y="288076"/>
            <a:ext cx="7002087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PER-SUBSYSTEM RESULTS VALIDATION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CONVEYOR -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Rs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sweep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[6, 8, 10, 12, 14, 16] ohm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 </a:t>
            </a:r>
            <a:r>
              <a:rPr lang="fr-FR" b="1" dirty="0" err="1"/>
              <a:t>I_rms</a:t>
            </a:r>
            <a:r>
              <a:rPr lang="fr-FR" b="1" dirty="0"/>
              <a:t> model: </a:t>
            </a:r>
            <a:r>
              <a:rPr lang="fr-FR" dirty="0"/>
              <a:t>1.624 to 1.633 A (0.6 % variation)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 </a:t>
            </a:r>
            <a:r>
              <a:rPr lang="fr-FR" b="1" dirty="0" err="1"/>
              <a:t>I_rms</a:t>
            </a:r>
            <a:r>
              <a:rPr lang="fr-FR" b="1" dirty="0"/>
              <a:t> </a:t>
            </a:r>
            <a:r>
              <a:rPr lang="fr-FR" b="1" dirty="0" err="1"/>
              <a:t>measured</a:t>
            </a:r>
            <a:r>
              <a:rPr lang="fr-FR" dirty="0"/>
              <a:t>: 1.144 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CONCLUSION: </a:t>
            </a:r>
            <a:r>
              <a:rPr lang="fr-FR" dirty="0" err="1"/>
              <a:t>Rs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sensitive at </a:t>
            </a:r>
            <a:r>
              <a:rPr lang="fr-FR" dirty="0" err="1"/>
              <a:t>this</a:t>
            </a:r>
            <a:r>
              <a:rPr lang="fr-FR" dirty="0"/>
              <a:t> operating point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ROOT CAUSE: </a:t>
            </a:r>
            <a:r>
              <a:rPr lang="fr-FR" dirty="0" err="1"/>
              <a:t>I_no_load</a:t>
            </a:r>
            <a:r>
              <a:rPr lang="fr-FR" dirty="0"/>
              <a:t> ~ </a:t>
            </a:r>
            <a:r>
              <a:rPr lang="fr-FR" dirty="0" err="1"/>
              <a:t>V_phase</a:t>
            </a:r>
            <a:r>
              <a:rPr lang="fr-FR" dirty="0"/>
              <a:t> / (</a:t>
            </a:r>
            <a:r>
              <a:rPr lang="fr-FR" dirty="0" err="1"/>
              <a:t>omega</a:t>
            </a:r>
            <a:r>
              <a:rPr lang="fr-FR" dirty="0"/>
              <a:t> * </a:t>
            </a:r>
            <a:r>
              <a:rPr lang="fr-FR" dirty="0" err="1"/>
              <a:t>L_m</a:t>
            </a:r>
            <a:r>
              <a:rPr lang="fr-FR" dirty="0"/>
              <a:t>), </a:t>
            </a:r>
            <a:r>
              <a:rPr lang="fr-FR" dirty="0" err="1"/>
              <a:t>Rs</a:t>
            </a:r>
            <a:r>
              <a:rPr lang="fr-FR" dirty="0"/>
              <a:t> </a:t>
            </a:r>
            <a:r>
              <a:rPr lang="fr-FR" dirty="0" err="1"/>
              <a:t>irrelevant</a:t>
            </a:r>
            <a:r>
              <a:rPr lang="fr-F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PHASE 2: </a:t>
            </a:r>
            <a:r>
              <a:rPr lang="fr-FR" dirty="0" err="1"/>
              <a:t>Unlock</a:t>
            </a:r>
            <a:r>
              <a:rPr lang="fr-FR" dirty="0"/>
              <a:t> </a:t>
            </a:r>
            <a:r>
              <a:rPr lang="fr-FR" dirty="0" err="1"/>
              <a:t>L_m</a:t>
            </a:r>
            <a:r>
              <a:rPr lang="fr-FR" dirty="0"/>
              <a:t> (</a:t>
            </a:r>
            <a:r>
              <a:rPr lang="fr-FR" dirty="0" err="1"/>
              <a:t>currently</a:t>
            </a:r>
            <a:r>
              <a:rPr lang="fr-FR" dirty="0"/>
              <a:t> '</a:t>
            </a:r>
            <a:r>
              <a:rPr lang="fr-FR" dirty="0" err="1"/>
              <a:t>fixed</a:t>
            </a:r>
            <a:r>
              <a:rPr lang="fr-FR" dirty="0"/>
              <a:t>'), re-run optimiser 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XY10 - friction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sweep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bx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= by [5, 15, 25, 50, 100]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N.s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/m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Energy: </a:t>
            </a:r>
            <a:r>
              <a:rPr lang="fr-FR" dirty="0"/>
              <a:t>5.31 to 7.51 J (41 % </a:t>
            </a:r>
            <a:r>
              <a:rPr lang="fr-FR" dirty="0" err="1"/>
              <a:t>sensitivity</a:t>
            </a:r>
            <a:r>
              <a:rPr lang="fr-FR" dirty="0"/>
              <a:t>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err="1"/>
              <a:t>Measured</a:t>
            </a:r>
            <a:r>
              <a:rPr lang="fr-FR" b="1" dirty="0"/>
              <a:t>: </a:t>
            </a:r>
            <a:r>
              <a:rPr lang="fr-FR" dirty="0"/>
              <a:t>4922 J (400x gap)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CONCLUSION: </a:t>
            </a:r>
            <a:r>
              <a:rPr lang="fr-FR" dirty="0"/>
              <a:t>Friction tuning </a:t>
            </a:r>
            <a:r>
              <a:rPr lang="fr-FR" dirty="0" err="1"/>
              <a:t>cannot</a:t>
            </a:r>
            <a:r>
              <a:rPr lang="fr-FR" dirty="0"/>
              <a:t> close structural gap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ROOT CAUSE: </a:t>
            </a:r>
            <a:r>
              <a:rPr lang="fr-FR" dirty="0"/>
              <a:t>DC-</a:t>
            </a:r>
            <a:r>
              <a:rPr lang="fr-FR" dirty="0" err="1"/>
              <a:t>equivalent</a:t>
            </a:r>
            <a:r>
              <a:rPr lang="fr-FR" dirty="0"/>
              <a:t> </a:t>
            </a:r>
            <a:r>
              <a:rPr lang="fr-FR" dirty="0" err="1"/>
              <a:t>omits</a:t>
            </a:r>
            <a:r>
              <a:rPr lang="fr-FR" dirty="0"/>
              <a:t> stepper holding </a:t>
            </a:r>
            <a:r>
              <a:rPr lang="fr-FR" dirty="0" err="1"/>
              <a:t>current</a:t>
            </a:r>
            <a:r>
              <a:rPr lang="fr-F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PHASE 2: </a:t>
            </a:r>
            <a:r>
              <a:rPr lang="fr-FR" dirty="0" err="1"/>
              <a:t>Add</a:t>
            </a:r>
            <a:r>
              <a:rPr lang="fr-FR" dirty="0"/>
              <a:t> holding-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term</a:t>
            </a:r>
            <a:r>
              <a:rPr lang="fr-FR" dirty="0"/>
              <a:t>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calibrate</a:t>
            </a:r>
            <a:r>
              <a:rPr lang="fr-FR" dirty="0"/>
              <a:t> friction 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952589E-F9CC-4FEE-CC36-DCCA69029174}"/>
              </a:ext>
            </a:extLst>
          </p:cNvPr>
          <p:cNvSpPr txBox="1"/>
          <p:nvPr/>
        </p:nvSpPr>
        <p:spPr>
          <a:xfrm>
            <a:off x="6966065" y="415636"/>
            <a:ext cx="457477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CR5 - joint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damping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d_J2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sweep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[5, 10, 15, 20, 30]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Peak J2 </a:t>
            </a:r>
            <a:r>
              <a:rPr lang="fr-FR" b="1" dirty="0" err="1"/>
              <a:t>omega</a:t>
            </a:r>
            <a:r>
              <a:rPr lang="fr-FR" b="1" dirty="0"/>
              <a:t>: </a:t>
            </a:r>
            <a:r>
              <a:rPr lang="fr-FR" dirty="0"/>
              <a:t>14.5 to 3.9 rad/s (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monotonic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Critical </a:t>
            </a:r>
            <a:r>
              <a:rPr lang="fr-FR" b="1" dirty="0" err="1"/>
              <a:t>damping</a:t>
            </a:r>
            <a:r>
              <a:rPr lang="fr-FR" b="1" dirty="0"/>
              <a:t> </a:t>
            </a:r>
            <a:r>
              <a:rPr lang="fr-FR" dirty="0"/>
              <a:t>at d_J2 ~ 8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CONCLUSION: </a:t>
            </a:r>
            <a:r>
              <a:rPr lang="fr-FR" dirty="0"/>
              <a:t>No </a:t>
            </a:r>
            <a:r>
              <a:rPr lang="fr-FR" dirty="0" err="1"/>
              <a:t>measurement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PHASE 2: </a:t>
            </a:r>
            <a:r>
              <a:rPr lang="fr-FR" dirty="0"/>
              <a:t>Instrument per-joint </a:t>
            </a:r>
            <a:r>
              <a:rPr lang="fr-FR" dirty="0" err="1"/>
              <a:t>motor</a:t>
            </a:r>
            <a:r>
              <a:rPr lang="fr-FR" dirty="0"/>
              <a:t> </a:t>
            </a:r>
            <a:r>
              <a:rPr lang="fr-FR" dirty="0" err="1"/>
              <a:t>current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3191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stages — against reality and against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5349240" cy="6400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 — FMU vs real TDMS field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match the world?</a:t>
            </a:r>
            <a:endParaRPr lang="en-US" sz="1600" dirty="0"/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voltage  conveyor current fundamental  motor temperature rise  XY10 burst envelope  CR5 mass  each compared against measurement.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508760"/>
            <a:ext cx="5349240" cy="64008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FMU vs model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export stay faithful?</a:t>
            </a:r>
            <a:endParaRPr lang="en-US" sz="1600" dirty="0"/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FMU is replayed in Python and compared to the original </a:t>
            </a:r>
            <a:r>
              <a:rPr lang="en-US" sz="1600" dirty="0" err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Dymola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catching any FMU-export bug. Result: essentially lossless (T_motor differs by 0.0001 K).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Signal-processing pipeline (Stage A)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TDMS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157984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31136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×200 / ×10 gains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22192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ms steady window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0096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13248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40–60 Hz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31152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04304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@ 50 kHz → decimate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22208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95360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Cross-correlation align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13264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641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186416" y="5349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6 metrics</a:t>
            </a:r>
            <a:endParaRPr lang="en-US" sz="140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DB2983DF-362C-2AB0-3C3E-2796789C111E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E276F4A-A9D2-360A-CB55-DD5BCA1878C5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22</a:t>
            </a: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A60F711D-2424-D3BB-4ECC-2855A12C75DD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89930A4-753E-4F22-42F9-467B6F12C969}"/>
              </a:ext>
            </a:extLst>
          </p:cNvPr>
          <p:cNvSpPr txBox="1"/>
          <p:nvPr/>
        </p:nvSpPr>
        <p:spPr>
          <a:xfrm>
            <a:off x="3244802" y="49273"/>
            <a:ext cx="6093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 — FMU vs real TDMS field data</a:t>
            </a:r>
            <a:endParaRPr lang="en-US" sz="1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1C23E25-E9F8-BEE9-25B6-A44A3E1B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6" y="333375"/>
            <a:ext cx="10903526" cy="309562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BCE6FFAA-CE13-D693-B525-3C7D2EF6DE3A}"/>
              </a:ext>
            </a:extLst>
          </p:cNvPr>
          <p:cNvSpPr/>
          <p:nvPr/>
        </p:nvSpPr>
        <p:spPr>
          <a:xfrm>
            <a:off x="3822672" y="3239521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FMU vs model</a:t>
            </a:r>
            <a:endParaRPr lang="en-US" sz="145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CFB8B43-07C4-754D-9D92-EFDED1301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87" y="3894404"/>
            <a:ext cx="10888595" cy="2417067"/>
          </a:xfrm>
          <a:prstGeom prst="rect">
            <a:avLst/>
          </a:prstGeom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29049934-FD18-17F1-E60D-7E822071C4DB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93557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HEADLINE-PERFORMANCE METRICS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630936" y="9144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matches the line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2C5F8A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0.999</a:t>
            </a:r>
            <a:endParaRPr lang="en-US" sz="3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 R²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sinusoid · 99.8% peak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74136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D98A1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8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65576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 R²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65576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fundamental, phase-aligned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1F8A7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99.2%</a:t>
            </a:r>
            <a:endParaRPr lang="en-US" sz="3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72784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72784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11.86 K vs 11.95 K obs.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88552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9DB4D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9992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DB4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94.9%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79992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 mass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79992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23.74 kg vs 25 kg brochure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3550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3767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voltage — TDMS measured (blue) vs model sinusoid (red)</a:t>
            </a:r>
            <a:endParaRPr lang="en-US" sz="1400" dirty="0"/>
          </a:p>
        </p:txBody>
      </p:sp>
      <p:pic>
        <p:nvPicPr>
          <p:cNvPr id="22" name="Image 0" descr="/home/claude/deckimg/valid_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14800"/>
            <a:ext cx="5989320" cy="1453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" y="5897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R² = 0.9987 · peak 345.6 V vs 345.1 V (99.8%) 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78040" y="365760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1C3358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5236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EXPORT IS LOSSLESS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745236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T_motor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6112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128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99.99%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7452360" y="4773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i_phase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961120" y="4773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24128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7452360" y="5248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P_elec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96112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 W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241280" y="5248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99.99%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35" name="Text 32"/>
          <p:cNvSpPr/>
          <p:nvPr/>
        </p:nvSpPr>
        <p:spPr>
          <a:xfrm>
            <a:off x="7452360" y="5806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FMU faithfully reproduces the Dymola model  the toolchain itself introduces no error.</a:t>
            </a:r>
            <a:endParaRPr lang="en-US" sz="140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5DA87284-4CED-B19A-BE64-62BE5CBF63CF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64747B40-C127-A14C-56F2-2EEF4D791493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26</a:t>
            </a: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1C6BCD0C-948E-FD47-84E6-02C04E0AEAFB}"/>
              </a:ext>
            </a:extLst>
          </p:cNvPr>
          <p:cNvSpPr/>
          <p:nvPr/>
        </p:nvSpPr>
        <p:spPr>
          <a:xfrm flipV="1">
            <a:off x="0" y="914400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365D1A7-A549-18AD-CF55-F34220EAD9C6}"/>
              </a:ext>
            </a:extLst>
          </p:cNvPr>
          <p:cNvSpPr txBox="1"/>
          <p:nvPr/>
        </p:nvSpPr>
        <p:spPr>
          <a:xfrm>
            <a:off x="277090" y="224043"/>
            <a:ext cx="109450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SIX VALIDATION METRICS - what each one measures </a:t>
            </a:r>
            <a:endParaRPr lang="fr-FR" sz="3000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9F3D2B1-0E17-C24A-6C19-F2DFE3A46389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Shape 24">
            <a:extLst>
              <a:ext uri="{FF2B5EF4-FFF2-40B4-BE49-F238E27FC236}">
                <a16:creationId xmlns:a16="http://schemas.microsoft.com/office/drawing/2014/main" id="{958EB239-0923-DAD9-4562-D72E8929E884}"/>
              </a:ext>
            </a:extLst>
          </p:cNvPr>
          <p:cNvSpPr/>
          <p:nvPr/>
        </p:nvSpPr>
        <p:spPr>
          <a:xfrm>
            <a:off x="277091" y="1011382"/>
            <a:ext cx="11596254" cy="5573684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DD9573EC-C669-3E7C-E1D9-A987E2ADF32C}"/>
                  </a:ext>
                </a:extLst>
              </p:cNvPr>
              <p:cNvSpPr txBox="1"/>
              <p:nvPr/>
            </p:nvSpPr>
            <p:spPr>
              <a:xfrm>
                <a:off x="318654" y="1103230"/>
                <a:ext cx="7813963" cy="6319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en-US" b="1" dirty="0"/>
                  <a:t>R-squared  R²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1 −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𝑆𝑈𝑀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h𝑎</m:t>
                                    </m:r>
                                    <m:sSub>
                                      <m:sSub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𝑆𝑈𝑀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𝑏𝑎𝑟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Range: </a:t>
                </a:r>
                <a:r>
                  <a:rPr lang="en-US" dirty="0"/>
                  <a:t>(-inf, 1]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Measures: </a:t>
                </a:r>
                <a:r>
                  <a:rPr lang="en-US" dirty="0"/>
                  <a:t>variance explained by the model 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fr-FR" b="1" dirty="0"/>
                  <a:t>(2) NRMSE (</a:t>
                </a:r>
                <a:r>
                  <a:rPr lang="fr-FR" b="1" dirty="0" err="1"/>
                  <a:t>normalised</a:t>
                </a:r>
                <a:r>
                  <a:rPr lang="fr-FR" b="1" dirty="0"/>
                  <a:t> root </a:t>
                </a:r>
                <a:r>
                  <a:rPr lang="fr-FR" b="1" dirty="0" err="1"/>
                  <a:t>mean</a:t>
                </a:r>
                <a:r>
                  <a:rPr lang="fr-FR" b="1" dirty="0"/>
                  <a:t> square </a:t>
                </a:r>
                <a:r>
                  <a:rPr lang="fr-FR" b="1" dirty="0" err="1"/>
                  <a:t>error</a:t>
                </a:r>
                <a:r>
                  <a:rPr lang="fr-FR" b="1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b="1" dirty="0"/>
                  <a:t>	</a:t>
                </a:r>
                <a14:m>
                  <m:oMath xmlns:m="http://schemas.openxmlformats.org/officeDocument/2006/math">
                    <m:r>
                      <a:rPr lang="fr-FR" b="1" i="1" dirty="0" smtClean="0">
                        <a:latin typeface="Cambria Math" panose="02040503050406030204" pitchFamily="18" charset="0"/>
                      </a:rPr>
                      <m:t>𝑵𝑹𝑴𝑺𝑬</m:t>
                    </m:r>
                    <m:r>
                      <a:rPr lang="fr-FR" b="1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𝑠𝑞𝑟𝑡</m:t>
                        </m:r>
                        <m:d>
                          <m:dPr>
                            <m:ctrlPr>
                              <a:rPr lang="fr-F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 dirty="0" smtClean="0">
                                <a:latin typeface="Cambria Math" panose="02040503050406030204" pitchFamily="18" charset="0"/>
                              </a:rPr>
                              <m:t>𝑀𝐸𝐴𝑁</m:t>
                            </m:r>
                            <m:d>
                              <m:dPr>
                                <m:ctrlP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fr-F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fr-FR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fr-FR" i="1" dirty="0" smtClean="0">
                                            <a:latin typeface="Cambria Math" panose="02040503050406030204" pitchFamily="18" charset="0"/>
                                          </a:rPr>
                                          <m:t>− 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h𝑎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fr-FR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fr-FR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fr-F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func>
                              <m:funcPr>
                                <m:ctrlP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i="0" dirty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func>
                                  <m:funcPr>
                                    <m:ctrlPr>
                                      <a:rPr lang="fr-F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i="0" dirty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/>
                                </m:func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fr-FR" dirty="0"/>
              </a:p>
              <a:p>
                <a:pPr>
                  <a:lnSpc>
                    <a:spcPct val="150000"/>
                  </a:lnSpc>
                </a:pPr>
                <a:endParaRPr lang="fr-FR" dirty="0"/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(3) MAE (mean absolute error)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𝑴𝑨𝑬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𝑀𝐸𝐴𝑁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h𝑎</m:t>
                                </m:r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fr-FR" dirty="0"/>
                  <a:t>	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DD9573EC-C669-3E7C-E1D9-A987E2ADF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54" y="1103230"/>
                <a:ext cx="7813963" cy="6319615"/>
              </a:xfrm>
              <a:prstGeom prst="rect">
                <a:avLst/>
              </a:prstGeom>
              <a:blipFill>
                <a:blip r:embed="rId2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921D2E4-1C1F-C358-A1DF-B48E2C619112}"/>
                  </a:ext>
                </a:extLst>
              </p:cNvPr>
              <p:cNvSpPr txBox="1"/>
              <p:nvPr/>
            </p:nvSpPr>
            <p:spPr>
              <a:xfrm>
                <a:off x="6608618" y="717780"/>
                <a:ext cx="5811982" cy="2790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fr-FR" dirty="0"/>
              </a:p>
              <a:p>
                <a:pPr>
                  <a:lnSpc>
                    <a:spcPct val="150000"/>
                  </a:lnSpc>
                </a:pPr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b="1" dirty="0"/>
              </a:p>
              <a:p>
                <a:pPr>
                  <a:lnSpc>
                    <a:spcPct val="150000"/>
                  </a:lnSpc>
                </a:pPr>
                <a:r>
                  <a:rPr lang="fr-FR" b="1" dirty="0"/>
                  <a:t>(4) Peak ratio 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dirty="0"/>
                  <a:t>	</a:t>
                </a:r>
                <a:r>
                  <a:rPr lang="fr-FR" b="1" dirty="0"/>
                  <a:t>PR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i="1" dirty="0" err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i="1" dirty="0" err="1" smtClean="0">
                                        <a:latin typeface="Cambria Math" panose="02040503050406030204" pitchFamily="18" charset="0"/>
                                      </a:rPr>
                                      <m:t>h𝑎𝑡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fr-FR" dirty="0"/>
              </a:p>
              <a:p>
                <a:pPr>
                  <a:lnSpc>
                    <a:spcPct val="150000"/>
                  </a:lnSpc>
                </a:pPr>
                <a:r>
                  <a:rPr lang="fr-FR" dirty="0"/>
                  <a:t> </a:t>
                </a: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921D2E4-1C1F-C358-A1DF-B48E2C61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18" y="717780"/>
                <a:ext cx="5811982" cy="2790059"/>
              </a:xfrm>
              <a:prstGeom prst="rect">
                <a:avLst/>
              </a:prstGeom>
              <a:blipFill>
                <a:blip r:embed="rId3"/>
                <a:stretch>
                  <a:fillRect l="-8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25">
            <a:extLst>
              <a:ext uri="{FF2B5EF4-FFF2-40B4-BE49-F238E27FC236}">
                <a16:creationId xmlns:a16="http://schemas.microsoft.com/office/drawing/2014/main" id="{317BE680-90C0-2423-828E-CEB7C1789EBD}"/>
              </a:ext>
            </a:extLst>
          </p:cNvPr>
          <p:cNvSpPr/>
          <p:nvPr/>
        </p:nvSpPr>
        <p:spPr>
          <a:xfrm>
            <a:off x="252153" y="1011382"/>
            <a:ext cx="91440" cy="557368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4" name="Shape 25">
            <a:extLst>
              <a:ext uri="{FF2B5EF4-FFF2-40B4-BE49-F238E27FC236}">
                <a16:creationId xmlns:a16="http://schemas.microsoft.com/office/drawing/2014/main" id="{953E2DFA-F401-FBB8-1540-9724DD8B2C8D}"/>
              </a:ext>
            </a:extLst>
          </p:cNvPr>
          <p:cNvSpPr/>
          <p:nvPr/>
        </p:nvSpPr>
        <p:spPr>
          <a:xfrm>
            <a:off x="11785369" y="1011382"/>
            <a:ext cx="91440" cy="557368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F053043-56D8-9B21-BB3C-932A390EB9A7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84824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FD57AC-3A63-EB77-88D6-E0B97060B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2" y="0"/>
            <a:ext cx="11873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43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EE4326D-CCEE-64DD-58F2-DD7C00DD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" y="0"/>
            <a:ext cx="11831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90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01F7FD1-AFAC-FC02-BB2B-CE60F408958B}"/>
              </a:ext>
            </a:extLst>
          </p:cNvPr>
          <p:cNvSpPr txBox="1"/>
          <p:nvPr/>
        </p:nvSpPr>
        <p:spPr>
          <a:xfrm>
            <a:off x="277090" y="224043"/>
            <a:ext cx="109450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MODEL CALLIBRATION</a:t>
            </a:r>
            <a:endParaRPr lang="fr-FR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7BAFC8A4-DD80-ABEC-169B-5F7593E33101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D24AD19-F27B-26C8-CDDB-5CCABA9B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0633"/>
            <a:ext cx="12172950" cy="3534858"/>
          </a:xfrm>
          <a:prstGeom prst="rect">
            <a:avLst/>
          </a:prstGeom>
        </p:spPr>
      </p:pic>
      <p:sp>
        <p:nvSpPr>
          <p:cNvPr id="8" name="Shape 24">
            <a:extLst>
              <a:ext uri="{FF2B5EF4-FFF2-40B4-BE49-F238E27FC236}">
                <a16:creationId xmlns:a16="http://schemas.microsoft.com/office/drawing/2014/main" id="{0C3D9BF3-F305-195E-8DE1-3F8C1E10FF29}"/>
              </a:ext>
            </a:extLst>
          </p:cNvPr>
          <p:cNvSpPr/>
          <p:nvPr/>
        </p:nvSpPr>
        <p:spPr>
          <a:xfrm>
            <a:off x="237258" y="869409"/>
            <a:ext cx="11596254" cy="2121223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BA4075-EB66-9280-3315-02FAD741C823}"/>
              </a:ext>
            </a:extLst>
          </p:cNvPr>
          <p:cNvSpPr txBox="1"/>
          <p:nvPr/>
        </p:nvSpPr>
        <p:spPr>
          <a:xfrm>
            <a:off x="358488" y="843634"/>
            <a:ext cx="11935692" cy="214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5-STEP WORKFLOW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Cost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function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J(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theta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 = 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SUM 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y_measured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-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y_model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theta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))²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Design of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experiments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Train on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first.tdms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150-250 s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steady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window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Validate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on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second.tdms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(cross-validation)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Sensitivity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analysis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S(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y,theta_i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 = 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dy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dtheta_i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) * (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theta_i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/ y)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Normalised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so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different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parameters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are comparable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Optimisation Levenberg-Marquardt via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scipy.optimize.least_squares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Validation on </a:t>
            </a:r>
            <a:r>
              <a:rPr lang="fr-FR" sz="1600" dirty="0" err="1">
                <a:solidFill>
                  <a:schemeClr val="accent1">
                    <a:lumMod val="50000"/>
                  </a:schemeClr>
                </a:solidFill>
              </a:rPr>
              <a:t>held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-out data</a:t>
            </a:r>
            <a:endParaRPr lang="fr-FR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90D0EEAC-8595-A1BF-0526-4D30F8830585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00308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903B45-76AA-F5E5-5835-53383AC8F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5" y="0"/>
            <a:ext cx="11388436" cy="6858000"/>
          </a:xfrm>
          <a:prstGeom prst="rect">
            <a:avLst/>
          </a:prstGeom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E24C5A71-F689-D00B-FCEC-F053E5E01CFF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251977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DELIVERABLES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826757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delivered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407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modelling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modelling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6992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15316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modelling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3024" y="1868285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79392" y="2359152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2352931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export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53128" y="271247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2377194"/>
            <a:ext cx="3520440" cy="7227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960" y="2376287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239548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8388" y="273827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36992" y="231448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50783" y="2315098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8" name="Text 36"/>
          <p:cNvSpPr/>
          <p:nvPr/>
        </p:nvSpPr>
        <p:spPr>
          <a:xfrm>
            <a:off x="8165592" y="226979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measurements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79383" y="268099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93192" y="5302988"/>
            <a:ext cx="11064240" cy="1075054"/>
          </a:xfrm>
          <a:prstGeom prst="roundRect">
            <a:avLst>
              <a:gd name="adj" fmla="val 7273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3" name="Text 51"/>
          <p:cNvSpPr/>
          <p:nvPr/>
        </p:nvSpPr>
        <p:spPr>
          <a:xfrm>
            <a:off x="530352" y="5152638"/>
            <a:ext cx="10725912" cy="1289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(Corps)"/>
                <a:ea typeface="Trebuchet MS" pitchFamily="34" charset="-122"/>
                <a:cs typeface="Trebuchet MS" pitchFamily="34" charset="-120"/>
              </a:rPr>
              <a:t>10 are  </a:t>
            </a:r>
            <a:r>
              <a:rPr lang="en-US" sz="1600" dirty="0">
                <a:solidFill>
                  <a:srgbClr val="C9D6E8"/>
                </a:solidFill>
                <a:latin typeface="Calibri (Corps)"/>
                <a:ea typeface="Trebuchet MS" pitchFamily="34" charset="-122"/>
                <a:cs typeface="Trebuchet MS" pitchFamily="34" charset="-120"/>
              </a:rPr>
              <a:t>fully delivered.   The two open items  sensitivity/observability and parameter identification have their workflow and tooling (Dymola 2026x calibration UI) defined for Phase 2.</a:t>
            </a:r>
            <a:endParaRPr lang="en-US" sz="1600" dirty="0">
              <a:latin typeface="Calibri (Corps)"/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60BEE97C-2D88-5045-4A2C-76436D90F385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5761B2AD-749B-35EC-3E28-91E55AB22C42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32</a:t>
            </a: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A2D5745D-A0FC-6559-AC99-90B489104053}"/>
              </a:ext>
            </a:extLst>
          </p:cNvPr>
          <p:cNvSpPr/>
          <p:nvPr/>
        </p:nvSpPr>
        <p:spPr>
          <a:xfrm flipV="1">
            <a:off x="-38100" y="797833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6" name="Shape 34">
            <a:extLst>
              <a:ext uri="{FF2B5EF4-FFF2-40B4-BE49-F238E27FC236}">
                <a16:creationId xmlns:a16="http://schemas.microsoft.com/office/drawing/2014/main" id="{877A0CFD-EAA8-2797-5EFF-614D37097FF4}"/>
              </a:ext>
            </a:extLst>
          </p:cNvPr>
          <p:cNvSpPr/>
          <p:nvPr/>
        </p:nvSpPr>
        <p:spPr>
          <a:xfrm>
            <a:off x="566928" y="3297097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Shape 27">
            <a:extLst>
              <a:ext uri="{FF2B5EF4-FFF2-40B4-BE49-F238E27FC236}">
                <a16:creationId xmlns:a16="http://schemas.microsoft.com/office/drawing/2014/main" id="{5396D34B-6CF2-CCD0-6419-B552E766FD94}"/>
              </a:ext>
            </a:extLst>
          </p:cNvPr>
          <p:cNvSpPr/>
          <p:nvPr/>
        </p:nvSpPr>
        <p:spPr>
          <a:xfrm>
            <a:off x="570299" y="3304057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85D858EA-A58B-9BCA-2794-96EFE1389C66}"/>
              </a:ext>
            </a:extLst>
          </p:cNvPr>
          <p:cNvSpPr/>
          <p:nvPr/>
        </p:nvSpPr>
        <p:spPr>
          <a:xfrm>
            <a:off x="795528" y="3301703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Calibration</a:t>
            </a:r>
            <a:endParaRPr lang="en-US" sz="1600" dirty="0"/>
          </a:p>
        </p:txBody>
      </p:sp>
      <p:sp>
        <p:nvSpPr>
          <p:cNvPr id="19" name="Text 29">
            <a:extLst>
              <a:ext uri="{FF2B5EF4-FFF2-40B4-BE49-F238E27FC236}">
                <a16:creationId xmlns:a16="http://schemas.microsoft.com/office/drawing/2014/main" id="{F9FD5FFA-6E25-FFDC-7ADD-C4414B557151}"/>
              </a:ext>
            </a:extLst>
          </p:cNvPr>
          <p:cNvSpPr/>
          <p:nvPr/>
        </p:nvSpPr>
        <p:spPr>
          <a:xfrm>
            <a:off x="795528" y="3624409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0" name="Shape 34">
            <a:extLst>
              <a:ext uri="{FF2B5EF4-FFF2-40B4-BE49-F238E27FC236}">
                <a16:creationId xmlns:a16="http://schemas.microsoft.com/office/drawing/2014/main" id="{6DCC6357-1949-C14B-F327-2E6E9806DD5B}"/>
              </a:ext>
            </a:extLst>
          </p:cNvPr>
          <p:cNvSpPr/>
          <p:nvPr/>
        </p:nvSpPr>
        <p:spPr>
          <a:xfrm>
            <a:off x="4292831" y="3283929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Shape 27">
            <a:extLst>
              <a:ext uri="{FF2B5EF4-FFF2-40B4-BE49-F238E27FC236}">
                <a16:creationId xmlns:a16="http://schemas.microsoft.com/office/drawing/2014/main" id="{A993BFAC-734E-22B8-D539-ABCA74ADA896}"/>
              </a:ext>
            </a:extLst>
          </p:cNvPr>
          <p:cNvSpPr/>
          <p:nvPr/>
        </p:nvSpPr>
        <p:spPr>
          <a:xfrm>
            <a:off x="4328136" y="3304057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32D78A86-3CD3-EBA1-8881-95194707A427}"/>
              </a:ext>
            </a:extLst>
          </p:cNvPr>
          <p:cNvSpPr/>
          <p:nvPr/>
        </p:nvSpPr>
        <p:spPr>
          <a:xfrm>
            <a:off x="4507992" y="327016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Performance metrics</a:t>
            </a: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4AE4B12E-9BB4-1D1F-55FC-65879A8DEA0A}"/>
              </a:ext>
            </a:extLst>
          </p:cNvPr>
          <p:cNvSpPr/>
          <p:nvPr/>
        </p:nvSpPr>
        <p:spPr>
          <a:xfrm>
            <a:off x="4507992" y="3658471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34BC405D-B5EE-E521-0F9A-F1C7C3A6B49D}"/>
              </a:ext>
            </a:extLst>
          </p:cNvPr>
          <p:cNvSpPr/>
          <p:nvPr/>
        </p:nvSpPr>
        <p:spPr>
          <a:xfrm>
            <a:off x="8042223" y="3283929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F9C2860A-92C3-930E-FBE0-5B786DBF16FF}"/>
              </a:ext>
            </a:extLst>
          </p:cNvPr>
          <p:cNvSpPr/>
          <p:nvPr/>
        </p:nvSpPr>
        <p:spPr>
          <a:xfrm>
            <a:off x="8270823" y="3313439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Energy Analysis</a:t>
            </a: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F74B76BD-7613-C8E6-C437-A68345A2D602}"/>
              </a:ext>
            </a:extLst>
          </p:cNvPr>
          <p:cNvSpPr/>
          <p:nvPr/>
        </p:nvSpPr>
        <p:spPr>
          <a:xfrm>
            <a:off x="8276983" y="3658471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790FA4CE-8A59-3152-B1EC-4E6903E6B061}"/>
              </a:ext>
            </a:extLst>
          </p:cNvPr>
          <p:cNvSpPr/>
          <p:nvPr/>
        </p:nvSpPr>
        <p:spPr>
          <a:xfrm>
            <a:off x="8071067" y="3315202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4C7B3146-2CCA-F5D3-8CFA-FA16F10330D0}"/>
              </a:ext>
            </a:extLst>
          </p:cNvPr>
          <p:cNvSpPr/>
          <p:nvPr/>
        </p:nvSpPr>
        <p:spPr>
          <a:xfrm>
            <a:off x="566928" y="4321872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AAAECB20-521D-4953-4AAF-67C74275A097}"/>
              </a:ext>
            </a:extLst>
          </p:cNvPr>
          <p:cNvSpPr/>
          <p:nvPr/>
        </p:nvSpPr>
        <p:spPr>
          <a:xfrm>
            <a:off x="594960" y="4344169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60297E49-7317-3DFE-721B-C669C3984968}"/>
              </a:ext>
            </a:extLst>
          </p:cNvPr>
          <p:cNvSpPr/>
          <p:nvPr/>
        </p:nvSpPr>
        <p:spPr>
          <a:xfrm>
            <a:off x="820617" y="4344169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Discrete event scheduling</a:t>
            </a: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93945CF7-0C2A-DBF0-3C5F-25697976B377}"/>
              </a:ext>
            </a:extLst>
          </p:cNvPr>
          <p:cNvSpPr/>
          <p:nvPr/>
        </p:nvSpPr>
        <p:spPr>
          <a:xfrm>
            <a:off x="841248" y="47036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64008" cy="6858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D98A12"/>
          </a:solidFill>
          <a:ln/>
        </p:spPr>
      </p:sp>
      <p:sp>
        <p:nvSpPr>
          <p:cNvPr id="5" name="Text 3"/>
          <p:cNvSpPr/>
          <p:nvPr/>
        </p:nvSpPr>
        <p:spPr>
          <a:xfrm>
            <a:off x="557784" y="327799"/>
            <a:ext cx="10339680" cy="251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606551" y="445131"/>
            <a:ext cx="1123970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validated multiphysics digital model of the ALIX line — three subsystems, three physics domains — matching the real line to R² = 0.999 on voltage, 0.91 on current and 99.2% on thermal, with every residual physically explained.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6551" y="1903751"/>
            <a:ext cx="3672841" cy="4085569"/>
          </a:xfrm>
          <a:prstGeom prst="roundRect">
            <a:avLst>
              <a:gd name="adj" fmla="val 3810"/>
            </a:avLst>
          </a:prstGeom>
          <a:solidFill>
            <a:schemeClr val="accent1">
              <a:lumMod val="60000"/>
              <a:lumOff val="40000"/>
              <a:alpha val="51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0003" y="2039184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671624" y="2022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1223" y="2121821"/>
            <a:ext cx="2254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Digital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Twin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Successfully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Established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00003" y="3267038"/>
            <a:ext cx="3372228" cy="236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A complete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multiphysics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digital representation of the ALIX Industry 5.0 production line was successfully developed.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Three major subsystems (Conveyor, CR5, XY10) were modelled and exported as FMI-compliant FMUs.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End-to-end production-line orchestration was achieved through Python. </a:t>
            </a:r>
          </a:p>
        </p:txBody>
      </p:sp>
      <p:sp>
        <p:nvSpPr>
          <p:cNvPr id="12" name="Shape 10"/>
          <p:cNvSpPr/>
          <p:nvPr/>
        </p:nvSpPr>
        <p:spPr>
          <a:xfrm>
            <a:off x="4443984" y="1903751"/>
            <a:ext cx="3782820" cy="4085568"/>
          </a:xfrm>
          <a:prstGeom prst="roundRect">
            <a:avLst>
              <a:gd name="adj" fmla="val 3810"/>
            </a:avLst>
          </a:prstGeom>
          <a:solidFill>
            <a:schemeClr val="accent1">
              <a:lumMod val="40000"/>
              <a:lumOff val="60000"/>
              <a:alpha val="49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6443" y="19960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4488064" y="19825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3092" y="2064313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Experimental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Validation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Confirms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Model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Reliability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16442" y="3544744"/>
            <a:ext cx="3569207" cy="1507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 developed models demonstrated strong agreement with real industrial measurements, validating their suitability for engineering analysis and decision support.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Voltage prediction accuracy: R² = 0.999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Current prediction accuracy: R² = 0.91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Thermal prediction accuracy: 99.2% </a:t>
            </a:r>
          </a:p>
        </p:txBody>
      </p:sp>
      <p:sp>
        <p:nvSpPr>
          <p:cNvPr id="17" name="Shape 15"/>
          <p:cNvSpPr/>
          <p:nvPr/>
        </p:nvSpPr>
        <p:spPr>
          <a:xfrm>
            <a:off x="8453832" y="1903751"/>
            <a:ext cx="3559813" cy="4085568"/>
          </a:xfrm>
          <a:prstGeom prst="roundRect">
            <a:avLst>
              <a:gd name="adj" fmla="val 3810"/>
            </a:avLst>
          </a:prstGeom>
          <a:solidFill>
            <a:schemeClr val="accent1">
              <a:lumMod val="20000"/>
              <a:lumOff val="80000"/>
              <a:alpha val="27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86217" y="2027030"/>
            <a:ext cx="457200" cy="4572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8558784" y="20187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28760" y="208640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Foundation for Industry 5.0 Optimization</a:t>
            </a:r>
          </a:p>
        </p:txBody>
      </p:sp>
      <p:sp>
        <p:nvSpPr>
          <p:cNvPr id="21" name="Text 19"/>
          <p:cNvSpPr/>
          <p:nvPr/>
        </p:nvSpPr>
        <p:spPr>
          <a:xfrm>
            <a:off x="8586217" y="3549671"/>
            <a:ext cx="3324048" cy="1534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Beyond simulation, the digital twin enables future predictive maintenance, energy optimization, and intelligent production-line reconfiguration.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Model architecture supports parameter identification, sensitivity analysis, and real-time monitoring. </a:t>
            </a:r>
          </a:p>
        </p:txBody>
      </p:sp>
      <p:sp>
        <p:nvSpPr>
          <p:cNvPr id="22" name="Text 20"/>
          <p:cNvSpPr/>
          <p:nvPr/>
        </p:nvSpPr>
        <p:spPr>
          <a:xfrm>
            <a:off x="822960" y="6091289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Satre   ·   Euler Laboratory, ISAE-Supméca   ·   github.com/samikshasatre/Mechatronics-modelling-of-entire-industry-5.0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71250E6D-F6D2-B678-B062-F2C57B72ED55}"/>
              </a:ext>
            </a:extLst>
          </p:cNvPr>
          <p:cNvSpPr/>
          <p:nvPr/>
        </p:nvSpPr>
        <p:spPr>
          <a:xfrm>
            <a:off x="557784" y="651329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CC761D3-5354-83A7-A8CC-9745396B8733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64008" cy="6858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D98A12"/>
          </a:solidFill>
          <a:ln/>
        </p:spPr>
      </p:sp>
      <p:sp>
        <p:nvSpPr>
          <p:cNvPr id="5" name="Text 3"/>
          <p:cNvSpPr/>
          <p:nvPr/>
        </p:nvSpPr>
        <p:spPr>
          <a:xfrm>
            <a:off x="557784" y="327799"/>
            <a:ext cx="10339680" cy="251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OPPORTUNITY</a:t>
            </a:r>
            <a:r>
              <a:rPr lang="fr-F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😊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606551" y="445131"/>
            <a:ext cx="1123970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highlight>
                  <a:srgbClr val="C0C0C0"/>
                </a:highlight>
              </a:rPr>
              <a:t>"From a tier-two city in Maharashtra to a research laboratory in Paris — this internship is the longest distance I have ever travelled, in every sense of the word. Thank you for making it possible."</a:t>
            </a:r>
          </a:p>
        </p:txBody>
      </p:sp>
      <p:sp>
        <p:nvSpPr>
          <p:cNvPr id="7" name="Shape 5"/>
          <p:cNvSpPr/>
          <p:nvPr/>
        </p:nvSpPr>
        <p:spPr>
          <a:xfrm>
            <a:off x="344626" y="1903751"/>
            <a:ext cx="2712648" cy="4260252"/>
          </a:xfrm>
          <a:prstGeom prst="roundRect">
            <a:avLst>
              <a:gd name="adj" fmla="val 3810"/>
            </a:avLst>
          </a:prstGeom>
          <a:solidFill>
            <a:schemeClr val="tx2">
              <a:lumMod val="20000"/>
              <a:lumOff val="80000"/>
              <a:alpha val="35000"/>
            </a:schemeClr>
          </a:solidFill>
          <a:ln w="12700">
            <a:solidFill>
              <a:schemeClr val="tx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9162" y="2080248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410783" y="2069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2811" y="2096651"/>
            <a:ext cx="2254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TECHNICAL SKILLS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0003" y="3267038"/>
            <a:ext cx="3372228" cy="236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54021" y="1891533"/>
            <a:ext cx="3045539" cy="4272470"/>
          </a:xfrm>
          <a:prstGeom prst="roundRect">
            <a:avLst>
              <a:gd name="adj" fmla="val 3810"/>
            </a:avLst>
          </a:prstGeom>
          <a:solidFill>
            <a:schemeClr val="accent1">
              <a:lumMod val="40000"/>
              <a:lumOff val="60000"/>
              <a:alpha val="31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6854" y="1998269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3260478" y="2013036"/>
            <a:ext cx="457200" cy="412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8687" y="2048565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INTERPERSONAL &amp; METHODOLOGICAL 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16442" y="3544744"/>
            <a:ext cx="3569207" cy="1507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73939" y="1891531"/>
            <a:ext cx="3569207" cy="4272470"/>
          </a:xfrm>
          <a:prstGeom prst="roundRect">
            <a:avLst>
              <a:gd name="adj" fmla="val 3810"/>
            </a:avLst>
          </a:prstGeom>
          <a:solidFill>
            <a:schemeClr val="accent1">
              <a:lumMod val="20000"/>
              <a:lumOff val="80000"/>
              <a:alpha val="28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28560" y="2039852"/>
            <a:ext cx="457200" cy="4572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Text 17"/>
          <p:cNvSpPr/>
          <p:nvPr/>
        </p:nvSpPr>
        <p:spPr>
          <a:xfrm>
            <a:off x="6514640" y="20196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46218" y="202958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Foundation for Industry 5.0 Optimization</a:t>
            </a:r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71250E6D-F6D2-B678-B062-F2C57B72ED55}"/>
              </a:ext>
            </a:extLst>
          </p:cNvPr>
          <p:cNvSpPr/>
          <p:nvPr/>
        </p:nvSpPr>
        <p:spPr>
          <a:xfrm>
            <a:off x="557784" y="651329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CC761D3-5354-83A7-A8CC-9745396B8733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26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2848BB6A-689C-B58D-14F0-8004F7619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80" y="2309609"/>
            <a:ext cx="2559720" cy="3747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Dymola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on 3DEXPERIENCE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FMI 2.0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co-simulation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600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GIT/GITHUB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Nptdms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600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Anaconda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600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Modelica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Multiphysics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coupling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Signal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processing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CAD-to-model workflow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17626519-536B-1A6F-EC2A-B159371E5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633" y="2853463"/>
            <a:ext cx="2794333" cy="300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Engineering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rigour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Scope discipline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Working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in a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research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lab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Cross-cultural collaboration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Honest</a:t>
            </a:r>
            <a:r>
              <a:rPr lang="fr-FR" altLang="fr-FR" sz="1600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scientific</a:t>
            </a:r>
            <a:r>
              <a:rPr lang="fr-FR" altLang="fr-FR" sz="1600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communication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Translating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supervisor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feedback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into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structured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work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303EDB2-9D61-7F54-2ED9-C3F95A88EEBE}"/>
              </a:ext>
            </a:extLst>
          </p:cNvPr>
          <p:cNvSpPr txBox="1"/>
          <p:nvPr/>
        </p:nvSpPr>
        <p:spPr>
          <a:xfrm>
            <a:off x="6559577" y="2866829"/>
            <a:ext cx="3397929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Four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months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in Paris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Daily life at ISAE-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Supméca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and the Euler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Lab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Discovering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French engineering culture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highlight>
                <a:srgbClr val="C0C0C0"/>
              </a:highlight>
              <a:latin typeface="Calibri (Corps)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First international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internship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A perspective I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will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keep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my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whole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career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C0C0C0"/>
                </a:highlight>
                <a:latin typeface="Calibri (Corps)"/>
              </a:rPr>
              <a:t> 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C4103BC-31E0-83AD-4870-7A0BEF99FDB1}"/>
              </a:ext>
            </a:extLst>
          </p:cNvPr>
          <p:cNvSpPr/>
          <p:nvPr/>
        </p:nvSpPr>
        <p:spPr>
          <a:xfrm>
            <a:off x="11663376" y="651329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highlight>
                  <a:srgbClr val="C0C0C0"/>
                </a:highlight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77868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8E246-4BC8-C9A7-7376-A9B04437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23F10A-EB6C-E532-5BC3-6E478A2AB5F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D36538-B0C6-5907-16CF-099BE2963883}"/>
              </a:ext>
            </a:extLst>
          </p:cNvPr>
          <p:cNvSpPr/>
          <p:nvPr/>
        </p:nvSpPr>
        <p:spPr>
          <a:xfrm>
            <a:off x="64008" y="0"/>
            <a:ext cx="64008" cy="6858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478BB2-A9F7-65DC-5460-566047C892F8}"/>
              </a:ext>
            </a:extLst>
          </p:cNvPr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D98A1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4FFEF5-2F10-E10A-A016-AC62C9ACBE27}"/>
              </a:ext>
            </a:extLst>
          </p:cNvPr>
          <p:cNvSpPr/>
          <p:nvPr/>
        </p:nvSpPr>
        <p:spPr>
          <a:xfrm>
            <a:off x="557784" y="44970"/>
            <a:ext cx="10339680" cy="89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THANKING ALL 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😊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A847ED-A130-37C5-DFA4-A79C77689683}"/>
              </a:ext>
            </a:extLst>
          </p:cNvPr>
          <p:cNvSpPr/>
          <p:nvPr/>
        </p:nvSpPr>
        <p:spPr>
          <a:xfrm>
            <a:off x="642095" y="2087113"/>
            <a:ext cx="5271721" cy="4715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Project Guides Name</a:t>
            </a: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Romain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Delabeye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Roshan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Pushan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Dr.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Shriniwas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Metan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Moncef HAMMADI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Thierno DIALLO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La Fondation Dassault System France</a:t>
            </a: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Heman Gadgil</a:t>
            </a: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Salim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Huzefa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Ms. Marie Pierre AULAS</a:t>
            </a:r>
          </a:p>
          <a:p>
            <a:pPr marL="573088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GALEA Jean-Marc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A13FD9-358D-B367-4849-F80927F2C245}"/>
              </a:ext>
            </a:extLst>
          </p:cNvPr>
          <p:cNvSpPr/>
          <p:nvPr/>
        </p:nvSpPr>
        <p:spPr>
          <a:xfrm>
            <a:off x="410783" y="2069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C459DFC-6C01-46C6-F7AB-8C0745BFD57A}"/>
              </a:ext>
            </a:extLst>
          </p:cNvPr>
          <p:cNvSpPr/>
          <p:nvPr/>
        </p:nvSpPr>
        <p:spPr>
          <a:xfrm>
            <a:off x="700003" y="3267038"/>
            <a:ext cx="3372228" cy="236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FBCE70D-A504-9F1F-EF6A-D1B6372FD3B7}"/>
              </a:ext>
            </a:extLst>
          </p:cNvPr>
          <p:cNvSpPr/>
          <p:nvPr/>
        </p:nvSpPr>
        <p:spPr>
          <a:xfrm>
            <a:off x="8586217" y="3549671"/>
            <a:ext cx="3324048" cy="1534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CA9D804C-54DF-DC38-EB6B-582A4933AEB2}"/>
              </a:ext>
            </a:extLst>
          </p:cNvPr>
          <p:cNvSpPr/>
          <p:nvPr/>
        </p:nvSpPr>
        <p:spPr>
          <a:xfrm>
            <a:off x="557784" y="651329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9DFC9B83-7BF5-2D7A-DE42-A0E6FAB16C63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26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BB7A532-E969-A833-36B9-A719BCB80C5C}"/>
              </a:ext>
            </a:extLst>
          </p:cNvPr>
          <p:cNvSpPr/>
          <p:nvPr/>
        </p:nvSpPr>
        <p:spPr>
          <a:xfrm>
            <a:off x="6638544" y="1170051"/>
            <a:ext cx="5271721" cy="4715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NKOCTE &amp; ISAE SUPMECA INSTITUTE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Sudhirkumar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Dhotre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Adarsh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Chandanshive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Dr. P .D .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Bahirgonde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R. R. Patil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Mr. Akhtar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Nadaf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Dr. Francesco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Calibri (Corps)"/>
              </a:rPr>
              <a:t>Ciampi</a:t>
            </a: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  <a:latin typeface="Calibri (Corps)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A1B6546C-D7A1-C5A7-5A78-9184276C4338}"/>
              </a:ext>
            </a:extLst>
          </p:cNvPr>
          <p:cNvSpPr/>
          <p:nvPr/>
        </p:nvSpPr>
        <p:spPr>
          <a:xfrm>
            <a:off x="11696905" y="651329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highlight>
                  <a:srgbClr val="C0C0C0"/>
                </a:highlight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22043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1" id="{8B6F2118-8764-478A-86E4-C1D5536AF902}" vid="{AB981AC2-E895-480E-A60E-9FA1B1EDA1B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</Template>
  <TotalTime>7984</TotalTime>
  <Words>3200</Words>
  <Application>Microsoft Office PowerPoint</Application>
  <PresentationFormat>Grand écran</PresentationFormat>
  <Paragraphs>664</Paragraphs>
  <Slides>37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5" baseType="lpstr">
      <vt:lpstr>Aptos Display</vt:lpstr>
      <vt:lpstr>Arial</vt:lpstr>
      <vt:lpstr>Calibri</vt:lpstr>
      <vt:lpstr>Calibri (Corps)</vt:lpstr>
      <vt:lpstr>Cambria Math</vt:lpstr>
      <vt:lpstr>Trebuchet MS</vt:lpstr>
      <vt:lpstr>Wingdings</vt:lpstr>
      <vt:lpstr>Thème1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Mechatronics Modelling of an Entire Industry 5.0 Production Line</dc:title>
  <dc:subject>PptxGenJS Presentation</dc:subject>
  <dc:creator>Samiksha Satre</dc:creator>
  <cp:lastModifiedBy>SATRE Samiksha</cp:lastModifiedBy>
  <cp:revision>188</cp:revision>
  <dcterms:created xsi:type="dcterms:W3CDTF">2026-05-31T13:48:38Z</dcterms:created>
  <dcterms:modified xsi:type="dcterms:W3CDTF">2026-06-08T08:13:03Z</dcterms:modified>
</cp:coreProperties>
</file>