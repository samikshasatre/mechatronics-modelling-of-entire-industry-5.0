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notesMasterIdLst>
    <p:notesMasterId r:id="rId35"/>
  </p:notesMasterIdLst>
  <p:sldIdLst>
    <p:sldId id="256" r:id="rId2"/>
    <p:sldId id="278" r:id="rId3"/>
    <p:sldId id="257" r:id="rId4"/>
    <p:sldId id="258" r:id="rId5"/>
    <p:sldId id="274" r:id="rId6"/>
    <p:sldId id="262" r:id="rId7"/>
    <p:sldId id="259" r:id="rId8"/>
    <p:sldId id="279" r:id="rId9"/>
    <p:sldId id="280" r:id="rId10"/>
    <p:sldId id="281" r:id="rId11"/>
    <p:sldId id="282" r:id="rId12"/>
    <p:sldId id="288" r:id="rId13"/>
    <p:sldId id="295" r:id="rId14"/>
    <p:sldId id="283" r:id="rId15"/>
    <p:sldId id="284" r:id="rId16"/>
    <p:sldId id="287" r:id="rId17"/>
    <p:sldId id="276" r:id="rId18"/>
    <p:sldId id="264" r:id="rId19"/>
    <p:sldId id="289" r:id="rId20"/>
    <p:sldId id="285" r:id="rId21"/>
    <p:sldId id="290" r:id="rId22"/>
    <p:sldId id="291" r:id="rId23"/>
    <p:sldId id="292" r:id="rId24"/>
    <p:sldId id="275" r:id="rId25"/>
    <p:sldId id="294" r:id="rId26"/>
    <p:sldId id="277" r:id="rId27"/>
    <p:sldId id="261" r:id="rId28"/>
    <p:sldId id="266" r:id="rId29"/>
    <p:sldId id="267" r:id="rId30"/>
    <p:sldId id="268" r:id="rId31"/>
    <p:sldId id="269" r:id="rId32"/>
    <p:sldId id="271" r:id="rId33"/>
    <p:sldId id="273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Energy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909-4B9E-BE75-E69A06394B1A}"/>
              </c:ext>
            </c:extLst>
          </c:dPt>
          <c:dPt>
            <c:idx val="1"/>
            <c:bubble3D val="0"/>
            <c:spPr>
              <a:solidFill>
                <a:srgbClr val="D98A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909-4B9E-BE75-E69A06394B1A}"/>
              </c:ext>
            </c:extLst>
          </c:dPt>
          <c:dPt>
            <c:idx val="2"/>
            <c:bubble3D val="0"/>
            <c:spPr>
              <a:solidFill>
                <a:srgbClr val="1F8A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909-4B9E-BE75-E69A06394B1A}"/>
              </c:ext>
            </c:extLst>
          </c:dPt>
          <c:dPt>
            <c:idx val="3"/>
            <c:bubble3D val="0"/>
            <c:spPr>
              <a:solidFill>
                <a:srgbClr val="C9D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909-4B9E-BE75-E69A06394B1A}"/>
              </c:ext>
            </c:extLst>
          </c:dPt>
          <c:cat>
            <c:strRef>
              <c:f>Sheet1!$A$2:$A$5</c:f>
              <c:strCache>
                <c:ptCount val="4"/>
                <c:pt idx="0">
                  <c:v>Conveyor</c:v>
                </c:pt>
                <c:pt idx="1">
                  <c:v>Sensors + PLC</c:v>
                </c:pt>
                <c:pt idx="2">
                  <c:v>Pneumatic</c:v>
                </c:pt>
                <c:pt idx="3">
                  <c:v>XY10 steppers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90.1</c:v>
                </c:pt>
                <c:pt idx="1">
                  <c:v>6.6</c:v>
                </c:pt>
                <c:pt idx="2">
                  <c:v>3.3</c:v>
                </c:pt>
                <c:pt idx="3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909-4B9E-BE75-E69A06394B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A41"/>
              </a:solidFill>
              <a:latin typeface="Calibri"/>
              <a:cs typeface="Calibri"/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EAD543-D1A6-4EF3-8A4B-5DD07E42DF6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A7F9E04-784D-43D9-A48A-CA9917DBCDDF}">
      <dgm:prSet phldrT="[Texte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lang="en-US" b="1" dirty="0">
              <a:solidFill>
                <a:schemeClr val="accent1">
                  <a:lumMod val="50000"/>
                </a:schemeClr>
              </a:solidFill>
            </a:rPr>
            <a:t>Import the </a:t>
          </a:r>
          <a:r>
            <a:rPr lang="en-US" b="1" dirty="0" err="1">
              <a:solidFill>
                <a:schemeClr val="accent1">
                  <a:lumMod val="50000"/>
                </a:schemeClr>
              </a:solidFill>
            </a:rPr>
            <a:t>Dobot</a:t>
          </a:r>
          <a:r>
            <a:rPr lang="en-US" b="1" dirty="0">
              <a:solidFill>
                <a:schemeClr val="accent1">
                  <a:lumMod val="50000"/>
                </a:schemeClr>
              </a:solidFill>
            </a:rPr>
            <a:t> CR5 CAD assembly	</a:t>
          </a:r>
          <a:endParaRPr lang="fr-FR" dirty="0">
            <a:solidFill>
              <a:schemeClr val="accent1">
                <a:lumMod val="50000"/>
              </a:schemeClr>
            </a:solidFill>
          </a:endParaRPr>
        </a:p>
      </dgm:t>
    </dgm:pt>
    <dgm:pt modelId="{9CF240F8-49A7-4396-9FE3-85AD3D79A428}" type="parTrans" cxnId="{3F7016BF-7C2C-476A-9303-2AB6A836D9F6}">
      <dgm:prSet/>
      <dgm:spPr/>
      <dgm:t>
        <a:bodyPr/>
        <a:lstStyle/>
        <a:p>
          <a:endParaRPr lang="fr-FR"/>
        </a:p>
      </dgm:t>
    </dgm:pt>
    <dgm:pt modelId="{9DEC28DC-F533-4931-9FD8-4AC7E90A0D6C}" type="sibTrans" cxnId="{3F7016BF-7C2C-476A-9303-2AB6A836D9F6}">
      <dgm:prSet/>
      <dgm:spPr/>
      <dgm:t>
        <a:bodyPr/>
        <a:lstStyle/>
        <a:p>
          <a:endParaRPr lang="fr-FR"/>
        </a:p>
      </dgm:t>
    </dgm:pt>
    <dgm:pt modelId="{76B4DE90-2973-4B63-99EE-B52F3A89585C}">
      <dgm:prSet phldrT="[Texte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Identify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the six links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in the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assembly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tree</a:t>
          </a:r>
          <a:endParaRPr lang="fr-FR" dirty="0">
            <a:solidFill>
              <a:schemeClr val="accent1">
                <a:lumMod val="50000"/>
              </a:schemeClr>
            </a:solidFill>
          </a:endParaRPr>
        </a:p>
      </dgm:t>
    </dgm:pt>
    <dgm:pt modelId="{14E2CC38-2AB9-43A7-B415-4A95E82D79AC}" type="parTrans" cxnId="{EF42EF4F-1720-4BAE-B696-8CF8689FB805}">
      <dgm:prSet/>
      <dgm:spPr/>
      <dgm:t>
        <a:bodyPr/>
        <a:lstStyle/>
        <a:p>
          <a:endParaRPr lang="fr-FR"/>
        </a:p>
      </dgm:t>
    </dgm:pt>
    <dgm:pt modelId="{2650B5B8-CEDA-446D-B041-09102073BBB1}" type="sibTrans" cxnId="{EF42EF4F-1720-4BAE-B696-8CF8689FB805}">
      <dgm:prSet/>
      <dgm:spPr/>
      <dgm:t>
        <a:bodyPr/>
        <a:lstStyle/>
        <a:p>
          <a:endParaRPr lang="fr-FR"/>
        </a:p>
      </dgm:t>
    </dgm:pt>
    <dgm:pt modelId="{35A655E8-4205-49A6-9AED-3355EEA024F3}">
      <dgm:prSet phldrT="[Texte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>
            <a:buClrTx/>
            <a:buSzTx/>
            <a:buFontTx/>
            <a:buAutoNum type="arabicPeriod" startAt="3"/>
          </a:pP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For </a:t>
          </a: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each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link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, 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open 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Tools → </a:t>
          </a: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Measure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→ </a:t>
          </a: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Measure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Inertia</a:t>
          </a:r>
          <a:endParaRPr lang="fr-FR" dirty="0">
            <a:solidFill>
              <a:schemeClr val="accent1">
                <a:lumMod val="50000"/>
              </a:schemeClr>
            </a:solidFill>
          </a:endParaRPr>
        </a:p>
      </dgm:t>
    </dgm:pt>
    <dgm:pt modelId="{B6F57777-1991-456A-A208-82D0A91656EF}" type="parTrans" cxnId="{34157AA0-578A-41FC-A205-EC28C0FB817E}">
      <dgm:prSet/>
      <dgm:spPr/>
      <dgm:t>
        <a:bodyPr/>
        <a:lstStyle/>
        <a:p>
          <a:endParaRPr lang="fr-FR"/>
        </a:p>
      </dgm:t>
    </dgm:pt>
    <dgm:pt modelId="{D6180523-FCD2-4AE6-A525-EECD6E4AFACE}" type="sibTrans" cxnId="{34157AA0-578A-41FC-A205-EC28C0FB817E}">
      <dgm:prSet/>
      <dgm:spPr/>
      <dgm:t>
        <a:bodyPr/>
        <a:lstStyle/>
        <a:p>
          <a:endParaRPr lang="fr-FR"/>
        </a:p>
      </dgm:t>
    </dgm:pt>
    <dgm:pt modelId="{83D3CE26-4736-4FF2-A819-C22E218B400E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>
            <a:buClrTx/>
            <a:buSzTx/>
            <a:buFontTx/>
            <a:buAutoNum type="arabicPeriod" startAt="3"/>
          </a:pP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Set the </a:t>
          </a: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material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density</a:t>
          </a:r>
          <a:endParaRPr kumimoji="0" lang="fr-FR" altLang="fr-FR" b="0" i="0" u="none" strike="noStrike" cap="none" normalizeH="0" baseline="0" dirty="0">
            <a:ln>
              <a:noFill/>
            </a:ln>
            <a:solidFill>
              <a:schemeClr val="accent1">
                <a:lumMod val="50000"/>
              </a:schemeClr>
            </a:solidFill>
            <a:effectLst/>
            <a:latin typeface="Calibri (Corps)"/>
          </a:endParaRPr>
        </a:p>
      </dgm:t>
    </dgm:pt>
    <dgm:pt modelId="{AD7BD4E6-FCDE-48A7-ADC0-BB5B0DF9BCE4}" type="parTrans" cxnId="{7D189FD7-E0D8-45FC-BD81-38626A7AA456}">
      <dgm:prSet/>
      <dgm:spPr/>
      <dgm:t>
        <a:bodyPr/>
        <a:lstStyle/>
        <a:p>
          <a:endParaRPr lang="fr-FR"/>
        </a:p>
      </dgm:t>
    </dgm:pt>
    <dgm:pt modelId="{33ACD271-9359-4BE9-A18C-928F6952F6EC}" type="sibTrans" cxnId="{7D189FD7-E0D8-45FC-BD81-38626A7AA456}">
      <dgm:prSet/>
      <dgm:spPr/>
      <dgm:t>
        <a:bodyPr/>
        <a:lstStyle/>
        <a:p>
          <a:endParaRPr lang="fr-FR"/>
        </a:p>
      </dgm:t>
    </dgm:pt>
    <dgm:pt modelId="{24F6D8A9-0051-4360-9806-A9EAAB1C204F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>
            <a:buClrTx/>
            <a:buSzTx/>
            <a:buFontTx/>
            <a:buAutoNum type="arabicPeriod" startAt="3"/>
          </a:pP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Read off 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the 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mass, centre of mass position </a:t>
          </a:r>
          <a:endParaRPr kumimoji="0" lang="fr-FR" altLang="fr-FR" b="0" i="0" u="none" strike="noStrike" cap="none" normalizeH="0" baseline="0" dirty="0">
            <a:ln>
              <a:noFill/>
            </a:ln>
            <a:solidFill>
              <a:schemeClr val="accent1">
                <a:lumMod val="50000"/>
              </a:schemeClr>
            </a:solidFill>
            <a:effectLst/>
            <a:latin typeface="Calibri (Corps)"/>
          </a:endParaRPr>
        </a:p>
      </dgm:t>
    </dgm:pt>
    <dgm:pt modelId="{C0066173-7467-4B18-A25F-F1AED54B4C24}" type="parTrans" cxnId="{5735C61C-501C-46E3-B635-F2A454B202FF}">
      <dgm:prSet/>
      <dgm:spPr/>
      <dgm:t>
        <a:bodyPr/>
        <a:lstStyle/>
        <a:p>
          <a:endParaRPr lang="fr-FR"/>
        </a:p>
      </dgm:t>
    </dgm:pt>
    <dgm:pt modelId="{183CEFC3-35B2-441B-8B41-5FA6871DD065}" type="sibTrans" cxnId="{5735C61C-501C-46E3-B635-F2A454B202FF}">
      <dgm:prSet/>
      <dgm:spPr/>
      <dgm:t>
        <a:bodyPr/>
        <a:lstStyle/>
        <a:p>
          <a:endParaRPr lang="fr-FR"/>
        </a:p>
      </dgm:t>
    </dgm:pt>
    <dgm:pt modelId="{C9B3C20F-74B0-42F4-916A-DEFE300A864C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>
            <a:buClrTx/>
            <a:buSzTx/>
            <a:buFontTx/>
            <a:buAutoNum type="arabicPeriod" startAt="3"/>
          </a:pP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Export the values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by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copying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them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from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the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Properties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panel. </a:t>
          </a:r>
        </a:p>
      </dgm:t>
    </dgm:pt>
    <dgm:pt modelId="{D1FACAA8-DF9C-4E70-8214-A8B6543D260D}" type="parTrans" cxnId="{36E0E6FA-BDDA-4CB2-B1C7-A98E608F7287}">
      <dgm:prSet/>
      <dgm:spPr/>
      <dgm:t>
        <a:bodyPr/>
        <a:lstStyle/>
        <a:p>
          <a:endParaRPr lang="fr-FR"/>
        </a:p>
      </dgm:t>
    </dgm:pt>
    <dgm:pt modelId="{8B600E4B-B239-424A-88F6-3C69EFA9265C}" type="sibTrans" cxnId="{36E0E6FA-BDDA-4CB2-B1C7-A98E608F7287}">
      <dgm:prSet/>
      <dgm:spPr/>
      <dgm:t>
        <a:bodyPr/>
        <a:lstStyle/>
        <a:p>
          <a:endParaRPr lang="fr-FR"/>
        </a:p>
      </dgm:t>
    </dgm:pt>
    <dgm:pt modelId="{D0FFE15E-CE6E-464E-BC8D-5BC67656712F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>
            <a:buClrTx/>
            <a:buSzTx/>
            <a:buFontTx/>
            <a:buAutoNum type="arabicPeriod" startAt="3"/>
          </a:pP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Paste </a:t>
          </a: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each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link's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values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into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the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corresponding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BodyShape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block in the </a:t>
          </a:r>
          <a:r>
            <a:rPr kumimoji="0" lang="fr-FR" altLang="fr-FR" b="0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Dymola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model</a:t>
          </a:r>
        </a:p>
      </dgm:t>
    </dgm:pt>
    <dgm:pt modelId="{1668FB44-E7C6-4AA3-8DA5-3FA8F68CD80F}" type="parTrans" cxnId="{899343EF-6B33-4D5A-A1B0-D711842EAB26}">
      <dgm:prSet/>
      <dgm:spPr/>
      <dgm:t>
        <a:bodyPr/>
        <a:lstStyle/>
        <a:p>
          <a:endParaRPr lang="fr-FR"/>
        </a:p>
      </dgm:t>
    </dgm:pt>
    <dgm:pt modelId="{7C2D0467-46E2-429E-8475-1EE5CF1F674B}" type="sibTrans" cxnId="{899343EF-6B33-4D5A-A1B0-D711842EAB26}">
      <dgm:prSet/>
      <dgm:spPr/>
      <dgm:t>
        <a:bodyPr/>
        <a:lstStyle/>
        <a:p>
          <a:endParaRPr lang="fr-FR"/>
        </a:p>
      </dgm:t>
    </dgm:pt>
    <dgm:pt modelId="{93A653CC-5AA6-49F4-889F-A2E27382C792}">
      <dgm:prSet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pPr>
            <a:buClrTx/>
            <a:buSzTx/>
            <a:buFontTx/>
            <a:buAutoNum type="arabicPeriod" startAt="3"/>
          </a:pPr>
          <a:r>
            <a:rPr kumimoji="0" lang="fr-FR" altLang="fr-FR" b="1" i="0" u="none" strike="noStrike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Repeat</a:t>
          </a:r>
          <a:r>
            <a:rPr kumimoji="0" lang="fr-FR" altLang="fr-FR" b="1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for all six links.</a:t>
          </a:r>
          <a:r>
            <a:rPr kumimoji="0" lang="fr-FR" altLang="fr-FR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</a:p>
      </dgm:t>
    </dgm:pt>
    <dgm:pt modelId="{A612FDE0-11CB-425D-BAC0-BC0B4C2CE053}" type="parTrans" cxnId="{0FE918D6-8948-4CD7-8D47-F016F0E8D6E2}">
      <dgm:prSet/>
      <dgm:spPr/>
      <dgm:t>
        <a:bodyPr/>
        <a:lstStyle/>
        <a:p>
          <a:endParaRPr lang="fr-FR"/>
        </a:p>
      </dgm:t>
    </dgm:pt>
    <dgm:pt modelId="{4385C939-57BF-4861-9D0B-04A38054D320}" type="sibTrans" cxnId="{0FE918D6-8948-4CD7-8D47-F016F0E8D6E2}">
      <dgm:prSet/>
      <dgm:spPr/>
      <dgm:t>
        <a:bodyPr/>
        <a:lstStyle/>
        <a:p>
          <a:endParaRPr lang="fr-FR"/>
        </a:p>
      </dgm:t>
    </dgm:pt>
    <dgm:pt modelId="{550050D1-BC32-48F9-B40D-5803CE973E10}" type="pres">
      <dgm:prSet presAssocID="{9FEAD543-D1A6-4EF3-8A4B-5DD07E42DF6A}" presName="CompostProcess" presStyleCnt="0">
        <dgm:presLayoutVars>
          <dgm:dir/>
          <dgm:resizeHandles val="exact"/>
        </dgm:presLayoutVars>
      </dgm:prSet>
      <dgm:spPr/>
    </dgm:pt>
    <dgm:pt modelId="{C06A62D8-5A33-44C4-B00F-7D882B81C623}" type="pres">
      <dgm:prSet presAssocID="{9FEAD543-D1A6-4EF3-8A4B-5DD07E42DF6A}" presName="arrow" presStyleLbl="bgShp" presStyleIdx="0" presStyleCnt="1" custScaleX="117647" custLinFactNeighborX="0"/>
      <dgm:spPr>
        <a:solidFill>
          <a:schemeClr val="accent1">
            <a:lumMod val="50000"/>
          </a:schemeClr>
        </a:solidFill>
      </dgm:spPr>
    </dgm:pt>
    <dgm:pt modelId="{6F86DD92-0DBC-4B8F-98B0-4D30A555942F}" type="pres">
      <dgm:prSet presAssocID="{9FEAD543-D1A6-4EF3-8A4B-5DD07E42DF6A}" presName="linearProcess" presStyleCnt="0"/>
      <dgm:spPr/>
    </dgm:pt>
    <dgm:pt modelId="{2011CE96-80A9-4EA1-AC8A-A116A2FB33E6}" type="pres">
      <dgm:prSet presAssocID="{2A7F9E04-784D-43D9-A48A-CA9917DBCDDF}" presName="textNode" presStyleLbl="node1" presStyleIdx="0" presStyleCnt="8">
        <dgm:presLayoutVars>
          <dgm:bulletEnabled val="1"/>
        </dgm:presLayoutVars>
      </dgm:prSet>
      <dgm:spPr/>
    </dgm:pt>
    <dgm:pt modelId="{0B29AA7C-18DB-4F7C-8194-837A7ED6E64F}" type="pres">
      <dgm:prSet presAssocID="{9DEC28DC-F533-4931-9FD8-4AC7E90A0D6C}" presName="sibTrans" presStyleCnt="0"/>
      <dgm:spPr/>
    </dgm:pt>
    <dgm:pt modelId="{8A62058B-6F5D-4749-8ECA-7362441DEF4A}" type="pres">
      <dgm:prSet presAssocID="{76B4DE90-2973-4B63-99EE-B52F3A89585C}" presName="textNode" presStyleLbl="node1" presStyleIdx="1" presStyleCnt="8">
        <dgm:presLayoutVars>
          <dgm:bulletEnabled val="1"/>
        </dgm:presLayoutVars>
      </dgm:prSet>
      <dgm:spPr/>
    </dgm:pt>
    <dgm:pt modelId="{C872184F-2E89-446C-A9F2-DBCC9C1A7062}" type="pres">
      <dgm:prSet presAssocID="{2650B5B8-CEDA-446D-B041-09102073BBB1}" presName="sibTrans" presStyleCnt="0"/>
      <dgm:spPr/>
    </dgm:pt>
    <dgm:pt modelId="{391B92F8-147C-4255-A665-6E99E446D697}" type="pres">
      <dgm:prSet presAssocID="{35A655E8-4205-49A6-9AED-3355EEA024F3}" presName="textNode" presStyleLbl="node1" presStyleIdx="2" presStyleCnt="8">
        <dgm:presLayoutVars>
          <dgm:bulletEnabled val="1"/>
        </dgm:presLayoutVars>
      </dgm:prSet>
      <dgm:spPr/>
    </dgm:pt>
    <dgm:pt modelId="{1001D81C-B2CF-493F-8250-291FE86E93E6}" type="pres">
      <dgm:prSet presAssocID="{D6180523-FCD2-4AE6-A525-EECD6E4AFACE}" presName="sibTrans" presStyleCnt="0"/>
      <dgm:spPr/>
    </dgm:pt>
    <dgm:pt modelId="{AB233513-533B-4C4F-ACB3-47684C75551B}" type="pres">
      <dgm:prSet presAssocID="{83D3CE26-4736-4FF2-A819-C22E218B400E}" presName="textNode" presStyleLbl="node1" presStyleIdx="3" presStyleCnt="8">
        <dgm:presLayoutVars>
          <dgm:bulletEnabled val="1"/>
        </dgm:presLayoutVars>
      </dgm:prSet>
      <dgm:spPr/>
    </dgm:pt>
    <dgm:pt modelId="{E4107085-C02B-427F-8B0F-5404AAB57902}" type="pres">
      <dgm:prSet presAssocID="{33ACD271-9359-4BE9-A18C-928F6952F6EC}" presName="sibTrans" presStyleCnt="0"/>
      <dgm:spPr/>
    </dgm:pt>
    <dgm:pt modelId="{444F9EEA-C791-4D36-95E2-02F60C0ACFD5}" type="pres">
      <dgm:prSet presAssocID="{24F6D8A9-0051-4360-9806-A9EAAB1C204F}" presName="textNode" presStyleLbl="node1" presStyleIdx="4" presStyleCnt="8">
        <dgm:presLayoutVars>
          <dgm:bulletEnabled val="1"/>
        </dgm:presLayoutVars>
      </dgm:prSet>
      <dgm:spPr/>
    </dgm:pt>
    <dgm:pt modelId="{C8C17D68-E596-41EC-8688-90582E4331FC}" type="pres">
      <dgm:prSet presAssocID="{183CEFC3-35B2-441B-8B41-5FA6871DD065}" presName="sibTrans" presStyleCnt="0"/>
      <dgm:spPr/>
    </dgm:pt>
    <dgm:pt modelId="{7A5A6857-1725-4A5C-B804-D2193FEBE0CE}" type="pres">
      <dgm:prSet presAssocID="{C9B3C20F-74B0-42F4-916A-DEFE300A864C}" presName="textNode" presStyleLbl="node1" presStyleIdx="5" presStyleCnt="8">
        <dgm:presLayoutVars>
          <dgm:bulletEnabled val="1"/>
        </dgm:presLayoutVars>
      </dgm:prSet>
      <dgm:spPr/>
    </dgm:pt>
    <dgm:pt modelId="{CBCCF1BF-84CF-47CF-8F15-D36557F33218}" type="pres">
      <dgm:prSet presAssocID="{8B600E4B-B239-424A-88F6-3C69EFA9265C}" presName="sibTrans" presStyleCnt="0"/>
      <dgm:spPr/>
    </dgm:pt>
    <dgm:pt modelId="{EAC02216-BB11-4519-B68C-769B2A1E5831}" type="pres">
      <dgm:prSet presAssocID="{D0FFE15E-CE6E-464E-BC8D-5BC67656712F}" presName="textNode" presStyleLbl="node1" presStyleIdx="6" presStyleCnt="8">
        <dgm:presLayoutVars>
          <dgm:bulletEnabled val="1"/>
        </dgm:presLayoutVars>
      </dgm:prSet>
      <dgm:spPr/>
    </dgm:pt>
    <dgm:pt modelId="{CA530211-E2E5-4C8D-8C24-0C16AA3828FF}" type="pres">
      <dgm:prSet presAssocID="{7C2D0467-46E2-429E-8475-1EE5CF1F674B}" presName="sibTrans" presStyleCnt="0"/>
      <dgm:spPr/>
    </dgm:pt>
    <dgm:pt modelId="{230E09F1-6721-445A-AC3A-D1F6CF9FB128}" type="pres">
      <dgm:prSet presAssocID="{93A653CC-5AA6-49F4-889F-A2E27382C792}" presName="textNode" presStyleLbl="node1" presStyleIdx="7" presStyleCnt="8" custScaleX="100168">
        <dgm:presLayoutVars>
          <dgm:bulletEnabled val="1"/>
        </dgm:presLayoutVars>
      </dgm:prSet>
      <dgm:spPr/>
    </dgm:pt>
  </dgm:ptLst>
  <dgm:cxnLst>
    <dgm:cxn modelId="{5735C61C-501C-46E3-B635-F2A454B202FF}" srcId="{9FEAD543-D1A6-4EF3-8A4B-5DD07E42DF6A}" destId="{24F6D8A9-0051-4360-9806-A9EAAB1C204F}" srcOrd="4" destOrd="0" parTransId="{C0066173-7467-4B18-A25F-F1AED54B4C24}" sibTransId="{183CEFC3-35B2-441B-8B41-5FA6871DD065}"/>
    <dgm:cxn modelId="{EF42EF4F-1720-4BAE-B696-8CF8689FB805}" srcId="{9FEAD543-D1A6-4EF3-8A4B-5DD07E42DF6A}" destId="{76B4DE90-2973-4B63-99EE-B52F3A89585C}" srcOrd="1" destOrd="0" parTransId="{14E2CC38-2AB9-43A7-B415-4A95E82D79AC}" sibTransId="{2650B5B8-CEDA-446D-B041-09102073BBB1}"/>
    <dgm:cxn modelId="{B3C56B99-E607-4CA5-8F9D-AA1591B3FFE0}" type="presOf" srcId="{35A655E8-4205-49A6-9AED-3355EEA024F3}" destId="{391B92F8-147C-4255-A665-6E99E446D697}" srcOrd="0" destOrd="0" presId="urn:microsoft.com/office/officeart/2005/8/layout/hProcess9"/>
    <dgm:cxn modelId="{F30FBE9D-3970-44ED-96D6-4BC5579994BF}" type="presOf" srcId="{76B4DE90-2973-4B63-99EE-B52F3A89585C}" destId="{8A62058B-6F5D-4749-8ECA-7362441DEF4A}" srcOrd="0" destOrd="0" presId="urn:microsoft.com/office/officeart/2005/8/layout/hProcess9"/>
    <dgm:cxn modelId="{50211C9F-0530-418D-B898-21C9C91ED66F}" type="presOf" srcId="{2A7F9E04-784D-43D9-A48A-CA9917DBCDDF}" destId="{2011CE96-80A9-4EA1-AC8A-A116A2FB33E6}" srcOrd="0" destOrd="0" presId="urn:microsoft.com/office/officeart/2005/8/layout/hProcess9"/>
    <dgm:cxn modelId="{34157AA0-578A-41FC-A205-EC28C0FB817E}" srcId="{9FEAD543-D1A6-4EF3-8A4B-5DD07E42DF6A}" destId="{35A655E8-4205-49A6-9AED-3355EEA024F3}" srcOrd="2" destOrd="0" parTransId="{B6F57777-1991-456A-A208-82D0A91656EF}" sibTransId="{D6180523-FCD2-4AE6-A525-EECD6E4AFACE}"/>
    <dgm:cxn modelId="{CC4D19AC-5F12-4F30-AC40-134398F4BA65}" type="presOf" srcId="{C9B3C20F-74B0-42F4-916A-DEFE300A864C}" destId="{7A5A6857-1725-4A5C-B804-D2193FEBE0CE}" srcOrd="0" destOrd="0" presId="urn:microsoft.com/office/officeart/2005/8/layout/hProcess9"/>
    <dgm:cxn modelId="{B141E4AD-FD80-4F01-9A34-CC7D2DC0D7ED}" type="presOf" srcId="{24F6D8A9-0051-4360-9806-A9EAAB1C204F}" destId="{444F9EEA-C791-4D36-95E2-02F60C0ACFD5}" srcOrd="0" destOrd="0" presId="urn:microsoft.com/office/officeart/2005/8/layout/hProcess9"/>
    <dgm:cxn modelId="{1F8791B0-C9D4-4A74-A04C-04F37A9F4914}" type="presOf" srcId="{93A653CC-5AA6-49F4-889F-A2E27382C792}" destId="{230E09F1-6721-445A-AC3A-D1F6CF9FB128}" srcOrd="0" destOrd="0" presId="urn:microsoft.com/office/officeart/2005/8/layout/hProcess9"/>
    <dgm:cxn modelId="{3F7016BF-7C2C-476A-9303-2AB6A836D9F6}" srcId="{9FEAD543-D1A6-4EF3-8A4B-5DD07E42DF6A}" destId="{2A7F9E04-784D-43D9-A48A-CA9917DBCDDF}" srcOrd="0" destOrd="0" parTransId="{9CF240F8-49A7-4396-9FE3-85AD3D79A428}" sibTransId="{9DEC28DC-F533-4931-9FD8-4AC7E90A0D6C}"/>
    <dgm:cxn modelId="{76BB8CD3-267D-4F16-BD46-0682362655DE}" type="presOf" srcId="{9FEAD543-D1A6-4EF3-8A4B-5DD07E42DF6A}" destId="{550050D1-BC32-48F9-B40D-5803CE973E10}" srcOrd="0" destOrd="0" presId="urn:microsoft.com/office/officeart/2005/8/layout/hProcess9"/>
    <dgm:cxn modelId="{0FE918D6-8948-4CD7-8D47-F016F0E8D6E2}" srcId="{9FEAD543-D1A6-4EF3-8A4B-5DD07E42DF6A}" destId="{93A653CC-5AA6-49F4-889F-A2E27382C792}" srcOrd="7" destOrd="0" parTransId="{A612FDE0-11CB-425D-BAC0-BC0B4C2CE053}" sibTransId="{4385C939-57BF-4861-9D0B-04A38054D320}"/>
    <dgm:cxn modelId="{7D189FD7-E0D8-45FC-BD81-38626A7AA456}" srcId="{9FEAD543-D1A6-4EF3-8A4B-5DD07E42DF6A}" destId="{83D3CE26-4736-4FF2-A819-C22E218B400E}" srcOrd="3" destOrd="0" parTransId="{AD7BD4E6-FCDE-48A7-ADC0-BB5B0DF9BCE4}" sibTransId="{33ACD271-9359-4BE9-A18C-928F6952F6EC}"/>
    <dgm:cxn modelId="{95191EEA-ED59-4912-A829-5A5358DD841C}" type="presOf" srcId="{83D3CE26-4736-4FF2-A819-C22E218B400E}" destId="{AB233513-533B-4C4F-ACB3-47684C75551B}" srcOrd="0" destOrd="0" presId="urn:microsoft.com/office/officeart/2005/8/layout/hProcess9"/>
    <dgm:cxn modelId="{16C7AEEE-C19A-460C-87FB-BA3561E94E3D}" type="presOf" srcId="{D0FFE15E-CE6E-464E-BC8D-5BC67656712F}" destId="{EAC02216-BB11-4519-B68C-769B2A1E5831}" srcOrd="0" destOrd="0" presId="urn:microsoft.com/office/officeart/2005/8/layout/hProcess9"/>
    <dgm:cxn modelId="{899343EF-6B33-4D5A-A1B0-D711842EAB26}" srcId="{9FEAD543-D1A6-4EF3-8A4B-5DD07E42DF6A}" destId="{D0FFE15E-CE6E-464E-BC8D-5BC67656712F}" srcOrd="6" destOrd="0" parTransId="{1668FB44-E7C6-4AA3-8DA5-3FA8F68CD80F}" sibTransId="{7C2D0467-46E2-429E-8475-1EE5CF1F674B}"/>
    <dgm:cxn modelId="{36E0E6FA-BDDA-4CB2-B1C7-A98E608F7287}" srcId="{9FEAD543-D1A6-4EF3-8A4B-5DD07E42DF6A}" destId="{C9B3C20F-74B0-42F4-916A-DEFE300A864C}" srcOrd="5" destOrd="0" parTransId="{D1FACAA8-DF9C-4E70-8214-A8B6543D260D}" sibTransId="{8B600E4B-B239-424A-88F6-3C69EFA9265C}"/>
    <dgm:cxn modelId="{2AA6EDDE-C96A-4407-B316-13A2B69B1E08}" type="presParOf" srcId="{550050D1-BC32-48F9-B40D-5803CE973E10}" destId="{C06A62D8-5A33-44C4-B00F-7D882B81C623}" srcOrd="0" destOrd="0" presId="urn:microsoft.com/office/officeart/2005/8/layout/hProcess9"/>
    <dgm:cxn modelId="{83E8DB19-F646-4330-AEBB-BC618038CDA8}" type="presParOf" srcId="{550050D1-BC32-48F9-B40D-5803CE973E10}" destId="{6F86DD92-0DBC-4B8F-98B0-4D30A555942F}" srcOrd="1" destOrd="0" presId="urn:microsoft.com/office/officeart/2005/8/layout/hProcess9"/>
    <dgm:cxn modelId="{D35CB082-9CA0-4C9F-BB1A-688A9385FDA9}" type="presParOf" srcId="{6F86DD92-0DBC-4B8F-98B0-4D30A555942F}" destId="{2011CE96-80A9-4EA1-AC8A-A116A2FB33E6}" srcOrd="0" destOrd="0" presId="urn:microsoft.com/office/officeart/2005/8/layout/hProcess9"/>
    <dgm:cxn modelId="{2B6E25AB-C7FA-49BE-A576-7625DD75F825}" type="presParOf" srcId="{6F86DD92-0DBC-4B8F-98B0-4D30A555942F}" destId="{0B29AA7C-18DB-4F7C-8194-837A7ED6E64F}" srcOrd="1" destOrd="0" presId="urn:microsoft.com/office/officeart/2005/8/layout/hProcess9"/>
    <dgm:cxn modelId="{084082D6-D98F-497A-8385-16412A343CE8}" type="presParOf" srcId="{6F86DD92-0DBC-4B8F-98B0-4D30A555942F}" destId="{8A62058B-6F5D-4749-8ECA-7362441DEF4A}" srcOrd="2" destOrd="0" presId="urn:microsoft.com/office/officeart/2005/8/layout/hProcess9"/>
    <dgm:cxn modelId="{EAAF0F2A-C6E8-4B40-88F1-9CF1E9171208}" type="presParOf" srcId="{6F86DD92-0DBC-4B8F-98B0-4D30A555942F}" destId="{C872184F-2E89-446C-A9F2-DBCC9C1A7062}" srcOrd="3" destOrd="0" presId="urn:microsoft.com/office/officeart/2005/8/layout/hProcess9"/>
    <dgm:cxn modelId="{A26EC6AA-123B-4841-BADB-A648DE85AE50}" type="presParOf" srcId="{6F86DD92-0DBC-4B8F-98B0-4D30A555942F}" destId="{391B92F8-147C-4255-A665-6E99E446D697}" srcOrd="4" destOrd="0" presId="urn:microsoft.com/office/officeart/2005/8/layout/hProcess9"/>
    <dgm:cxn modelId="{D7442C91-F452-4A33-8C77-2B0746DB3DEC}" type="presParOf" srcId="{6F86DD92-0DBC-4B8F-98B0-4D30A555942F}" destId="{1001D81C-B2CF-493F-8250-291FE86E93E6}" srcOrd="5" destOrd="0" presId="urn:microsoft.com/office/officeart/2005/8/layout/hProcess9"/>
    <dgm:cxn modelId="{809CA521-20D2-4643-ACA0-17F7877210C7}" type="presParOf" srcId="{6F86DD92-0DBC-4B8F-98B0-4D30A555942F}" destId="{AB233513-533B-4C4F-ACB3-47684C75551B}" srcOrd="6" destOrd="0" presId="urn:microsoft.com/office/officeart/2005/8/layout/hProcess9"/>
    <dgm:cxn modelId="{F8B99300-0B70-4EFC-9449-E5A50400DB3C}" type="presParOf" srcId="{6F86DD92-0DBC-4B8F-98B0-4D30A555942F}" destId="{E4107085-C02B-427F-8B0F-5404AAB57902}" srcOrd="7" destOrd="0" presId="urn:microsoft.com/office/officeart/2005/8/layout/hProcess9"/>
    <dgm:cxn modelId="{7E80005E-408C-4637-864D-C7BCB2FE1352}" type="presParOf" srcId="{6F86DD92-0DBC-4B8F-98B0-4D30A555942F}" destId="{444F9EEA-C791-4D36-95E2-02F60C0ACFD5}" srcOrd="8" destOrd="0" presId="urn:microsoft.com/office/officeart/2005/8/layout/hProcess9"/>
    <dgm:cxn modelId="{1BFCE7B6-D3D7-4DFF-9290-75B5F459A586}" type="presParOf" srcId="{6F86DD92-0DBC-4B8F-98B0-4D30A555942F}" destId="{C8C17D68-E596-41EC-8688-90582E4331FC}" srcOrd="9" destOrd="0" presId="urn:microsoft.com/office/officeart/2005/8/layout/hProcess9"/>
    <dgm:cxn modelId="{06A5279D-0B3B-406A-A2C3-3013834AEB7C}" type="presParOf" srcId="{6F86DD92-0DBC-4B8F-98B0-4D30A555942F}" destId="{7A5A6857-1725-4A5C-B804-D2193FEBE0CE}" srcOrd="10" destOrd="0" presId="urn:microsoft.com/office/officeart/2005/8/layout/hProcess9"/>
    <dgm:cxn modelId="{F6EA2ACF-667C-4D08-B06D-2D57F5B1947C}" type="presParOf" srcId="{6F86DD92-0DBC-4B8F-98B0-4D30A555942F}" destId="{CBCCF1BF-84CF-47CF-8F15-D36557F33218}" srcOrd="11" destOrd="0" presId="urn:microsoft.com/office/officeart/2005/8/layout/hProcess9"/>
    <dgm:cxn modelId="{A5026492-2B5F-4CA8-A792-C2F2689B505E}" type="presParOf" srcId="{6F86DD92-0DBC-4B8F-98B0-4D30A555942F}" destId="{EAC02216-BB11-4519-B68C-769B2A1E5831}" srcOrd="12" destOrd="0" presId="urn:microsoft.com/office/officeart/2005/8/layout/hProcess9"/>
    <dgm:cxn modelId="{61FAC307-2007-448B-97A7-E4515E34DEA8}" type="presParOf" srcId="{6F86DD92-0DBC-4B8F-98B0-4D30A555942F}" destId="{CA530211-E2E5-4C8D-8C24-0C16AA3828FF}" srcOrd="13" destOrd="0" presId="urn:microsoft.com/office/officeart/2005/8/layout/hProcess9"/>
    <dgm:cxn modelId="{F53D9F2C-C39B-4C26-BA08-C6585182865A}" type="presParOf" srcId="{6F86DD92-0DBC-4B8F-98B0-4D30A555942F}" destId="{230E09F1-6721-445A-AC3A-D1F6CF9FB128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81CCAE-3893-4CEC-B94D-589A64CB84F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E863937-B72B-486E-BE07-453DC52D166A}">
      <dgm:prSet phldrT="[Texte]"/>
      <dgm:spPr/>
      <dgm:t>
        <a:bodyPr/>
        <a:lstStyle/>
        <a:p>
          <a:r>
            <a:rPr lang="fr-FR" dirty="0"/>
            <a:t>1</a:t>
          </a:r>
        </a:p>
      </dgm:t>
    </dgm:pt>
    <dgm:pt modelId="{AE8551A2-1CDB-4684-B47D-8822284140CD}" type="parTrans" cxnId="{8440D13A-06AE-4464-95B6-A992FE0A4FC2}">
      <dgm:prSet/>
      <dgm:spPr/>
      <dgm:t>
        <a:bodyPr/>
        <a:lstStyle/>
        <a:p>
          <a:endParaRPr lang="fr-FR"/>
        </a:p>
      </dgm:t>
    </dgm:pt>
    <dgm:pt modelId="{A6858CB5-9EDF-44CE-BF42-A7D50A2EF7EF}" type="sibTrans" cxnId="{8440D13A-06AE-4464-95B6-A992FE0A4FC2}">
      <dgm:prSet/>
      <dgm:spPr/>
      <dgm:t>
        <a:bodyPr/>
        <a:lstStyle/>
        <a:p>
          <a:endParaRPr lang="fr-FR"/>
        </a:p>
      </dgm:t>
    </dgm:pt>
    <dgm:pt modelId="{10FE56F4-6485-4D81-B35E-B0FBFF8C2216}">
      <dgm:prSet phldrT="[Texte]" custT="1"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en-US" sz="2000" b="1" dirty="0">
              <a:solidFill>
                <a:schemeClr val="accent1">
                  <a:lumMod val="50000"/>
                </a:schemeClr>
              </a:solidFill>
            </a:rPr>
            <a:t>Real-time experiment on the ALIX line  </a:t>
          </a: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5798E103-45E6-4199-818D-17D2F4434770}" type="parTrans" cxnId="{B9165BDA-2F9B-4EC9-9B9F-DA74A8983F37}">
      <dgm:prSet/>
      <dgm:spPr/>
      <dgm:t>
        <a:bodyPr/>
        <a:lstStyle/>
        <a:p>
          <a:endParaRPr lang="fr-FR"/>
        </a:p>
      </dgm:t>
    </dgm:pt>
    <dgm:pt modelId="{0163900B-7597-44FB-8DF6-D3C95CBDA0E7}" type="sibTrans" cxnId="{B9165BDA-2F9B-4EC9-9B9F-DA74A8983F37}">
      <dgm:prSet/>
      <dgm:spPr/>
      <dgm:t>
        <a:bodyPr/>
        <a:lstStyle/>
        <a:p>
          <a:endParaRPr lang="fr-FR"/>
        </a:p>
      </dgm:t>
    </dgm:pt>
    <dgm:pt modelId="{1762F3F1-E27D-4FA7-AC4F-DCA90A26F034}">
      <dgm:prSet phldrT="[Texte]"/>
      <dgm:spPr/>
      <dgm:t>
        <a:bodyPr/>
        <a:lstStyle/>
        <a:p>
          <a:r>
            <a:rPr lang="fr-FR" dirty="0"/>
            <a:t>2</a:t>
          </a:r>
        </a:p>
      </dgm:t>
    </dgm:pt>
    <dgm:pt modelId="{C58A9564-3BB3-4290-BB9F-975968DB15DC}" type="parTrans" cxnId="{2C69031A-B9FA-49A7-A44B-55FC5C7CA9DA}">
      <dgm:prSet/>
      <dgm:spPr/>
      <dgm:t>
        <a:bodyPr/>
        <a:lstStyle/>
        <a:p>
          <a:endParaRPr lang="fr-FR"/>
        </a:p>
      </dgm:t>
    </dgm:pt>
    <dgm:pt modelId="{C3EF7A5C-F64A-44A4-BBAF-2D38051E0225}" type="sibTrans" cxnId="{2C69031A-B9FA-49A7-A44B-55FC5C7CA9DA}">
      <dgm:prSet/>
      <dgm:spPr/>
      <dgm:t>
        <a:bodyPr/>
        <a:lstStyle/>
        <a:p>
          <a:endParaRPr lang="fr-FR"/>
        </a:p>
      </dgm:t>
    </dgm:pt>
    <dgm:pt modelId="{58E31D52-25AC-4D2F-A501-3E83BC09948C}">
      <dgm:prSet phldrT="[Texte]" custT="1"/>
      <dgm:spPr>
        <a:solidFill>
          <a:schemeClr val="accent1">
            <a:lumMod val="20000"/>
            <a:lumOff val="80000"/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FontTx/>
            <a:buNone/>
          </a:pPr>
          <a:r>
            <a:rPr lang="fr-FR" sz="2000" b="1" dirty="0">
              <a:solidFill>
                <a:schemeClr val="accent1">
                  <a:lumMod val="50000"/>
                </a:schemeClr>
              </a:solidFill>
            </a:rPr>
            <a:t>TDMS data acquisition</a:t>
          </a: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9206946A-2471-4086-AA85-531C2E9EF14A}" type="parTrans" cxnId="{CE3C42A4-4C20-4C03-AE67-87290277B9BB}">
      <dgm:prSet/>
      <dgm:spPr/>
      <dgm:t>
        <a:bodyPr/>
        <a:lstStyle/>
        <a:p>
          <a:endParaRPr lang="fr-FR"/>
        </a:p>
      </dgm:t>
    </dgm:pt>
    <dgm:pt modelId="{7BAB541D-0786-49B4-A9C2-10BD11C69BCC}" type="sibTrans" cxnId="{CE3C42A4-4C20-4C03-AE67-87290277B9BB}">
      <dgm:prSet/>
      <dgm:spPr/>
      <dgm:t>
        <a:bodyPr/>
        <a:lstStyle/>
        <a:p>
          <a:endParaRPr lang="fr-FR"/>
        </a:p>
      </dgm:t>
    </dgm:pt>
    <dgm:pt modelId="{69322F2E-F2A1-4E22-BCE5-10E50AD375B4}">
      <dgm:prSet phldrT="[Texte]"/>
      <dgm:spPr/>
      <dgm:t>
        <a:bodyPr/>
        <a:lstStyle/>
        <a:p>
          <a:r>
            <a:rPr lang="fr-FR" dirty="0"/>
            <a:t>3</a:t>
          </a:r>
        </a:p>
      </dgm:t>
    </dgm:pt>
    <dgm:pt modelId="{27736337-8BBE-4FC0-BA88-EC283C0E4844}" type="parTrans" cxnId="{A8ACB3D2-90DE-479E-A8F9-F1F9BC4F87E6}">
      <dgm:prSet/>
      <dgm:spPr/>
      <dgm:t>
        <a:bodyPr/>
        <a:lstStyle/>
        <a:p>
          <a:endParaRPr lang="fr-FR"/>
        </a:p>
      </dgm:t>
    </dgm:pt>
    <dgm:pt modelId="{2CF35579-908F-4B36-9FEC-FDE275D5DC21}" type="sibTrans" cxnId="{A8ACB3D2-90DE-479E-A8F9-F1F9BC4F87E6}">
      <dgm:prSet/>
      <dgm:spPr/>
      <dgm:t>
        <a:bodyPr/>
        <a:lstStyle/>
        <a:p>
          <a:endParaRPr lang="fr-FR"/>
        </a:p>
      </dgm:t>
    </dgm:pt>
    <dgm:pt modelId="{6ED26780-4520-4C66-8990-7D3453547B54}">
      <dgm:prSet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endParaRPr lang="fr-FR"/>
        </a:p>
      </dgm:t>
    </dgm:pt>
    <dgm:pt modelId="{9C81181B-057E-4D3C-A653-B0A19AA10384}" type="parTrans" cxnId="{64A9B553-6DB8-4FF6-8592-ADD872633F95}">
      <dgm:prSet/>
      <dgm:spPr/>
      <dgm:t>
        <a:bodyPr/>
        <a:lstStyle/>
        <a:p>
          <a:endParaRPr lang="fr-FR"/>
        </a:p>
      </dgm:t>
    </dgm:pt>
    <dgm:pt modelId="{E0424FCF-45CC-45A1-B5E3-4C0DDD9D104C}" type="sibTrans" cxnId="{64A9B553-6DB8-4FF6-8592-ADD872633F95}">
      <dgm:prSet/>
      <dgm:spPr/>
      <dgm:t>
        <a:bodyPr/>
        <a:lstStyle/>
        <a:p>
          <a:endParaRPr lang="fr-FR"/>
        </a:p>
      </dgm:t>
    </dgm:pt>
    <dgm:pt modelId="{27712838-1741-46D1-B164-627538C58D21}" type="pres">
      <dgm:prSet presAssocID="{0181CCAE-3893-4CEC-B94D-589A64CB84F7}" presName="linearFlow" presStyleCnt="0">
        <dgm:presLayoutVars>
          <dgm:dir/>
          <dgm:animLvl val="lvl"/>
          <dgm:resizeHandles val="exact"/>
        </dgm:presLayoutVars>
      </dgm:prSet>
      <dgm:spPr/>
    </dgm:pt>
    <dgm:pt modelId="{3FEAC26E-4CCE-4516-B575-1A0BA17BD5FC}" type="pres">
      <dgm:prSet presAssocID="{4E863937-B72B-486E-BE07-453DC52D166A}" presName="composite" presStyleCnt="0"/>
      <dgm:spPr/>
    </dgm:pt>
    <dgm:pt modelId="{4EFDFE91-175C-4B2B-9428-707BEDB72C59}" type="pres">
      <dgm:prSet presAssocID="{4E863937-B72B-486E-BE07-453DC52D166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016BA7D-DC91-4202-8B38-A745057E47E4}" type="pres">
      <dgm:prSet presAssocID="{4E863937-B72B-486E-BE07-453DC52D166A}" presName="descendantText" presStyleLbl="alignAcc1" presStyleIdx="0" presStyleCnt="3">
        <dgm:presLayoutVars>
          <dgm:bulletEnabled val="1"/>
        </dgm:presLayoutVars>
      </dgm:prSet>
      <dgm:spPr/>
    </dgm:pt>
    <dgm:pt modelId="{D8DBBA0B-4D20-4679-8586-BF55D4E54385}" type="pres">
      <dgm:prSet presAssocID="{A6858CB5-9EDF-44CE-BF42-A7D50A2EF7EF}" presName="sp" presStyleCnt="0"/>
      <dgm:spPr/>
    </dgm:pt>
    <dgm:pt modelId="{69F20886-4A6A-4788-A454-607EC2A65CAF}" type="pres">
      <dgm:prSet presAssocID="{1762F3F1-E27D-4FA7-AC4F-DCA90A26F034}" presName="composite" presStyleCnt="0"/>
      <dgm:spPr/>
    </dgm:pt>
    <dgm:pt modelId="{D87C2897-2C49-4856-BC89-F6D9BA0C8030}" type="pres">
      <dgm:prSet presAssocID="{1762F3F1-E27D-4FA7-AC4F-DCA90A26F03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B61C233-A8D9-43C5-A3ED-4D2004B25E9E}" type="pres">
      <dgm:prSet presAssocID="{1762F3F1-E27D-4FA7-AC4F-DCA90A26F034}" presName="descendantText" presStyleLbl="alignAcc1" presStyleIdx="1" presStyleCnt="3">
        <dgm:presLayoutVars>
          <dgm:bulletEnabled val="1"/>
        </dgm:presLayoutVars>
      </dgm:prSet>
      <dgm:spPr/>
    </dgm:pt>
    <dgm:pt modelId="{FBE684A7-AF98-4B7D-851E-982111CD9DFE}" type="pres">
      <dgm:prSet presAssocID="{C3EF7A5C-F64A-44A4-BBAF-2D38051E0225}" presName="sp" presStyleCnt="0"/>
      <dgm:spPr/>
    </dgm:pt>
    <dgm:pt modelId="{29039CD6-E891-4408-AEBB-89454151502A}" type="pres">
      <dgm:prSet presAssocID="{69322F2E-F2A1-4E22-BCE5-10E50AD375B4}" presName="composite" presStyleCnt="0"/>
      <dgm:spPr/>
    </dgm:pt>
    <dgm:pt modelId="{64B401EC-354C-461B-B59E-9358C41870A5}" type="pres">
      <dgm:prSet presAssocID="{69322F2E-F2A1-4E22-BCE5-10E50AD375B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508D8AF-C730-4AC0-B4BD-6A1FDC8A5913}" type="pres">
      <dgm:prSet presAssocID="{69322F2E-F2A1-4E22-BCE5-10E50AD375B4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C69031A-B9FA-49A7-A44B-55FC5C7CA9DA}" srcId="{0181CCAE-3893-4CEC-B94D-589A64CB84F7}" destId="{1762F3F1-E27D-4FA7-AC4F-DCA90A26F034}" srcOrd="1" destOrd="0" parTransId="{C58A9564-3BB3-4290-BB9F-975968DB15DC}" sibTransId="{C3EF7A5C-F64A-44A4-BBAF-2D38051E0225}"/>
    <dgm:cxn modelId="{8440D13A-06AE-4464-95B6-A992FE0A4FC2}" srcId="{0181CCAE-3893-4CEC-B94D-589A64CB84F7}" destId="{4E863937-B72B-486E-BE07-453DC52D166A}" srcOrd="0" destOrd="0" parTransId="{AE8551A2-1CDB-4684-B47D-8822284140CD}" sibTransId="{A6858CB5-9EDF-44CE-BF42-A7D50A2EF7EF}"/>
    <dgm:cxn modelId="{6D27BF3C-86FE-4661-9826-89E3DABDAE58}" type="presOf" srcId="{10FE56F4-6485-4D81-B35E-B0FBFF8C2216}" destId="{E016BA7D-DC91-4202-8B38-A745057E47E4}" srcOrd="0" destOrd="0" presId="urn:microsoft.com/office/officeart/2005/8/layout/chevron2"/>
    <dgm:cxn modelId="{E207CB52-1ACF-4B74-ADCA-D0FF9BF6A803}" type="presOf" srcId="{58E31D52-25AC-4D2F-A501-3E83BC09948C}" destId="{4B61C233-A8D9-43C5-A3ED-4D2004B25E9E}" srcOrd="0" destOrd="0" presId="urn:microsoft.com/office/officeart/2005/8/layout/chevron2"/>
    <dgm:cxn modelId="{64A9B553-6DB8-4FF6-8592-ADD872633F95}" srcId="{69322F2E-F2A1-4E22-BCE5-10E50AD375B4}" destId="{6ED26780-4520-4C66-8990-7D3453547B54}" srcOrd="0" destOrd="0" parTransId="{9C81181B-057E-4D3C-A653-B0A19AA10384}" sibTransId="{E0424FCF-45CC-45A1-B5E3-4C0DDD9D104C}"/>
    <dgm:cxn modelId="{B76D6E80-7B57-4598-B7E5-25FDC27A856B}" type="presOf" srcId="{69322F2E-F2A1-4E22-BCE5-10E50AD375B4}" destId="{64B401EC-354C-461B-B59E-9358C41870A5}" srcOrd="0" destOrd="0" presId="urn:microsoft.com/office/officeart/2005/8/layout/chevron2"/>
    <dgm:cxn modelId="{A672BE8F-22BA-4521-ABDA-B5DFD502808A}" type="presOf" srcId="{1762F3F1-E27D-4FA7-AC4F-DCA90A26F034}" destId="{D87C2897-2C49-4856-BC89-F6D9BA0C8030}" srcOrd="0" destOrd="0" presId="urn:microsoft.com/office/officeart/2005/8/layout/chevron2"/>
    <dgm:cxn modelId="{CE3C42A4-4C20-4C03-AE67-87290277B9BB}" srcId="{1762F3F1-E27D-4FA7-AC4F-DCA90A26F034}" destId="{58E31D52-25AC-4D2F-A501-3E83BC09948C}" srcOrd="0" destOrd="0" parTransId="{9206946A-2471-4086-AA85-531C2E9EF14A}" sibTransId="{7BAB541D-0786-49B4-A9C2-10BD11C69BCC}"/>
    <dgm:cxn modelId="{A8ACB3D2-90DE-479E-A8F9-F1F9BC4F87E6}" srcId="{0181CCAE-3893-4CEC-B94D-589A64CB84F7}" destId="{69322F2E-F2A1-4E22-BCE5-10E50AD375B4}" srcOrd="2" destOrd="0" parTransId="{27736337-8BBE-4FC0-BA88-EC283C0E4844}" sibTransId="{2CF35579-908F-4B36-9FEC-FDE275D5DC21}"/>
    <dgm:cxn modelId="{60CD6DD6-6242-42C3-BD89-7B31EE5CD3C2}" type="presOf" srcId="{4E863937-B72B-486E-BE07-453DC52D166A}" destId="{4EFDFE91-175C-4B2B-9428-707BEDB72C59}" srcOrd="0" destOrd="0" presId="urn:microsoft.com/office/officeart/2005/8/layout/chevron2"/>
    <dgm:cxn modelId="{B9165BDA-2F9B-4EC9-9B9F-DA74A8983F37}" srcId="{4E863937-B72B-486E-BE07-453DC52D166A}" destId="{10FE56F4-6485-4D81-B35E-B0FBFF8C2216}" srcOrd="0" destOrd="0" parTransId="{5798E103-45E6-4199-818D-17D2F4434770}" sibTransId="{0163900B-7597-44FB-8DF6-D3C95CBDA0E7}"/>
    <dgm:cxn modelId="{F03EE8E7-83D6-4C81-A9B8-B207AC8D498B}" type="presOf" srcId="{0181CCAE-3893-4CEC-B94D-589A64CB84F7}" destId="{27712838-1741-46D1-B164-627538C58D21}" srcOrd="0" destOrd="0" presId="urn:microsoft.com/office/officeart/2005/8/layout/chevron2"/>
    <dgm:cxn modelId="{A32ECBF2-2B9D-4B45-9F8E-7ED5B7122D1D}" type="presOf" srcId="{6ED26780-4520-4C66-8990-7D3453547B54}" destId="{B508D8AF-C730-4AC0-B4BD-6A1FDC8A5913}" srcOrd="0" destOrd="0" presId="urn:microsoft.com/office/officeart/2005/8/layout/chevron2"/>
    <dgm:cxn modelId="{DE11FA1C-83BA-45A4-928D-80778178BC2F}" type="presParOf" srcId="{27712838-1741-46D1-B164-627538C58D21}" destId="{3FEAC26E-4CCE-4516-B575-1A0BA17BD5FC}" srcOrd="0" destOrd="0" presId="urn:microsoft.com/office/officeart/2005/8/layout/chevron2"/>
    <dgm:cxn modelId="{E3A86D0A-4750-4CDB-972A-BE9DD9608F52}" type="presParOf" srcId="{3FEAC26E-4CCE-4516-B575-1A0BA17BD5FC}" destId="{4EFDFE91-175C-4B2B-9428-707BEDB72C59}" srcOrd="0" destOrd="0" presId="urn:microsoft.com/office/officeart/2005/8/layout/chevron2"/>
    <dgm:cxn modelId="{A766381F-2B98-43D2-BBC3-39758A16334D}" type="presParOf" srcId="{3FEAC26E-4CCE-4516-B575-1A0BA17BD5FC}" destId="{E016BA7D-DC91-4202-8B38-A745057E47E4}" srcOrd="1" destOrd="0" presId="urn:microsoft.com/office/officeart/2005/8/layout/chevron2"/>
    <dgm:cxn modelId="{8052E861-F87F-4096-B289-4B7102EB5677}" type="presParOf" srcId="{27712838-1741-46D1-B164-627538C58D21}" destId="{D8DBBA0B-4D20-4679-8586-BF55D4E54385}" srcOrd="1" destOrd="0" presId="urn:microsoft.com/office/officeart/2005/8/layout/chevron2"/>
    <dgm:cxn modelId="{22D24650-A64B-40EA-89C5-7A8F6DE5167F}" type="presParOf" srcId="{27712838-1741-46D1-B164-627538C58D21}" destId="{69F20886-4A6A-4788-A454-607EC2A65CAF}" srcOrd="2" destOrd="0" presId="urn:microsoft.com/office/officeart/2005/8/layout/chevron2"/>
    <dgm:cxn modelId="{C2292612-6577-4AEC-92F9-9E35921443CA}" type="presParOf" srcId="{69F20886-4A6A-4788-A454-607EC2A65CAF}" destId="{D87C2897-2C49-4856-BC89-F6D9BA0C8030}" srcOrd="0" destOrd="0" presId="urn:microsoft.com/office/officeart/2005/8/layout/chevron2"/>
    <dgm:cxn modelId="{D3181368-C7EC-4C0F-A107-4439781FD42E}" type="presParOf" srcId="{69F20886-4A6A-4788-A454-607EC2A65CAF}" destId="{4B61C233-A8D9-43C5-A3ED-4D2004B25E9E}" srcOrd="1" destOrd="0" presId="urn:microsoft.com/office/officeart/2005/8/layout/chevron2"/>
    <dgm:cxn modelId="{86F5B94D-0458-498F-A946-D66C999963B0}" type="presParOf" srcId="{27712838-1741-46D1-B164-627538C58D21}" destId="{FBE684A7-AF98-4B7D-851E-982111CD9DFE}" srcOrd="3" destOrd="0" presId="urn:microsoft.com/office/officeart/2005/8/layout/chevron2"/>
    <dgm:cxn modelId="{D64DA0BD-5E09-4838-A7DD-BFDF7B3B42D1}" type="presParOf" srcId="{27712838-1741-46D1-B164-627538C58D21}" destId="{29039CD6-E891-4408-AEBB-89454151502A}" srcOrd="4" destOrd="0" presId="urn:microsoft.com/office/officeart/2005/8/layout/chevron2"/>
    <dgm:cxn modelId="{9EB86420-CF3F-4402-B563-42397D57B0DE}" type="presParOf" srcId="{29039CD6-E891-4408-AEBB-89454151502A}" destId="{64B401EC-354C-461B-B59E-9358C41870A5}" srcOrd="0" destOrd="0" presId="urn:microsoft.com/office/officeart/2005/8/layout/chevron2"/>
    <dgm:cxn modelId="{6CBD3366-419B-48CA-93E7-CF290C176016}" type="presParOf" srcId="{29039CD6-E891-4408-AEBB-89454151502A}" destId="{B508D8AF-C730-4AC0-B4BD-6A1FDC8A591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81CCAE-3893-4CEC-B94D-589A64CB84F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E863937-B72B-486E-BE07-453DC52D166A}">
      <dgm:prSet phldrT="[Texte]"/>
      <dgm:spPr/>
      <dgm:t>
        <a:bodyPr/>
        <a:lstStyle/>
        <a:p>
          <a:r>
            <a:rPr lang="fr-FR" dirty="0"/>
            <a:t>4</a:t>
          </a:r>
        </a:p>
      </dgm:t>
    </dgm:pt>
    <dgm:pt modelId="{AE8551A2-1CDB-4684-B47D-8822284140CD}" type="parTrans" cxnId="{8440D13A-06AE-4464-95B6-A992FE0A4FC2}">
      <dgm:prSet/>
      <dgm:spPr/>
      <dgm:t>
        <a:bodyPr/>
        <a:lstStyle/>
        <a:p>
          <a:endParaRPr lang="fr-FR"/>
        </a:p>
      </dgm:t>
    </dgm:pt>
    <dgm:pt modelId="{A6858CB5-9EDF-44CE-BF42-A7D50A2EF7EF}" type="sibTrans" cxnId="{8440D13A-06AE-4464-95B6-A992FE0A4FC2}">
      <dgm:prSet/>
      <dgm:spPr/>
      <dgm:t>
        <a:bodyPr/>
        <a:lstStyle/>
        <a:p>
          <a:endParaRPr lang="fr-FR"/>
        </a:p>
      </dgm:t>
    </dgm:pt>
    <dgm:pt modelId="{10FE56F4-6485-4D81-B35E-B0FBFF8C2216}">
      <dgm:prSet phldrT="[Texte]" custT="1"/>
      <dgm:spPr>
        <a:solidFill>
          <a:schemeClr val="accent1">
            <a:lumMod val="20000"/>
            <a:lumOff val="80000"/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FontTx/>
            <a:buNone/>
          </a:pP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5798E103-45E6-4199-818D-17D2F4434770}" type="parTrans" cxnId="{B9165BDA-2F9B-4EC9-9B9F-DA74A8983F37}">
      <dgm:prSet/>
      <dgm:spPr/>
      <dgm:t>
        <a:bodyPr/>
        <a:lstStyle/>
        <a:p>
          <a:endParaRPr lang="fr-FR"/>
        </a:p>
      </dgm:t>
    </dgm:pt>
    <dgm:pt modelId="{0163900B-7597-44FB-8DF6-D3C95CBDA0E7}" type="sibTrans" cxnId="{B9165BDA-2F9B-4EC9-9B9F-DA74A8983F37}">
      <dgm:prSet/>
      <dgm:spPr/>
      <dgm:t>
        <a:bodyPr/>
        <a:lstStyle/>
        <a:p>
          <a:endParaRPr lang="fr-FR"/>
        </a:p>
      </dgm:t>
    </dgm:pt>
    <dgm:pt modelId="{1762F3F1-E27D-4FA7-AC4F-DCA90A26F034}">
      <dgm:prSet phldrT="[Texte]"/>
      <dgm:spPr/>
      <dgm:t>
        <a:bodyPr/>
        <a:lstStyle/>
        <a:p>
          <a:r>
            <a:rPr lang="fr-FR" dirty="0"/>
            <a:t>5</a:t>
          </a:r>
        </a:p>
      </dgm:t>
    </dgm:pt>
    <dgm:pt modelId="{C58A9564-3BB3-4290-BB9F-975968DB15DC}" type="parTrans" cxnId="{2C69031A-B9FA-49A7-A44B-55FC5C7CA9DA}">
      <dgm:prSet/>
      <dgm:spPr/>
      <dgm:t>
        <a:bodyPr/>
        <a:lstStyle/>
        <a:p>
          <a:endParaRPr lang="fr-FR"/>
        </a:p>
      </dgm:t>
    </dgm:pt>
    <dgm:pt modelId="{C3EF7A5C-F64A-44A4-BBAF-2D38051E0225}" type="sibTrans" cxnId="{2C69031A-B9FA-49A7-A44B-55FC5C7CA9DA}">
      <dgm:prSet/>
      <dgm:spPr/>
      <dgm:t>
        <a:bodyPr/>
        <a:lstStyle/>
        <a:p>
          <a:endParaRPr lang="fr-FR"/>
        </a:p>
      </dgm:t>
    </dgm:pt>
    <dgm:pt modelId="{58E31D52-25AC-4D2F-A501-3E83BC09948C}">
      <dgm:prSet phldrT="[Texte]" custT="1"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pPr>
            <a:buFontTx/>
            <a:buNone/>
          </a:pPr>
          <a:r>
            <a:rPr lang="fr-FR" sz="2000" b="1" dirty="0">
              <a:solidFill>
                <a:schemeClr val="accent1">
                  <a:lumMod val="50000"/>
                </a:schemeClr>
              </a:solidFill>
            </a:rPr>
            <a:t>Python orchestration</a:t>
          </a: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9206946A-2471-4086-AA85-531C2E9EF14A}" type="parTrans" cxnId="{CE3C42A4-4C20-4C03-AE67-87290277B9BB}">
      <dgm:prSet/>
      <dgm:spPr/>
      <dgm:t>
        <a:bodyPr/>
        <a:lstStyle/>
        <a:p>
          <a:endParaRPr lang="fr-FR"/>
        </a:p>
      </dgm:t>
    </dgm:pt>
    <dgm:pt modelId="{7BAB541D-0786-49B4-A9C2-10BD11C69BCC}" type="sibTrans" cxnId="{CE3C42A4-4C20-4C03-AE67-87290277B9BB}">
      <dgm:prSet/>
      <dgm:spPr/>
      <dgm:t>
        <a:bodyPr/>
        <a:lstStyle/>
        <a:p>
          <a:endParaRPr lang="fr-FR"/>
        </a:p>
      </dgm:t>
    </dgm:pt>
    <dgm:pt modelId="{69322F2E-F2A1-4E22-BCE5-10E50AD375B4}">
      <dgm:prSet phldrT="[Texte]"/>
      <dgm:spPr/>
      <dgm:t>
        <a:bodyPr/>
        <a:lstStyle/>
        <a:p>
          <a:r>
            <a:rPr lang="fr-FR" dirty="0"/>
            <a:t>6</a:t>
          </a:r>
        </a:p>
      </dgm:t>
    </dgm:pt>
    <dgm:pt modelId="{27736337-8BBE-4FC0-BA88-EC283C0E4844}" type="parTrans" cxnId="{A8ACB3D2-90DE-479E-A8F9-F1F9BC4F87E6}">
      <dgm:prSet/>
      <dgm:spPr/>
      <dgm:t>
        <a:bodyPr/>
        <a:lstStyle/>
        <a:p>
          <a:endParaRPr lang="fr-FR"/>
        </a:p>
      </dgm:t>
    </dgm:pt>
    <dgm:pt modelId="{2CF35579-908F-4B36-9FEC-FDE275D5DC21}" type="sibTrans" cxnId="{A8ACB3D2-90DE-479E-A8F9-F1F9BC4F87E6}">
      <dgm:prSet/>
      <dgm:spPr/>
      <dgm:t>
        <a:bodyPr/>
        <a:lstStyle/>
        <a:p>
          <a:endParaRPr lang="fr-FR"/>
        </a:p>
      </dgm:t>
    </dgm:pt>
    <dgm:pt modelId="{6ED26780-4520-4C66-8990-7D3453547B54}">
      <dgm:prSet custT="1"/>
      <dgm:spPr>
        <a:solidFill>
          <a:schemeClr val="accent1">
            <a:lumMod val="20000"/>
            <a:lumOff val="80000"/>
            <a:alpha val="90000"/>
          </a:schemeClr>
        </a:solidFill>
        <a:ln>
          <a:solidFill>
            <a:schemeClr val="tx1"/>
          </a:solidFill>
        </a:ln>
      </dgm:spPr>
      <dgm:t>
        <a:bodyPr/>
        <a:lstStyle/>
        <a:p>
          <a:pPr>
            <a:buNone/>
          </a:pPr>
          <a:r>
            <a:rPr lang="fr-FR" sz="2000" b="1" dirty="0" err="1">
              <a:solidFill>
                <a:schemeClr val="accent1">
                  <a:lumMod val="50000"/>
                </a:schemeClr>
              </a:solidFill>
            </a:rPr>
            <a:t>Two</a:t>
          </a:r>
          <a:r>
            <a:rPr lang="fr-FR" sz="2000" b="1" dirty="0">
              <a:solidFill>
                <a:schemeClr val="accent1">
                  <a:lumMod val="50000"/>
                </a:schemeClr>
              </a:solidFill>
            </a:rPr>
            <a:t>-stage validation + </a:t>
          </a:r>
          <a:r>
            <a:rPr lang="fr-FR" sz="2000" b="1" dirty="0" err="1">
              <a:solidFill>
                <a:schemeClr val="accent1">
                  <a:lumMod val="50000"/>
                </a:schemeClr>
              </a:solidFill>
            </a:rPr>
            <a:t>energy</a:t>
          </a:r>
          <a:r>
            <a:rPr lang="fr-FR" sz="2000" b="1" dirty="0">
              <a:solidFill>
                <a:schemeClr val="accent1">
                  <a:lumMod val="50000"/>
                </a:schemeClr>
              </a:solidFill>
            </a:rPr>
            <a:t> </a:t>
          </a:r>
          <a:r>
            <a:rPr lang="fr-FR" sz="2000" b="1" dirty="0" err="1">
              <a:solidFill>
                <a:schemeClr val="accent1">
                  <a:lumMod val="50000"/>
                </a:schemeClr>
              </a:solidFill>
            </a:rPr>
            <a:t>analysis</a:t>
          </a:r>
          <a:endParaRPr lang="fr-FR" sz="2000" dirty="0">
            <a:solidFill>
              <a:schemeClr val="accent1">
                <a:lumMod val="50000"/>
              </a:schemeClr>
            </a:solidFill>
          </a:endParaRPr>
        </a:p>
      </dgm:t>
    </dgm:pt>
    <dgm:pt modelId="{9C81181B-057E-4D3C-A653-B0A19AA10384}" type="parTrans" cxnId="{64A9B553-6DB8-4FF6-8592-ADD872633F95}">
      <dgm:prSet/>
      <dgm:spPr/>
      <dgm:t>
        <a:bodyPr/>
        <a:lstStyle/>
        <a:p>
          <a:endParaRPr lang="fr-FR"/>
        </a:p>
      </dgm:t>
    </dgm:pt>
    <dgm:pt modelId="{E0424FCF-45CC-45A1-B5E3-4C0DDD9D104C}" type="sibTrans" cxnId="{64A9B553-6DB8-4FF6-8592-ADD872633F95}">
      <dgm:prSet/>
      <dgm:spPr/>
      <dgm:t>
        <a:bodyPr/>
        <a:lstStyle/>
        <a:p>
          <a:endParaRPr lang="fr-FR"/>
        </a:p>
      </dgm:t>
    </dgm:pt>
    <dgm:pt modelId="{27712838-1741-46D1-B164-627538C58D21}" type="pres">
      <dgm:prSet presAssocID="{0181CCAE-3893-4CEC-B94D-589A64CB84F7}" presName="linearFlow" presStyleCnt="0">
        <dgm:presLayoutVars>
          <dgm:dir/>
          <dgm:animLvl val="lvl"/>
          <dgm:resizeHandles val="exact"/>
        </dgm:presLayoutVars>
      </dgm:prSet>
      <dgm:spPr/>
    </dgm:pt>
    <dgm:pt modelId="{3FEAC26E-4CCE-4516-B575-1A0BA17BD5FC}" type="pres">
      <dgm:prSet presAssocID="{4E863937-B72B-486E-BE07-453DC52D166A}" presName="composite" presStyleCnt="0"/>
      <dgm:spPr/>
    </dgm:pt>
    <dgm:pt modelId="{4EFDFE91-175C-4B2B-9428-707BEDB72C59}" type="pres">
      <dgm:prSet presAssocID="{4E863937-B72B-486E-BE07-453DC52D166A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E016BA7D-DC91-4202-8B38-A745057E47E4}" type="pres">
      <dgm:prSet presAssocID="{4E863937-B72B-486E-BE07-453DC52D166A}" presName="descendantText" presStyleLbl="alignAcc1" presStyleIdx="0" presStyleCnt="3">
        <dgm:presLayoutVars>
          <dgm:bulletEnabled val="1"/>
        </dgm:presLayoutVars>
      </dgm:prSet>
      <dgm:spPr/>
    </dgm:pt>
    <dgm:pt modelId="{D8DBBA0B-4D20-4679-8586-BF55D4E54385}" type="pres">
      <dgm:prSet presAssocID="{A6858CB5-9EDF-44CE-BF42-A7D50A2EF7EF}" presName="sp" presStyleCnt="0"/>
      <dgm:spPr/>
    </dgm:pt>
    <dgm:pt modelId="{69F20886-4A6A-4788-A454-607EC2A65CAF}" type="pres">
      <dgm:prSet presAssocID="{1762F3F1-E27D-4FA7-AC4F-DCA90A26F034}" presName="composite" presStyleCnt="0"/>
      <dgm:spPr/>
    </dgm:pt>
    <dgm:pt modelId="{D87C2897-2C49-4856-BC89-F6D9BA0C8030}" type="pres">
      <dgm:prSet presAssocID="{1762F3F1-E27D-4FA7-AC4F-DCA90A26F03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4B61C233-A8D9-43C5-A3ED-4D2004B25E9E}" type="pres">
      <dgm:prSet presAssocID="{1762F3F1-E27D-4FA7-AC4F-DCA90A26F034}" presName="descendantText" presStyleLbl="alignAcc1" presStyleIdx="1" presStyleCnt="3">
        <dgm:presLayoutVars>
          <dgm:bulletEnabled val="1"/>
        </dgm:presLayoutVars>
      </dgm:prSet>
      <dgm:spPr/>
    </dgm:pt>
    <dgm:pt modelId="{FBE684A7-AF98-4B7D-851E-982111CD9DFE}" type="pres">
      <dgm:prSet presAssocID="{C3EF7A5C-F64A-44A4-BBAF-2D38051E0225}" presName="sp" presStyleCnt="0"/>
      <dgm:spPr/>
    </dgm:pt>
    <dgm:pt modelId="{29039CD6-E891-4408-AEBB-89454151502A}" type="pres">
      <dgm:prSet presAssocID="{69322F2E-F2A1-4E22-BCE5-10E50AD375B4}" presName="composite" presStyleCnt="0"/>
      <dgm:spPr/>
    </dgm:pt>
    <dgm:pt modelId="{64B401EC-354C-461B-B59E-9358C41870A5}" type="pres">
      <dgm:prSet presAssocID="{69322F2E-F2A1-4E22-BCE5-10E50AD375B4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B508D8AF-C730-4AC0-B4BD-6A1FDC8A5913}" type="pres">
      <dgm:prSet presAssocID="{69322F2E-F2A1-4E22-BCE5-10E50AD375B4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C69031A-B9FA-49A7-A44B-55FC5C7CA9DA}" srcId="{0181CCAE-3893-4CEC-B94D-589A64CB84F7}" destId="{1762F3F1-E27D-4FA7-AC4F-DCA90A26F034}" srcOrd="1" destOrd="0" parTransId="{C58A9564-3BB3-4290-BB9F-975968DB15DC}" sibTransId="{C3EF7A5C-F64A-44A4-BBAF-2D38051E0225}"/>
    <dgm:cxn modelId="{8440D13A-06AE-4464-95B6-A992FE0A4FC2}" srcId="{0181CCAE-3893-4CEC-B94D-589A64CB84F7}" destId="{4E863937-B72B-486E-BE07-453DC52D166A}" srcOrd="0" destOrd="0" parTransId="{AE8551A2-1CDB-4684-B47D-8822284140CD}" sibTransId="{A6858CB5-9EDF-44CE-BF42-A7D50A2EF7EF}"/>
    <dgm:cxn modelId="{6D27BF3C-86FE-4661-9826-89E3DABDAE58}" type="presOf" srcId="{10FE56F4-6485-4D81-B35E-B0FBFF8C2216}" destId="{E016BA7D-DC91-4202-8B38-A745057E47E4}" srcOrd="0" destOrd="0" presId="urn:microsoft.com/office/officeart/2005/8/layout/chevron2"/>
    <dgm:cxn modelId="{E207CB52-1ACF-4B74-ADCA-D0FF9BF6A803}" type="presOf" srcId="{58E31D52-25AC-4D2F-A501-3E83BC09948C}" destId="{4B61C233-A8D9-43C5-A3ED-4D2004B25E9E}" srcOrd="0" destOrd="0" presId="urn:microsoft.com/office/officeart/2005/8/layout/chevron2"/>
    <dgm:cxn modelId="{64A9B553-6DB8-4FF6-8592-ADD872633F95}" srcId="{69322F2E-F2A1-4E22-BCE5-10E50AD375B4}" destId="{6ED26780-4520-4C66-8990-7D3453547B54}" srcOrd="0" destOrd="0" parTransId="{9C81181B-057E-4D3C-A653-B0A19AA10384}" sibTransId="{E0424FCF-45CC-45A1-B5E3-4C0DDD9D104C}"/>
    <dgm:cxn modelId="{B76D6E80-7B57-4598-B7E5-25FDC27A856B}" type="presOf" srcId="{69322F2E-F2A1-4E22-BCE5-10E50AD375B4}" destId="{64B401EC-354C-461B-B59E-9358C41870A5}" srcOrd="0" destOrd="0" presId="urn:microsoft.com/office/officeart/2005/8/layout/chevron2"/>
    <dgm:cxn modelId="{A672BE8F-22BA-4521-ABDA-B5DFD502808A}" type="presOf" srcId="{1762F3F1-E27D-4FA7-AC4F-DCA90A26F034}" destId="{D87C2897-2C49-4856-BC89-F6D9BA0C8030}" srcOrd="0" destOrd="0" presId="urn:microsoft.com/office/officeart/2005/8/layout/chevron2"/>
    <dgm:cxn modelId="{CE3C42A4-4C20-4C03-AE67-87290277B9BB}" srcId="{1762F3F1-E27D-4FA7-AC4F-DCA90A26F034}" destId="{58E31D52-25AC-4D2F-A501-3E83BC09948C}" srcOrd="0" destOrd="0" parTransId="{9206946A-2471-4086-AA85-531C2E9EF14A}" sibTransId="{7BAB541D-0786-49B4-A9C2-10BD11C69BCC}"/>
    <dgm:cxn modelId="{A8ACB3D2-90DE-479E-A8F9-F1F9BC4F87E6}" srcId="{0181CCAE-3893-4CEC-B94D-589A64CB84F7}" destId="{69322F2E-F2A1-4E22-BCE5-10E50AD375B4}" srcOrd="2" destOrd="0" parTransId="{27736337-8BBE-4FC0-BA88-EC283C0E4844}" sibTransId="{2CF35579-908F-4B36-9FEC-FDE275D5DC21}"/>
    <dgm:cxn modelId="{60CD6DD6-6242-42C3-BD89-7B31EE5CD3C2}" type="presOf" srcId="{4E863937-B72B-486E-BE07-453DC52D166A}" destId="{4EFDFE91-175C-4B2B-9428-707BEDB72C59}" srcOrd="0" destOrd="0" presId="urn:microsoft.com/office/officeart/2005/8/layout/chevron2"/>
    <dgm:cxn modelId="{B9165BDA-2F9B-4EC9-9B9F-DA74A8983F37}" srcId="{4E863937-B72B-486E-BE07-453DC52D166A}" destId="{10FE56F4-6485-4D81-B35E-B0FBFF8C2216}" srcOrd="0" destOrd="0" parTransId="{5798E103-45E6-4199-818D-17D2F4434770}" sibTransId="{0163900B-7597-44FB-8DF6-D3C95CBDA0E7}"/>
    <dgm:cxn modelId="{F03EE8E7-83D6-4C81-A9B8-B207AC8D498B}" type="presOf" srcId="{0181CCAE-3893-4CEC-B94D-589A64CB84F7}" destId="{27712838-1741-46D1-B164-627538C58D21}" srcOrd="0" destOrd="0" presId="urn:microsoft.com/office/officeart/2005/8/layout/chevron2"/>
    <dgm:cxn modelId="{A32ECBF2-2B9D-4B45-9F8E-7ED5B7122D1D}" type="presOf" srcId="{6ED26780-4520-4C66-8990-7D3453547B54}" destId="{B508D8AF-C730-4AC0-B4BD-6A1FDC8A5913}" srcOrd="0" destOrd="0" presId="urn:microsoft.com/office/officeart/2005/8/layout/chevron2"/>
    <dgm:cxn modelId="{DE11FA1C-83BA-45A4-928D-80778178BC2F}" type="presParOf" srcId="{27712838-1741-46D1-B164-627538C58D21}" destId="{3FEAC26E-4CCE-4516-B575-1A0BA17BD5FC}" srcOrd="0" destOrd="0" presId="urn:microsoft.com/office/officeart/2005/8/layout/chevron2"/>
    <dgm:cxn modelId="{E3A86D0A-4750-4CDB-972A-BE9DD9608F52}" type="presParOf" srcId="{3FEAC26E-4CCE-4516-B575-1A0BA17BD5FC}" destId="{4EFDFE91-175C-4B2B-9428-707BEDB72C59}" srcOrd="0" destOrd="0" presId="urn:microsoft.com/office/officeart/2005/8/layout/chevron2"/>
    <dgm:cxn modelId="{A766381F-2B98-43D2-BBC3-39758A16334D}" type="presParOf" srcId="{3FEAC26E-4CCE-4516-B575-1A0BA17BD5FC}" destId="{E016BA7D-DC91-4202-8B38-A745057E47E4}" srcOrd="1" destOrd="0" presId="urn:microsoft.com/office/officeart/2005/8/layout/chevron2"/>
    <dgm:cxn modelId="{8052E861-F87F-4096-B289-4B7102EB5677}" type="presParOf" srcId="{27712838-1741-46D1-B164-627538C58D21}" destId="{D8DBBA0B-4D20-4679-8586-BF55D4E54385}" srcOrd="1" destOrd="0" presId="urn:microsoft.com/office/officeart/2005/8/layout/chevron2"/>
    <dgm:cxn modelId="{22D24650-A64B-40EA-89C5-7A8F6DE5167F}" type="presParOf" srcId="{27712838-1741-46D1-B164-627538C58D21}" destId="{69F20886-4A6A-4788-A454-607EC2A65CAF}" srcOrd="2" destOrd="0" presId="urn:microsoft.com/office/officeart/2005/8/layout/chevron2"/>
    <dgm:cxn modelId="{C2292612-6577-4AEC-92F9-9E35921443CA}" type="presParOf" srcId="{69F20886-4A6A-4788-A454-607EC2A65CAF}" destId="{D87C2897-2C49-4856-BC89-F6D9BA0C8030}" srcOrd="0" destOrd="0" presId="urn:microsoft.com/office/officeart/2005/8/layout/chevron2"/>
    <dgm:cxn modelId="{D3181368-C7EC-4C0F-A107-4439781FD42E}" type="presParOf" srcId="{69F20886-4A6A-4788-A454-607EC2A65CAF}" destId="{4B61C233-A8D9-43C5-A3ED-4D2004B25E9E}" srcOrd="1" destOrd="0" presId="urn:microsoft.com/office/officeart/2005/8/layout/chevron2"/>
    <dgm:cxn modelId="{86F5B94D-0458-498F-A946-D66C999963B0}" type="presParOf" srcId="{27712838-1741-46D1-B164-627538C58D21}" destId="{FBE684A7-AF98-4B7D-851E-982111CD9DFE}" srcOrd="3" destOrd="0" presId="urn:microsoft.com/office/officeart/2005/8/layout/chevron2"/>
    <dgm:cxn modelId="{D64DA0BD-5E09-4838-A7DD-BFDF7B3B42D1}" type="presParOf" srcId="{27712838-1741-46D1-B164-627538C58D21}" destId="{29039CD6-E891-4408-AEBB-89454151502A}" srcOrd="4" destOrd="0" presId="urn:microsoft.com/office/officeart/2005/8/layout/chevron2"/>
    <dgm:cxn modelId="{9EB86420-CF3F-4402-B563-42397D57B0DE}" type="presParOf" srcId="{29039CD6-E891-4408-AEBB-89454151502A}" destId="{64B401EC-354C-461B-B59E-9358C41870A5}" srcOrd="0" destOrd="0" presId="urn:microsoft.com/office/officeart/2005/8/layout/chevron2"/>
    <dgm:cxn modelId="{6CBD3366-419B-48CA-93E7-CF290C176016}" type="presParOf" srcId="{29039CD6-E891-4408-AEBB-89454151502A}" destId="{B508D8AF-C730-4AC0-B4BD-6A1FDC8A591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A62D8-5A33-44C4-B00F-7D882B81C623}">
      <dsp:nvSpPr>
        <dsp:cNvPr id="0" name=""/>
        <dsp:cNvSpPr/>
      </dsp:nvSpPr>
      <dsp:spPr>
        <a:xfrm>
          <a:off x="3" y="0"/>
          <a:ext cx="12191993" cy="5708072"/>
        </a:xfrm>
        <a:prstGeom prst="rightArrow">
          <a:avLst/>
        </a:prstGeom>
        <a:solidFill>
          <a:schemeClr val="accent1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1CE96-80A9-4EA1-AC8A-A116A2FB33E6}">
      <dsp:nvSpPr>
        <dsp:cNvPr id="0" name=""/>
        <dsp:cNvSpPr/>
      </dsp:nvSpPr>
      <dsp:spPr>
        <a:xfrm>
          <a:off x="5472" y="1712421"/>
          <a:ext cx="1458515" cy="228322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chemeClr val="accent1">
                  <a:lumMod val="50000"/>
                </a:schemeClr>
              </a:solidFill>
            </a:rPr>
            <a:t>Import the </a:t>
          </a:r>
          <a:r>
            <a:rPr lang="en-US" sz="1600" b="1" kern="1200" dirty="0" err="1">
              <a:solidFill>
                <a:schemeClr val="accent1">
                  <a:lumMod val="50000"/>
                </a:schemeClr>
              </a:solidFill>
            </a:rPr>
            <a:t>Dobot</a:t>
          </a:r>
          <a:r>
            <a:rPr lang="en-US" sz="1600" b="1" kern="1200" dirty="0">
              <a:solidFill>
                <a:schemeClr val="accent1">
                  <a:lumMod val="50000"/>
                </a:schemeClr>
              </a:solidFill>
            </a:rPr>
            <a:t> CR5 CAD assembly	</a:t>
          </a:r>
          <a:endParaRPr lang="fr-FR" sz="1600" kern="1200" dirty="0">
            <a:solidFill>
              <a:schemeClr val="accent1">
                <a:lumMod val="50000"/>
              </a:schemeClr>
            </a:solidFill>
          </a:endParaRPr>
        </a:p>
      </dsp:txBody>
      <dsp:txXfrm>
        <a:off x="76671" y="1783620"/>
        <a:ext cx="1316117" cy="2140830"/>
      </dsp:txXfrm>
    </dsp:sp>
    <dsp:sp modelId="{8A62058B-6F5D-4749-8ECA-7362441DEF4A}">
      <dsp:nvSpPr>
        <dsp:cNvPr id="0" name=""/>
        <dsp:cNvSpPr/>
      </dsp:nvSpPr>
      <dsp:spPr>
        <a:xfrm>
          <a:off x="1536913" y="1712421"/>
          <a:ext cx="1458515" cy="228322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Identify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the six links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in the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assembly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tree</a:t>
          </a:r>
          <a:endParaRPr lang="fr-FR" sz="1600" kern="1200" dirty="0">
            <a:solidFill>
              <a:schemeClr val="accent1">
                <a:lumMod val="50000"/>
              </a:schemeClr>
            </a:solidFill>
          </a:endParaRPr>
        </a:p>
      </dsp:txBody>
      <dsp:txXfrm>
        <a:off x="1608112" y="1783620"/>
        <a:ext cx="1316117" cy="2140830"/>
      </dsp:txXfrm>
    </dsp:sp>
    <dsp:sp modelId="{391B92F8-147C-4255-A665-6E99E446D697}">
      <dsp:nvSpPr>
        <dsp:cNvPr id="0" name=""/>
        <dsp:cNvSpPr/>
      </dsp:nvSpPr>
      <dsp:spPr>
        <a:xfrm>
          <a:off x="3068354" y="1712421"/>
          <a:ext cx="1458515" cy="228322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For </a:t>
          </a: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each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link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, 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open 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Tools → </a:t>
          </a: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Measure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→ </a:t>
          </a: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Measure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Inertia</a:t>
          </a:r>
          <a:endParaRPr lang="fr-FR" sz="1600" kern="1200" dirty="0">
            <a:solidFill>
              <a:schemeClr val="accent1">
                <a:lumMod val="50000"/>
              </a:schemeClr>
            </a:solidFill>
          </a:endParaRPr>
        </a:p>
      </dsp:txBody>
      <dsp:txXfrm>
        <a:off x="3139553" y="1783620"/>
        <a:ext cx="1316117" cy="2140830"/>
      </dsp:txXfrm>
    </dsp:sp>
    <dsp:sp modelId="{AB233513-533B-4C4F-ACB3-47684C75551B}">
      <dsp:nvSpPr>
        <dsp:cNvPr id="0" name=""/>
        <dsp:cNvSpPr/>
      </dsp:nvSpPr>
      <dsp:spPr>
        <a:xfrm>
          <a:off x="4599796" y="1712421"/>
          <a:ext cx="1458515" cy="228322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Set the </a:t>
          </a: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material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density</a:t>
          </a:r>
          <a:endParaRPr kumimoji="0" lang="fr-FR" altLang="fr-FR" sz="1600" b="0" i="0" u="none" strike="noStrike" kern="1200" cap="none" normalizeH="0" baseline="0" dirty="0">
            <a:ln>
              <a:noFill/>
            </a:ln>
            <a:solidFill>
              <a:schemeClr val="accent1">
                <a:lumMod val="50000"/>
              </a:schemeClr>
            </a:solidFill>
            <a:effectLst/>
            <a:latin typeface="Calibri (Corps)"/>
          </a:endParaRPr>
        </a:p>
      </dsp:txBody>
      <dsp:txXfrm>
        <a:off x="4670995" y="1783620"/>
        <a:ext cx="1316117" cy="2140830"/>
      </dsp:txXfrm>
    </dsp:sp>
    <dsp:sp modelId="{444F9EEA-C791-4D36-95E2-02F60C0ACFD5}">
      <dsp:nvSpPr>
        <dsp:cNvPr id="0" name=""/>
        <dsp:cNvSpPr/>
      </dsp:nvSpPr>
      <dsp:spPr>
        <a:xfrm>
          <a:off x="6131237" y="1712421"/>
          <a:ext cx="1458515" cy="228322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Read off 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the 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mass, centre of mass position </a:t>
          </a:r>
          <a:endParaRPr kumimoji="0" lang="fr-FR" altLang="fr-FR" sz="1600" b="0" i="0" u="none" strike="noStrike" kern="1200" cap="none" normalizeH="0" baseline="0" dirty="0">
            <a:ln>
              <a:noFill/>
            </a:ln>
            <a:solidFill>
              <a:schemeClr val="accent1">
                <a:lumMod val="50000"/>
              </a:schemeClr>
            </a:solidFill>
            <a:effectLst/>
            <a:latin typeface="Calibri (Corps)"/>
          </a:endParaRPr>
        </a:p>
      </dsp:txBody>
      <dsp:txXfrm>
        <a:off x="6202436" y="1783620"/>
        <a:ext cx="1316117" cy="2140830"/>
      </dsp:txXfrm>
    </dsp:sp>
    <dsp:sp modelId="{7A5A6857-1725-4A5C-B804-D2193FEBE0CE}">
      <dsp:nvSpPr>
        <dsp:cNvPr id="0" name=""/>
        <dsp:cNvSpPr/>
      </dsp:nvSpPr>
      <dsp:spPr>
        <a:xfrm>
          <a:off x="7662679" y="1712421"/>
          <a:ext cx="1458515" cy="228322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Export the values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by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copying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them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from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the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Properties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panel. </a:t>
          </a:r>
        </a:p>
      </dsp:txBody>
      <dsp:txXfrm>
        <a:off x="7733878" y="1783620"/>
        <a:ext cx="1316117" cy="2140830"/>
      </dsp:txXfrm>
    </dsp:sp>
    <dsp:sp modelId="{EAC02216-BB11-4519-B68C-769B2A1E5831}">
      <dsp:nvSpPr>
        <dsp:cNvPr id="0" name=""/>
        <dsp:cNvSpPr/>
      </dsp:nvSpPr>
      <dsp:spPr>
        <a:xfrm>
          <a:off x="9194120" y="1712421"/>
          <a:ext cx="1458515" cy="228322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Paste </a:t>
          </a: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each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link's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values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into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the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corresponding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BodyShape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block in the </a:t>
          </a:r>
          <a:r>
            <a:rPr kumimoji="0" lang="fr-FR" altLang="fr-FR" sz="1600" b="0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Dymola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model</a:t>
          </a:r>
        </a:p>
      </dsp:txBody>
      <dsp:txXfrm>
        <a:off x="9265319" y="1783620"/>
        <a:ext cx="1316117" cy="2140830"/>
      </dsp:txXfrm>
    </dsp:sp>
    <dsp:sp modelId="{230E09F1-6721-445A-AC3A-D1F6CF9FB128}">
      <dsp:nvSpPr>
        <dsp:cNvPr id="0" name=""/>
        <dsp:cNvSpPr/>
      </dsp:nvSpPr>
      <dsp:spPr>
        <a:xfrm>
          <a:off x="10725561" y="1712421"/>
          <a:ext cx="1460965" cy="2283228"/>
        </a:xfrm>
        <a:prstGeom prst="roundRect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fr-FR" altLang="fr-FR" sz="1600" b="1" i="0" u="none" strike="noStrike" kern="1200" cap="none" normalizeH="0" baseline="0" dirty="0" err="1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Repeat</a:t>
          </a:r>
          <a:r>
            <a:rPr kumimoji="0" lang="fr-FR" altLang="fr-FR" sz="1600" b="1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for all six links.</a:t>
          </a:r>
          <a:r>
            <a:rPr kumimoji="0" lang="fr-FR" altLang="fr-FR" sz="1600" b="0" i="0" u="none" strike="noStrike" kern="1200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Calibri (Corps)"/>
            </a:rPr>
            <a:t> </a:t>
          </a:r>
        </a:p>
      </dsp:txBody>
      <dsp:txXfrm>
        <a:off x="10796879" y="1783739"/>
        <a:ext cx="1318329" cy="21405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DFE91-175C-4B2B-9428-707BEDB72C59}">
      <dsp:nvSpPr>
        <dsp:cNvPr id="0" name=""/>
        <dsp:cNvSpPr/>
      </dsp:nvSpPr>
      <dsp:spPr>
        <a:xfrm rot="5400000">
          <a:off x="-152254" y="153434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1</a:t>
          </a:r>
        </a:p>
      </dsp:txBody>
      <dsp:txXfrm rot="-5400000">
        <a:off x="1" y="356440"/>
        <a:ext cx="710519" cy="304508"/>
      </dsp:txXfrm>
    </dsp:sp>
    <dsp:sp modelId="{E016BA7D-DC91-4202-8B38-A745057E47E4}">
      <dsp:nvSpPr>
        <dsp:cNvPr id="0" name=""/>
        <dsp:cNvSpPr/>
      </dsp:nvSpPr>
      <dsp:spPr>
        <a:xfrm rot="5400000">
          <a:off x="4860942" y="-4149243"/>
          <a:ext cx="659767" cy="8960614"/>
        </a:xfrm>
        <a:prstGeom prst="round2SameRect">
          <a:avLst/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000" b="1" kern="1200" dirty="0">
              <a:solidFill>
                <a:schemeClr val="accent1">
                  <a:lumMod val="50000"/>
                </a:schemeClr>
              </a:solidFill>
            </a:rPr>
            <a:t>Real-time experiment on the ALIX line  </a:t>
          </a: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33387"/>
        <a:ext cx="8928407" cy="595353"/>
      </dsp:txXfrm>
    </dsp:sp>
    <dsp:sp modelId="{D87C2897-2C49-4856-BC89-F6D9BA0C8030}">
      <dsp:nvSpPr>
        <dsp:cNvPr id="0" name=""/>
        <dsp:cNvSpPr/>
      </dsp:nvSpPr>
      <dsp:spPr>
        <a:xfrm rot="5400000">
          <a:off x="-152254" y="962088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2</a:t>
          </a:r>
        </a:p>
      </dsp:txBody>
      <dsp:txXfrm rot="-5400000">
        <a:off x="1" y="1165094"/>
        <a:ext cx="710519" cy="304508"/>
      </dsp:txXfrm>
    </dsp:sp>
    <dsp:sp modelId="{4B61C233-A8D9-43C5-A3ED-4D2004B25E9E}">
      <dsp:nvSpPr>
        <dsp:cNvPr id="0" name=""/>
        <dsp:cNvSpPr/>
      </dsp:nvSpPr>
      <dsp:spPr>
        <a:xfrm rot="5400000">
          <a:off x="4860942" y="-3340588"/>
          <a:ext cx="659767" cy="8960614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2000" b="1" kern="1200" dirty="0">
              <a:solidFill>
                <a:schemeClr val="accent1">
                  <a:lumMod val="50000"/>
                </a:schemeClr>
              </a:solidFill>
            </a:rPr>
            <a:t>TDMS data acquisition</a:t>
          </a: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842042"/>
        <a:ext cx="8928407" cy="595353"/>
      </dsp:txXfrm>
    </dsp:sp>
    <dsp:sp modelId="{64B401EC-354C-461B-B59E-9358C41870A5}">
      <dsp:nvSpPr>
        <dsp:cNvPr id="0" name=""/>
        <dsp:cNvSpPr/>
      </dsp:nvSpPr>
      <dsp:spPr>
        <a:xfrm rot="5400000">
          <a:off x="-152254" y="1770743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3</a:t>
          </a:r>
        </a:p>
      </dsp:txBody>
      <dsp:txXfrm rot="-5400000">
        <a:off x="1" y="1973749"/>
        <a:ext cx="710519" cy="304508"/>
      </dsp:txXfrm>
    </dsp:sp>
    <dsp:sp modelId="{B508D8AF-C730-4AC0-B4BD-6A1FDC8A5913}">
      <dsp:nvSpPr>
        <dsp:cNvPr id="0" name=""/>
        <dsp:cNvSpPr/>
      </dsp:nvSpPr>
      <dsp:spPr>
        <a:xfrm rot="5400000">
          <a:off x="4860942" y="-2531934"/>
          <a:ext cx="659767" cy="8960614"/>
        </a:xfrm>
        <a:prstGeom prst="round2SameRect">
          <a:avLst/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7368" tIns="24765" rIns="24765" bIns="24765" numCol="1" spcCol="1270" anchor="ctr" anchorCtr="0">
          <a:noAutofit/>
        </a:bodyPr>
        <a:lstStyle/>
        <a:p>
          <a:pPr marL="285750" lvl="1" indent="-285750" algn="l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3900" kern="1200"/>
        </a:p>
      </dsp:txBody>
      <dsp:txXfrm rot="-5400000">
        <a:off x="710519" y="1650696"/>
        <a:ext cx="8928407" cy="5953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FDFE91-175C-4B2B-9428-707BEDB72C59}">
      <dsp:nvSpPr>
        <dsp:cNvPr id="0" name=""/>
        <dsp:cNvSpPr/>
      </dsp:nvSpPr>
      <dsp:spPr>
        <a:xfrm rot="5400000">
          <a:off x="-152254" y="153434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4</a:t>
          </a:r>
        </a:p>
      </dsp:txBody>
      <dsp:txXfrm rot="-5400000">
        <a:off x="1" y="356440"/>
        <a:ext cx="710519" cy="304508"/>
      </dsp:txXfrm>
    </dsp:sp>
    <dsp:sp modelId="{E016BA7D-DC91-4202-8B38-A745057E47E4}">
      <dsp:nvSpPr>
        <dsp:cNvPr id="0" name=""/>
        <dsp:cNvSpPr/>
      </dsp:nvSpPr>
      <dsp:spPr>
        <a:xfrm rot="5400000">
          <a:off x="4860942" y="-4149243"/>
          <a:ext cx="659767" cy="8960614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33387"/>
        <a:ext cx="8928407" cy="595353"/>
      </dsp:txXfrm>
    </dsp:sp>
    <dsp:sp modelId="{D87C2897-2C49-4856-BC89-F6D9BA0C8030}">
      <dsp:nvSpPr>
        <dsp:cNvPr id="0" name=""/>
        <dsp:cNvSpPr/>
      </dsp:nvSpPr>
      <dsp:spPr>
        <a:xfrm rot="5400000">
          <a:off x="-152254" y="962088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5</a:t>
          </a:r>
        </a:p>
      </dsp:txBody>
      <dsp:txXfrm rot="-5400000">
        <a:off x="1" y="1165094"/>
        <a:ext cx="710519" cy="304508"/>
      </dsp:txXfrm>
    </dsp:sp>
    <dsp:sp modelId="{4B61C233-A8D9-43C5-A3ED-4D2004B25E9E}">
      <dsp:nvSpPr>
        <dsp:cNvPr id="0" name=""/>
        <dsp:cNvSpPr/>
      </dsp:nvSpPr>
      <dsp:spPr>
        <a:xfrm rot="5400000">
          <a:off x="4860942" y="-3340588"/>
          <a:ext cx="659767" cy="8960614"/>
        </a:xfrm>
        <a:prstGeom prst="round2SameRect">
          <a:avLst/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fr-FR" sz="2000" b="1" kern="1200" dirty="0">
              <a:solidFill>
                <a:schemeClr val="accent1">
                  <a:lumMod val="50000"/>
                </a:schemeClr>
              </a:solidFill>
            </a:rPr>
            <a:t>Python orchestration</a:t>
          </a: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842042"/>
        <a:ext cx="8928407" cy="595353"/>
      </dsp:txXfrm>
    </dsp:sp>
    <dsp:sp modelId="{64B401EC-354C-461B-B59E-9358C41870A5}">
      <dsp:nvSpPr>
        <dsp:cNvPr id="0" name=""/>
        <dsp:cNvSpPr/>
      </dsp:nvSpPr>
      <dsp:spPr>
        <a:xfrm rot="5400000">
          <a:off x="-152254" y="1770743"/>
          <a:ext cx="1015027" cy="71051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6</a:t>
          </a:r>
        </a:p>
      </dsp:txBody>
      <dsp:txXfrm rot="-5400000">
        <a:off x="1" y="1973749"/>
        <a:ext cx="710519" cy="304508"/>
      </dsp:txXfrm>
    </dsp:sp>
    <dsp:sp modelId="{B508D8AF-C730-4AC0-B4BD-6A1FDC8A5913}">
      <dsp:nvSpPr>
        <dsp:cNvPr id="0" name=""/>
        <dsp:cNvSpPr/>
      </dsp:nvSpPr>
      <dsp:spPr>
        <a:xfrm rot="5400000">
          <a:off x="4860942" y="-2531934"/>
          <a:ext cx="659767" cy="8960614"/>
        </a:xfrm>
        <a:prstGeom prst="round2SameRect">
          <a:avLst/>
        </a:prstGeom>
        <a:solidFill>
          <a:schemeClr val="accent1">
            <a:lumMod val="20000"/>
            <a:lumOff val="80000"/>
            <a:alpha val="9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fr-FR" sz="2000" b="1" kern="1200" dirty="0" err="1">
              <a:solidFill>
                <a:schemeClr val="accent1">
                  <a:lumMod val="50000"/>
                </a:schemeClr>
              </a:solidFill>
            </a:rPr>
            <a:t>Two</a:t>
          </a:r>
          <a:r>
            <a:rPr lang="fr-FR" sz="2000" b="1" kern="1200" dirty="0">
              <a:solidFill>
                <a:schemeClr val="accent1">
                  <a:lumMod val="50000"/>
                </a:schemeClr>
              </a:solidFill>
            </a:rPr>
            <a:t>-stage validation + </a:t>
          </a:r>
          <a:r>
            <a:rPr lang="fr-FR" sz="2000" b="1" kern="1200" dirty="0" err="1">
              <a:solidFill>
                <a:schemeClr val="accent1">
                  <a:lumMod val="50000"/>
                </a:schemeClr>
              </a:solidFill>
            </a:rPr>
            <a:t>energy</a:t>
          </a:r>
          <a:r>
            <a:rPr lang="fr-FR" sz="2000" b="1" kern="1200" dirty="0">
              <a:solidFill>
                <a:schemeClr val="accent1">
                  <a:lumMod val="50000"/>
                </a:schemeClr>
              </a:solidFill>
            </a:rPr>
            <a:t> </a:t>
          </a:r>
          <a:r>
            <a:rPr lang="fr-FR" sz="2000" b="1" kern="1200" dirty="0" err="1">
              <a:solidFill>
                <a:schemeClr val="accent1">
                  <a:lumMod val="50000"/>
                </a:schemeClr>
              </a:solidFill>
            </a:rPr>
            <a:t>analysis</a:t>
          </a:r>
          <a:endParaRPr lang="fr-FR" sz="2000" kern="1200" dirty="0">
            <a:solidFill>
              <a:schemeClr val="accent1">
                <a:lumMod val="50000"/>
              </a:schemeClr>
            </a:solidFill>
          </a:endParaRPr>
        </a:p>
      </dsp:txBody>
      <dsp:txXfrm rot="-5400000">
        <a:off x="710519" y="1650696"/>
        <a:ext cx="8928407" cy="5953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442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561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880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16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35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00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815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81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71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64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4" name="Shape 2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8" name="Shape 6"/>
          <p:cNvSpPr/>
          <p:nvPr/>
        </p:nvSpPr>
        <p:spPr>
          <a:xfrm>
            <a:off x="196456" y="5327072"/>
            <a:ext cx="11957331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6F6B2799-45CC-2529-CDFF-EAEDDA3F0D65}"/>
              </a:ext>
            </a:extLst>
          </p:cNvPr>
          <p:cNvSpPr/>
          <p:nvPr/>
        </p:nvSpPr>
        <p:spPr>
          <a:xfrm>
            <a:off x="12127992" y="0"/>
            <a:ext cx="64008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A3511DD-8AEA-597F-D36F-546C06ECF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1416"/>
            <a:ext cx="1448107" cy="119436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C22848D-9FA9-9779-9C96-A7C9B3BAE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3098" y="-12008"/>
            <a:ext cx="8613809" cy="1194364"/>
          </a:xfrm>
          <a:prstGeom prst="rect">
            <a:avLst/>
          </a:prstGeom>
        </p:spPr>
      </p:pic>
      <p:pic>
        <p:nvPicPr>
          <p:cNvPr id="17" name="Picture 2" descr="Download Dassault Systèmes SE (3DS) Logo in SVG Vector or ...">
            <a:extLst>
              <a:ext uri="{FF2B5EF4-FFF2-40B4-BE49-F238E27FC236}">
                <a16:creationId xmlns:a16="http://schemas.microsoft.com/office/drawing/2014/main" id="{96B591B0-F02E-2A89-0812-9B027564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334" y="49827"/>
            <a:ext cx="1768760" cy="119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93AE9CF-B259-46AC-B9C9-2DA957158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354" y="1229204"/>
            <a:ext cx="11905740" cy="1063923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9C1524BE-558F-BB59-705E-942B69F2E3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0094" y="2293127"/>
            <a:ext cx="6013247" cy="4426328"/>
          </a:xfrm>
          <a:prstGeom prst="rect">
            <a:avLst/>
          </a:prstGeom>
        </p:spPr>
      </p:pic>
      <p:sp>
        <p:nvSpPr>
          <p:cNvPr id="24" name="Text 4">
            <a:extLst>
              <a:ext uri="{FF2B5EF4-FFF2-40B4-BE49-F238E27FC236}">
                <a16:creationId xmlns:a16="http://schemas.microsoft.com/office/drawing/2014/main" id="{61939C9E-E474-3C50-9B3F-6BFA52DDB7E6}"/>
              </a:ext>
            </a:extLst>
          </p:cNvPr>
          <p:cNvSpPr/>
          <p:nvPr/>
        </p:nvSpPr>
        <p:spPr>
          <a:xfrm>
            <a:off x="472071" y="4263149"/>
            <a:ext cx="12070357" cy="556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Ms. Samiksha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Satre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Duration: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4 Months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Supervisor: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Mr.Romain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Delabeye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Period: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February 2026 To June 2026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Location: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Isae-supméca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Aptos Display" panose="020B0004020202020204" pitchFamily="34" charset="0"/>
                <a:cs typeface="Times New Roman" panose="02020603050405020304" pitchFamily="18" charset="0"/>
              </a:rPr>
              <a:t> Paris, France</a:t>
            </a:r>
            <a:endParaRPr lang="fr-FR" b="1" dirty="0">
              <a:solidFill>
                <a:schemeClr val="accent1">
                  <a:lumMod val="50000"/>
                </a:schemeClr>
              </a:solidFill>
              <a:latin typeface="Aptos Display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solidFill>
                <a:srgbClr val="C9D6E8"/>
              </a:solidFill>
              <a:latin typeface="Aptos Display" panose="020B0004020202020204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Aptos Display" panose="020B0004020202020204" pitchFamily="34" charset="0"/>
            </a:endParaRPr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7B353784-E168-2417-7A53-0A9E3878633B}"/>
              </a:ext>
            </a:extLst>
          </p:cNvPr>
          <p:cNvSpPr/>
          <p:nvPr/>
        </p:nvSpPr>
        <p:spPr>
          <a:xfrm>
            <a:off x="106653" y="2740172"/>
            <a:ext cx="6965953" cy="12217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59D548C6-D77C-2CEA-DB14-C539CC32D2B5}"/>
              </a:ext>
            </a:extLst>
          </p:cNvPr>
          <p:cNvSpPr/>
          <p:nvPr/>
        </p:nvSpPr>
        <p:spPr>
          <a:xfrm flipH="1">
            <a:off x="170340" y="-23637"/>
            <a:ext cx="12017223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284EECC7-7784-C3DC-1CF8-A29E527B23BB}"/>
              </a:ext>
            </a:extLst>
          </p:cNvPr>
          <p:cNvSpPr/>
          <p:nvPr/>
        </p:nvSpPr>
        <p:spPr>
          <a:xfrm flipH="1">
            <a:off x="196455" y="6812281"/>
            <a:ext cx="11991107" cy="457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44394" y="539149"/>
            <a:ext cx="113504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Trebuchet MS" panose="020B0603020202020204" pitchFamily="34" charset="0"/>
              </a:rPr>
              <a:t>INDEX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367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6367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SYSTEM</a:t>
            </a:r>
            <a:endParaRPr lang="en-US" sz="1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6992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163677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MULTIPHYSICS MODELS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23774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25054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representation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51960" y="23774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25054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analysis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936992" y="23774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36992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312" y="250545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export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11312" y="2834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32461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324612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0" name="Text 28"/>
          <p:cNvSpPr/>
          <p:nvPr/>
        </p:nvSpPr>
        <p:spPr>
          <a:xfrm>
            <a:off x="841248" y="33741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orchestration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251960" y="32461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51960" y="324612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33741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simulation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936992" y="32461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36992" y="324612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8" name="Text 36"/>
          <p:cNvSpPr/>
          <p:nvPr/>
        </p:nvSpPr>
        <p:spPr>
          <a:xfrm>
            <a:off x="8211312" y="33741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 measurements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8211312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411480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6928" y="411480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2" name="Text 40"/>
          <p:cNvSpPr/>
          <p:nvPr/>
        </p:nvSpPr>
        <p:spPr>
          <a:xfrm>
            <a:off x="841248" y="42428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analysis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251960" y="411480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251960" y="4114800"/>
            <a:ext cx="91440" cy="73152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46" name="Text 44"/>
          <p:cNvSpPr/>
          <p:nvPr/>
        </p:nvSpPr>
        <p:spPr>
          <a:xfrm>
            <a:off x="4526280" y="42428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/ observability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7936992" y="411480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936992" y="4114800"/>
            <a:ext cx="91440" cy="73152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50" name="Text 48"/>
          <p:cNvSpPr/>
          <p:nvPr/>
        </p:nvSpPr>
        <p:spPr>
          <a:xfrm>
            <a:off x="8211312" y="424281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identification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8211312" y="45720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 Foundation in place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6" name="Shape 6">
            <a:extLst>
              <a:ext uri="{FF2B5EF4-FFF2-40B4-BE49-F238E27FC236}">
                <a16:creationId xmlns:a16="http://schemas.microsoft.com/office/drawing/2014/main" id="{91A2914D-73AC-A81A-C7DE-DA16166CDD42}"/>
              </a:ext>
            </a:extLst>
          </p:cNvPr>
          <p:cNvSpPr/>
          <p:nvPr/>
        </p:nvSpPr>
        <p:spPr>
          <a:xfrm flipV="1">
            <a:off x="-38100" y="119751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57" name="Shape 6">
            <a:extLst>
              <a:ext uri="{FF2B5EF4-FFF2-40B4-BE49-F238E27FC236}">
                <a16:creationId xmlns:a16="http://schemas.microsoft.com/office/drawing/2014/main" id="{DABBF17A-12EB-C3B0-CD32-EFB7D9EB6C10}"/>
              </a:ext>
            </a:extLst>
          </p:cNvPr>
          <p:cNvSpPr/>
          <p:nvPr/>
        </p:nvSpPr>
        <p:spPr>
          <a:xfrm flipV="1">
            <a:off x="-19050" y="657190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795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physical line to digital twin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14630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objective: build a unified process, mechatronic and multiphysics model of an entire Industry 5.0 production line — bridging physical processes, control logic and intelligent decision-making — as the foundation of a digital twin for reconfiguration and optimisation.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3063240"/>
            <a:ext cx="384048" cy="38404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115568" y="304495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line architecture &amp; mechatronic subsystems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66928" y="3611880"/>
            <a:ext cx="384048" cy="3840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15568" y="359359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each subsystem in Modelica (mech · electrical · thermal)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66928" y="4160520"/>
            <a:ext cx="384048" cy="3840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15568" y="414223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the production sequence &amp; process logic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" y="4709160"/>
            <a:ext cx="384048" cy="384048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469087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FMUs and orchestrate from Python via FMI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6928" y="5257800"/>
            <a:ext cx="384048" cy="384048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523951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the whole line end-to-end from one program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" y="580644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5788152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parameters &amp; validate against measurements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1463040"/>
            <a:ext cx="4297680" cy="5010912"/>
          </a:xfrm>
          <a:prstGeom prst="roundRect">
            <a:avLst>
              <a:gd name="adj" fmla="val 1702"/>
            </a:avLst>
          </a:prstGeom>
          <a:solidFill>
            <a:srgbClr val="13233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3524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1">
                    <a:lumMod val="60000"/>
                    <a:lumOff val="4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HOST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3524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Euler Laboratory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3524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ISAE-Supméca, Saint-Ouen · Paris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30632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— IS2M</a:t>
            </a:r>
            <a:endParaRPr lang="en-US" sz="16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Multiphysics &amp; Mechatronic Systems Engineering. Studies the multidisciplinary design of complex systems: mechatronics, robotics, cyber-physical &amp; production systems (CPS / CPPS), systems of systems.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35240" y="5074920"/>
            <a:ext cx="36576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5212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domains: </a:t>
            </a: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aeronautics · automotive · naval · rail · energy · medical · Industry 4.0 / 5.0 production lines.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5B37A21A-FFDE-CAFA-6E1C-97C7E09B3308}"/>
              </a:ext>
            </a:extLst>
          </p:cNvPr>
          <p:cNvSpPr/>
          <p:nvPr/>
        </p:nvSpPr>
        <p:spPr>
          <a:xfrm flipV="1">
            <a:off x="0" y="723069"/>
            <a:ext cx="12191999" cy="90746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BC5A49C2-42D6-0219-9269-18FB84D7E193}"/>
              </a:ext>
            </a:extLst>
          </p:cNvPr>
          <p:cNvSpPr/>
          <p:nvPr/>
        </p:nvSpPr>
        <p:spPr>
          <a:xfrm flipV="1">
            <a:off x="-13855" y="1152491"/>
            <a:ext cx="12191999" cy="90746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SYSTEM</a:t>
            </a:r>
            <a:endParaRPr lang="en-US" sz="3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ALIX — the ERMASMART Industry 5.0 line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lab's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ERMASMART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by ERM Automatismes (Carpentras, France) — a bench-top flexible line showcasing smart sensors, IO-Link, supervision, cobotics, vision &amp; RFID traceability.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8445 mm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040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length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01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34472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3-ph 400 V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4472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V phase · 50 Hz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533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904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S7-1200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1904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PLC · TULIP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96528" y="224028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933688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933688" y="27889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/ finished pot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five stations  (packaging mode)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6928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6928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ON10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6928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Bin-picking 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vision feed-in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615184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816352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816352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DX10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816352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Dosing axis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pots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64608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065776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chemeClr val="accent1">
              <a:lumMod val="50000"/>
            </a:schemeClr>
          </a:solidFill>
          <a:ln w="12700">
            <a:solidFill>
              <a:srgbClr val="1F8A70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65776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65776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Capping cobot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Dobot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14032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315200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chemeClr val="accent1">
              <a:lumMod val="75000"/>
            </a:schemeClr>
          </a:solidFill>
          <a:ln w="12700">
            <a:solidFill>
              <a:srgbClr val="D98A12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315200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XY10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315200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XYZ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into trays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63456" y="4389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564624" y="3977640"/>
            <a:ext cx="208483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564624" y="41239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VL10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564624" y="4544568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magazine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finished-tray store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6928" y="5532120"/>
            <a:ext cx="11082528" cy="384048"/>
          </a:xfrm>
          <a:prstGeom prst="roundRect">
            <a:avLst>
              <a:gd name="adj" fmla="val 14286"/>
            </a:avLst>
          </a:prstGeom>
          <a:solidFill>
            <a:srgbClr val="2C5F8A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5532120"/>
            <a:ext cx="11082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conveyor belt  —  runs through all five stations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66928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= modelled in this project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 win   |   Euler Laboratory, ISAE-Supméca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2CE40F6C-EABC-8817-4DA9-6E0D6B4C265F}"/>
              </a:ext>
            </a:extLst>
          </p:cNvPr>
          <p:cNvSpPr/>
          <p:nvPr/>
        </p:nvSpPr>
        <p:spPr>
          <a:xfrm flipV="1">
            <a:off x="-38100" y="119751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AC4E542E-ADB4-810F-E380-7E8CA5D0B19C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0DDC678-C843-6930-0879-FDC6904D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2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MULTIPHYSICS MODEL 1 · CONVEYOR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Electrical → mechanical → thermal chain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 supply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V · 50 Hz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42032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71216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71216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75504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75504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20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50608" y="16002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79792" y="14173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2C5F8A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79792" y="1417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+</a:t>
            </a:r>
            <a:endParaRPr lang="en-US" sz="1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" y="2377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branch: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losses ≈ 108 W → body C = 500 J/K → conductance G = 1.5 W/K → ambient 20 °C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parameters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66928" y="3182112"/>
          <a:ext cx="5120640" cy="192024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Stator / rotor 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Ω / 8 Ω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Magnetising Lm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Leakage Lσ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 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 pairs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(4-pole)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Gear ratio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capacity 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J/K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Conductance G / τ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2C5F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W/K · 333 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" marB="12700" anchor="ctr">
                    <a:lnL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66928" y="5212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prediction: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1499 rpm · 1.629 A RMS · 107.96 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43600" y="2852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 FMU — verified vs analytical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052081" y="3241548"/>
            <a:ext cx="5669280" cy="195249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pic>
        <p:nvPicPr>
          <p:cNvPr id="21" name="Image 0" descr="/home/claude/deckimg/thermal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82696"/>
            <a:ext cx="5577286" cy="191134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989320" y="5472684"/>
            <a:ext cx="5669280" cy="1143000"/>
          </a:xfrm>
          <a:prstGeom prst="roundRect">
            <a:avLst>
              <a:gd name="adj" fmla="val 6400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12180" y="5488617"/>
            <a:ext cx="91440" cy="114300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4" name="Text 20"/>
          <p:cNvSpPr/>
          <p:nvPr/>
        </p:nvSpPr>
        <p:spPr>
          <a:xfrm>
            <a:off x="6217920" y="5495544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+11.95 K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motor-body rise in 60 s — model vs analytical agreement </a:t>
            </a:r>
            <a:r>
              <a:rPr lang="en-US" sz="16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P_elec matches the 3DEXPERIENCE reference to 0.0003 W.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4083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  <a:ea typeface="Trebuchet MS" pitchFamily="34" charset="-122"/>
                <a:cs typeface="Trebuchet MS" pitchFamily="34" charset="-120"/>
              </a:rPr>
              <a:t>THREE SUBSYSTEMS </a:t>
            </a:r>
            <a:endParaRPr lang="en-US" sz="3000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1.Conveyor Motor Model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17F7E2D-E798-605A-7DB6-0BE6A7086544}"/>
              </a:ext>
            </a:extLst>
          </p:cNvPr>
          <p:cNvSpPr/>
          <p:nvPr/>
        </p:nvSpPr>
        <p:spPr>
          <a:xfrm flipV="1">
            <a:off x="-38100" y="119751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EC589584-0A6F-ECC6-1503-29118922A978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FC94459-C8BA-D503-588A-613118DCC5E5}"/>
              </a:ext>
            </a:extLst>
          </p:cNvPr>
          <p:cNvSpPr/>
          <p:nvPr/>
        </p:nvSpPr>
        <p:spPr>
          <a:xfrm>
            <a:off x="585216" y="1170155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Architecture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diagram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C593828-6836-CAEA-DBED-C555A8DC1639}"/>
              </a:ext>
            </a:extLst>
          </p:cNvPr>
          <p:cNvSpPr/>
          <p:nvPr/>
        </p:nvSpPr>
        <p:spPr>
          <a:xfrm>
            <a:off x="1399309" y="2078181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Electrical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───────────────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3-phase 244 V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50 Hz </a:t>
            </a:r>
            <a:r>
              <a:rPr lang="fr-FR" sz="1600" b="1" dirty="0" err="1">
                <a:solidFill>
                  <a:schemeClr val="bg1"/>
                </a:solidFill>
              </a:rPr>
              <a:t>supply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E8152B2-5E05-12C2-EA6E-853C74C48FF7}"/>
              </a:ext>
            </a:extLst>
          </p:cNvPr>
          <p:cNvSpPr/>
          <p:nvPr/>
        </p:nvSpPr>
        <p:spPr>
          <a:xfrm>
            <a:off x="4262004" y="2078180"/>
            <a:ext cx="1814946" cy="103909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Mechanical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─────────────── </a:t>
            </a:r>
          </a:p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Motor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shaft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torque + </a:t>
            </a:r>
            <a:r>
              <a:rPr lang="el-GR" sz="1600" b="1" dirty="0">
                <a:solidFill>
                  <a:schemeClr val="bg1"/>
                </a:solidFill>
              </a:rPr>
              <a:t>ω 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974FD50-073B-3E97-DFC0-DE59E22FA52E}"/>
              </a:ext>
            </a:extLst>
          </p:cNvPr>
          <p:cNvSpPr/>
          <p:nvPr/>
        </p:nvSpPr>
        <p:spPr>
          <a:xfrm>
            <a:off x="6981582" y="2071391"/>
            <a:ext cx="1814946" cy="103909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Thermal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───────────────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Body </a:t>
            </a:r>
            <a:r>
              <a:rPr lang="fr-FR" sz="1600" b="1" dirty="0" err="1">
                <a:solidFill>
                  <a:schemeClr val="bg1"/>
                </a:solidFill>
              </a:rPr>
              <a:t>heat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capacity</a:t>
            </a:r>
            <a:r>
              <a:rPr lang="fr-FR" sz="1600" b="1" dirty="0">
                <a:solidFill>
                  <a:schemeClr val="bg1"/>
                </a:solidFill>
              </a:rPr>
              <a:t> C</a:t>
            </a:r>
            <a:r>
              <a:rPr lang="el-GR" sz="1600" b="1" dirty="0">
                <a:solidFill>
                  <a:schemeClr val="bg1"/>
                </a:solidFill>
              </a:rPr>
              <a:t> </a:t>
            </a:r>
            <a:endParaRPr lang="fr-FR" sz="1600" b="1" dirty="0">
              <a:solidFill>
                <a:schemeClr val="bg1"/>
              </a:solidFill>
            </a:endParaRP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26D16315-3F8D-5B22-3342-F6E9C9AD5533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 flipV="1">
            <a:off x="3214255" y="2597726"/>
            <a:ext cx="1047749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9D1972F9-514F-FB0E-F93E-E3B95987CAC3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6076950" y="2597726"/>
            <a:ext cx="904632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B3F30292-7677-DE24-94AD-8AAE43CE4098}"/>
              </a:ext>
            </a:extLst>
          </p:cNvPr>
          <p:cNvCxnSpPr>
            <a:cxnSpLocks/>
          </p:cNvCxnSpPr>
          <p:nvPr/>
        </p:nvCxnSpPr>
        <p:spPr>
          <a:xfrm>
            <a:off x="5197187" y="3117272"/>
            <a:ext cx="0" cy="5818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8337E127-0123-30D5-F458-C1F36D3D7999}"/>
              </a:ext>
            </a:extLst>
          </p:cNvPr>
          <p:cNvCxnSpPr>
            <a:cxnSpLocks/>
          </p:cNvCxnSpPr>
          <p:nvPr/>
        </p:nvCxnSpPr>
        <p:spPr>
          <a:xfrm>
            <a:off x="7889055" y="3110345"/>
            <a:ext cx="0" cy="5818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ABDD462D-02E5-4E71-7CF6-13D0C5B68258}"/>
              </a:ext>
            </a:extLst>
          </p:cNvPr>
          <p:cNvCxnSpPr>
            <a:cxnSpLocks/>
          </p:cNvCxnSpPr>
          <p:nvPr/>
        </p:nvCxnSpPr>
        <p:spPr>
          <a:xfrm>
            <a:off x="2306782" y="3124199"/>
            <a:ext cx="0" cy="58189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B8187203-9847-543D-B364-2923FD731674}"/>
              </a:ext>
            </a:extLst>
          </p:cNvPr>
          <p:cNvSpPr/>
          <p:nvPr/>
        </p:nvSpPr>
        <p:spPr>
          <a:xfrm>
            <a:off x="1411987" y="3713019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Stator + rotor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</a:t>
            </a:r>
            <a:r>
              <a:rPr lang="fr-FR" sz="1600" b="1" dirty="0" err="1">
                <a:solidFill>
                  <a:schemeClr val="bg1"/>
                </a:solidFill>
              </a:rPr>
              <a:t>squirrel</a:t>
            </a:r>
            <a:r>
              <a:rPr lang="fr-FR" sz="1600" b="1" dirty="0">
                <a:solidFill>
                  <a:schemeClr val="bg1"/>
                </a:solidFill>
              </a:rPr>
              <a:t> cage) 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6B150ED6-EAB3-8BDC-31FA-48154DB002D0}"/>
              </a:ext>
            </a:extLst>
          </p:cNvPr>
          <p:cNvSpPr/>
          <p:nvPr/>
        </p:nvSpPr>
        <p:spPr>
          <a:xfrm>
            <a:off x="4262004" y="3718008"/>
            <a:ext cx="1814946" cy="1039091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Air-gap torque </a:t>
            </a:r>
          </a:p>
          <a:p>
            <a:pPr algn="ctr"/>
            <a:r>
              <a:rPr lang="fr-FR" sz="1600" b="1" dirty="0" err="1">
                <a:solidFill>
                  <a:schemeClr val="bg1"/>
                </a:solidFill>
              </a:rPr>
              <a:t>equation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DAAFD325-C865-D8DD-60FB-511FBD96AB4E}"/>
              </a:ext>
            </a:extLst>
          </p:cNvPr>
          <p:cNvSpPr/>
          <p:nvPr/>
        </p:nvSpPr>
        <p:spPr>
          <a:xfrm>
            <a:off x="7012133" y="3685585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Conductance G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to ambient</a:t>
            </a:r>
          </a:p>
        </p:txBody>
      </p:sp>
      <p:cxnSp>
        <p:nvCxnSpPr>
          <p:cNvPr id="47" name="Connecteur : en angle 46">
            <a:extLst>
              <a:ext uri="{FF2B5EF4-FFF2-40B4-BE49-F238E27FC236}">
                <a16:creationId xmlns:a16="http://schemas.microsoft.com/office/drawing/2014/main" id="{2482D782-433B-A80E-B998-1B5918C2C2F7}"/>
              </a:ext>
            </a:extLst>
          </p:cNvPr>
          <p:cNvCxnSpPr>
            <a:stCxn id="43" idx="2"/>
          </p:cNvCxnSpPr>
          <p:nvPr/>
        </p:nvCxnSpPr>
        <p:spPr>
          <a:xfrm rot="16200000" flipH="1">
            <a:off x="2582835" y="4488735"/>
            <a:ext cx="1310155" cy="1836904"/>
          </a:xfrm>
          <a:prstGeom prst="bentConnector2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6B8B3B5C-5D60-5884-F81E-B232360F7F38}"/>
              </a:ext>
            </a:extLst>
          </p:cNvPr>
          <p:cNvSpPr/>
          <p:nvPr/>
        </p:nvSpPr>
        <p:spPr>
          <a:xfrm>
            <a:off x="4169111" y="5542719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Copper + </a:t>
            </a:r>
            <a:r>
              <a:rPr lang="fr-FR" sz="1600" b="1" dirty="0" err="1">
                <a:solidFill>
                  <a:schemeClr val="bg1"/>
                </a:solidFill>
              </a:rPr>
              <a:t>iron</a:t>
            </a:r>
            <a:r>
              <a:rPr lang="fr-FR" sz="1600" b="1" dirty="0">
                <a:solidFill>
                  <a:schemeClr val="bg1"/>
                </a:solidFill>
              </a:rPr>
              <a:t> </a:t>
            </a:r>
            <a:r>
              <a:rPr lang="fr-FR" sz="1600" b="1" dirty="0" err="1">
                <a:solidFill>
                  <a:schemeClr val="bg1"/>
                </a:solidFill>
              </a:rPr>
              <a:t>losses</a:t>
            </a:r>
            <a:endParaRPr lang="fr-FR" sz="1600" b="1" dirty="0">
              <a:solidFill>
                <a:schemeClr val="bg1"/>
              </a:solidFill>
            </a:endParaRP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</a:t>
            </a:r>
            <a:r>
              <a:rPr lang="fr-FR" sz="1600" b="1" dirty="0" err="1">
                <a:solidFill>
                  <a:schemeClr val="bg1"/>
                </a:solidFill>
              </a:rPr>
              <a:t>heatPort</a:t>
            </a:r>
            <a:r>
              <a:rPr lang="fr-FR" sz="1600" b="1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CB424A3C-022F-B4E9-50F1-EAFFCCE1D822}"/>
              </a:ext>
            </a:extLst>
          </p:cNvPr>
          <p:cNvCxnSpPr/>
          <p:nvPr/>
        </p:nvCxnSpPr>
        <p:spPr>
          <a:xfrm flipV="1">
            <a:off x="5964384" y="6055473"/>
            <a:ext cx="1047749" cy="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85BCC31A-1648-874B-4290-7D4BC0466ECF}"/>
              </a:ext>
            </a:extLst>
          </p:cNvPr>
          <p:cNvSpPr/>
          <p:nvPr/>
        </p:nvSpPr>
        <p:spPr>
          <a:xfrm>
            <a:off x="7034402" y="5488790"/>
            <a:ext cx="1814946" cy="1039091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bg1"/>
                </a:solidFill>
              </a:rPr>
              <a:t>Ambient 20 °C</a:t>
            </a: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A66E3CE9-7F78-195C-FC0C-9667E3710C1F}"/>
              </a:ext>
            </a:extLst>
          </p:cNvPr>
          <p:cNvCxnSpPr>
            <a:cxnSpLocks/>
          </p:cNvCxnSpPr>
          <p:nvPr/>
        </p:nvCxnSpPr>
        <p:spPr>
          <a:xfrm>
            <a:off x="7867165" y="4757099"/>
            <a:ext cx="0" cy="7316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72F5AA0-039D-E3BA-4A77-D94149D66B5F}"/>
              </a:ext>
            </a:extLst>
          </p:cNvPr>
          <p:cNvSpPr/>
          <p:nvPr/>
        </p:nvSpPr>
        <p:spPr>
          <a:xfrm>
            <a:off x="511054" y="238561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1.ELECTRICAL DOMAIN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BFEC4E3-D30F-B772-776B-8D90BA211377}"/>
              </a:ext>
            </a:extLst>
          </p:cNvPr>
          <p:cNvSpPr txBox="1"/>
          <p:nvPr/>
        </p:nvSpPr>
        <p:spPr>
          <a:xfrm>
            <a:off x="447006" y="578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Components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used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 (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Modelica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 blocks):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838CBDBB-1CD6-58B8-7A99-D9412CA47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719162"/>
              </p:ext>
            </p:extLst>
          </p:nvPr>
        </p:nvGraphicFramePr>
        <p:xfrm>
          <a:off x="566928" y="1030388"/>
          <a:ext cx="1065525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1101">
                  <a:extLst>
                    <a:ext uri="{9D8B030D-6E8A-4147-A177-3AD203B41FA5}">
                      <a16:colId xmlns:a16="http://schemas.microsoft.com/office/drawing/2014/main" val="4115800094"/>
                    </a:ext>
                  </a:extLst>
                </a:gridCol>
                <a:gridCol w="10004153">
                  <a:extLst>
                    <a:ext uri="{9D8B030D-6E8A-4147-A177-3AD203B41FA5}">
                      <a16:colId xmlns:a16="http://schemas.microsoft.com/office/drawing/2014/main" val="2028494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tx2"/>
                          </a:solidFill>
                        </a:rPr>
                        <a:t>Modelica.Electrical.Polyphase.Sources.SineVoltage</a:t>
                      </a:r>
                      <a:endParaRPr lang="fr-FR" sz="160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19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tx2"/>
                          </a:solidFill>
                        </a:rPr>
                        <a:t>Modelica.Electrical.Polyphase.Basic.Star</a:t>
                      </a:r>
                      <a:endParaRPr lang="fr-FR" sz="16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708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tx2"/>
                          </a:solidFill>
                        </a:rPr>
                        <a:t>Modelica.Electrical.Polyphase.Sensors.VoltageSensor</a:t>
                      </a:r>
                      <a:endParaRPr lang="fr-FR" sz="16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91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tx2"/>
                          </a:solidFill>
                        </a:rPr>
                        <a:t>Modelica.Electrical.Polyphase.Sensors.CurrentSensor</a:t>
                      </a:r>
                      <a:endParaRPr lang="fr-FR" sz="16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125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tx2"/>
                          </a:solidFill>
                        </a:rPr>
                        <a:t>Modelica.Magnetic.FundamentalWave.BasicMachines.InductionMachines.IM_SquirrelCage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996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tx2"/>
                          </a:solidFill>
                        </a:rPr>
                        <a:t>Modelica.Blocks.Math.Product</a:t>
                      </a:r>
                      <a:endParaRPr lang="fr-FR" sz="1600" dirty="0">
                        <a:solidFill>
                          <a:schemeClr val="tx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140058"/>
                  </a:ext>
                </a:extLst>
              </a:tr>
            </a:tbl>
          </a:graphicData>
        </a:graphic>
      </p:graphicFrame>
      <p:sp>
        <p:nvSpPr>
          <p:cNvPr id="9" name="Shape 6">
            <a:extLst>
              <a:ext uri="{FF2B5EF4-FFF2-40B4-BE49-F238E27FC236}">
                <a16:creationId xmlns:a16="http://schemas.microsoft.com/office/drawing/2014/main" id="{31AF3D76-43E2-BD28-9E7C-28BB2DECD490}"/>
              </a:ext>
            </a:extLst>
          </p:cNvPr>
          <p:cNvSpPr/>
          <p:nvPr/>
        </p:nvSpPr>
        <p:spPr>
          <a:xfrm flipV="1">
            <a:off x="-1" y="578759"/>
            <a:ext cx="12173147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50686D4F-ECA7-7FC8-FAAC-578A5CC84F00}"/>
              </a:ext>
            </a:extLst>
          </p:cNvPr>
          <p:cNvSpPr/>
          <p:nvPr/>
        </p:nvSpPr>
        <p:spPr>
          <a:xfrm flipV="1">
            <a:off x="-19050" y="948091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50C37438-AD45-3BF6-3E4C-380E36AEF95A}"/>
              </a:ext>
            </a:extLst>
          </p:cNvPr>
          <p:cNvSpPr/>
          <p:nvPr/>
        </p:nvSpPr>
        <p:spPr>
          <a:xfrm>
            <a:off x="566928" y="3598799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2.THERMAL DOMAIN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B2174C07-04C2-9CBF-A018-20FEBCEC9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433474"/>
              </p:ext>
            </p:extLst>
          </p:nvPr>
        </p:nvGraphicFramePr>
        <p:xfrm>
          <a:off x="566928" y="4162026"/>
          <a:ext cx="10787843" cy="22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365">
                  <a:extLst>
                    <a:ext uri="{9D8B030D-6E8A-4147-A177-3AD203B41FA5}">
                      <a16:colId xmlns:a16="http://schemas.microsoft.com/office/drawing/2014/main" val="4115800094"/>
                    </a:ext>
                  </a:extLst>
                </a:gridCol>
                <a:gridCol w="5963830">
                  <a:extLst>
                    <a:ext uri="{9D8B030D-6E8A-4147-A177-3AD203B41FA5}">
                      <a16:colId xmlns:a16="http://schemas.microsoft.com/office/drawing/2014/main" val="2028494179"/>
                    </a:ext>
                  </a:extLst>
                </a:gridCol>
                <a:gridCol w="4367648">
                  <a:extLst>
                    <a:ext uri="{9D8B030D-6E8A-4147-A177-3AD203B41FA5}">
                      <a16:colId xmlns:a16="http://schemas.microsoft.com/office/drawing/2014/main" val="2678211006"/>
                    </a:ext>
                  </a:extLst>
                </a:gridCol>
              </a:tblGrid>
              <a:tr h="56155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Modelica.Thermal.HeatTransfer.Components.HeatCapacitor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Motor body thermal mass C = 500 J/K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19681"/>
                  </a:ext>
                </a:extLst>
              </a:tr>
              <a:tr h="56155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Modelica.Thermal.HeatTransfer.Components.ThermalConductor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Cooling to air G = 1.5 W/K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708764"/>
                  </a:ext>
                </a:extLst>
              </a:tr>
              <a:tr h="56155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Modelica.Thermal.HeatTransfer.Sources.FixedTemperature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Ambient at 293.15 K (20 °C)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291187"/>
                  </a:ext>
                </a:extLst>
              </a:tr>
              <a:tr h="561550">
                <a:tc>
                  <a:txBody>
                    <a:bodyPr/>
                    <a:lstStyle/>
                    <a:p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Modelica.Thermal.HeatTransfer.Sensors.TemperatureSensor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Motor body temperature </a:t>
                      </a:r>
                      <a:r>
                        <a:rPr lang="en-US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T_motor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125884"/>
                  </a:ext>
                </a:extLst>
              </a:tr>
            </a:tbl>
          </a:graphicData>
        </a:graphic>
      </p:graphicFrame>
      <p:sp>
        <p:nvSpPr>
          <p:cNvPr id="13" name="Shape 6">
            <a:extLst>
              <a:ext uri="{FF2B5EF4-FFF2-40B4-BE49-F238E27FC236}">
                <a16:creationId xmlns:a16="http://schemas.microsoft.com/office/drawing/2014/main" id="{8E42EA3C-C586-923F-D6E9-3D79F51A6284}"/>
              </a:ext>
            </a:extLst>
          </p:cNvPr>
          <p:cNvSpPr/>
          <p:nvPr/>
        </p:nvSpPr>
        <p:spPr>
          <a:xfrm flipV="1">
            <a:off x="12745" y="3915984"/>
            <a:ext cx="12173147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39414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CF9BEF59-5A2E-AFA0-76E3-DF9EF178102A}"/>
              </a:ext>
            </a:extLst>
          </p:cNvPr>
          <p:cNvSpPr/>
          <p:nvPr/>
        </p:nvSpPr>
        <p:spPr>
          <a:xfrm>
            <a:off x="484909" y="3794745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Thermal </a:t>
            </a:r>
            <a:r>
              <a:rPr lang="fr-FR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Parameters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D09397C-CB55-8519-271E-8297DEC436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866057"/>
              </p:ext>
            </p:extLst>
          </p:nvPr>
        </p:nvGraphicFramePr>
        <p:xfrm>
          <a:off x="484909" y="4340679"/>
          <a:ext cx="10907765" cy="2285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4483">
                  <a:extLst>
                    <a:ext uri="{9D8B030D-6E8A-4147-A177-3AD203B41FA5}">
                      <a16:colId xmlns:a16="http://schemas.microsoft.com/office/drawing/2014/main" val="739400680"/>
                    </a:ext>
                  </a:extLst>
                </a:gridCol>
                <a:gridCol w="3180525">
                  <a:extLst>
                    <a:ext uri="{9D8B030D-6E8A-4147-A177-3AD203B41FA5}">
                      <a16:colId xmlns:a16="http://schemas.microsoft.com/office/drawing/2014/main" val="3292622227"/>
                    </a:ext>
                  </a:extLst>
                </a:gridCol>
                <a:gridCol w="3872757">
                  <a:extLst>
                    <a:ext uri="{9D8B030D-6E8A-4147-A177-3AD203B41FA5}">
                      <a16:colId xmlns:a16="http://schemas.microsoft.com/office/drawing/2014/main" val="960381866"/>
                    </a:ext>
                  </a:extLst>
                </a:gridCol>
              </a:tblGrid>
              <a:tr h="457199"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Parameter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145924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Heat </a:t>
                      </a:r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capacity</a:t>
                      </a:r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500 J/K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Lumped</a:t>
                      </a:r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-mass identification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14014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Conductance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1.5 W/K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Cooling</a:t>
                      </a:r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-test identification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963948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Time constant τ = C/G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333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Computed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44122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Ambient </a:t>
                      </a:r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T_amb</a:t>
                      </a:r>
                      <a:endParaRPr lang="fr-FR" sz="16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293.15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Lab</a:t>
                      </a:r>
                      <a:r>
                        <a:rPr lang="fr-FR" sz="16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 condition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823406"/>
                  </a:ext>
                </a:extLst>
              </a:tr>
            </a:tbl>
          </a:graphicData>
        </a:graphic>
      </p:graphicFrame>
      <p:sp>
        <p:nvSpPr>
          <p:cNvPr id="7" name="Shape 6">
            <a:extLst>
              <a:ext uri="{FF2B5EF4-FFF2-40B4-BE49-F238E27FC236}">
                <a16:creationId xmlns:a16="http://schemas.microsoft.com/office/drawing/2014/main" id="{726E8126-0DD5-0CFF-BA94-5B88CC904FD5}"/>
              </a:ext>
            </a:extLst>
          </p:cNvPr>
          <p:cNvSpPr/>
          <p:nvPr/>
        </p:nvSpPr>
        <p:spPr>
          <a:xfrm flipV="1">
            <a:off x="-1" y="547917"/>
            <a:ext cx="12173147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2923C5F-27BA-F170-450A-A90AAA6AFAA1}"/>
              </a:ext>
            </a:extLst>
          </p:cNvPr>
          <p:cNvSpPr/>
          <p:nvPr/>
        </p:nvSpPr>
        <p:spPr>
          <a:xfrm flipV="1">
            <a:off x="-1" y="4194196"/>
            <a:ext cx="12173147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B9E3115-1979-6642-4CAF-3DDA33AC4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08" y="686122"/>
            <a:ext cx="10907765" cy="310515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D36BCB7-8490-9DEE-0C31-3387C323D944}"/>
              </a:ext>
            </a:extLst>
          </p:cNvPr>
          <p:cNvSpPr txBox="1"/>
          <p:nvPr/>
        </p:nvSpPr>
        <p:spPr>
          <a:xfrm>
            <a:off x="387927" y="1820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Motor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parameters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 (TECHTOP 0.09 kW, 4-pole):</a:t>
            </a:r>
          </a:p>
        </p:txBody>
      </p:sp>
    </p:spTree>
    <p:extLst>
      <p:ext uri="{BB962C8B-B14F-4D97-AF65-F5344CB8AC3E}">
        <p14:creationId xmlns:p14="http://schemas.microsoft.com/office/powerpoint/2010/main" val="3895936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353F11-1E3D-A0CB-B00B-33C1AFFC6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883"/>
            <a:ext cx="12192000" cy="667811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5550280-D821-919B-04A7-3D441D2D3A4D}"/>
              </a:ext>
            </a:extLst>
          </p:cNvPr>
          <p:cNvSpPr txBox="1"/>
          <p:nvPr/>
        </p:nvSpPr>
        <p:spPr>
          <a:xfrm>
            <a:off x="2784764" y="5929927"/>
            <a:ext cx="5444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tx2"/>
                </a:solidFill>
              </a:rPr>
              <a:t>Fig</a:t>
            </a:r>
            <a:r>
              <a:rPr lang="fr-FR" sz="1400" dirty="0">
                <a:solidFill>
                  <a:schemeClr val="tx2"/>
                </a:solidFill>
              </a:rPr>
              <a:t> No.1.Conveyor </a:t>
            </a:r>
            <a:r>
              <a:rPr lang="fr-FR" sz="1400" dirty="0" err="1">
                <a:solidFill>
                  <a:schemeClr val="tx2"/>
                </a:solidFill>
              </a:rPr>
              <a:t>motor</a:t>
            </a:r>
            <a:r>
              <a:rPr lang="fr-FR" sz="1400" dirty="0">
                <a:solidFill>
                  <a:schemeClr val="tx2"/>
                </a:solidFill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2536385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5DD12A9-17A7-8013-5579-61501407D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33" y="0"/>
            <a:ext cx="8297333" cy="61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12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2 · CR5 COBOT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faithful 6-DOF multibody twin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4068" y="12893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Kinematic chain  (Dobot CR5 axis convention)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J1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Z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75564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48256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J2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Y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236976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529584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9584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J3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Y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18304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10912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10912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J4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X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99632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92240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J5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Y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0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973568" y="1719072"/>
            <a:ext cx="1234440" cy="804672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973568" y="1810512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J6</a:t>
            </a:r>
            <a:endParaRPr lang="en-US" sz="1600" b="1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axis Z</a:t>
            </a: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" y="283464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2834640"/>
            <a:ext cx="91440" cy="15087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Geometry from the real robot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1248" y="3291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Per-link mass, COM and inertia extracted from the public CR5 CAD in </a:t>
            </a: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FreeCAD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6× Revolute + 6× BodyShape, Newton-Euler assembled automatically by the MultiBody library.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928" y="452628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" y="464515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94.9%</a:t>
            </a:r>
            <a:endParaRPr lang="en-US" sz="3800" dirty="0">
              <a:solidFill>
                <a:srgbClr val="00206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2807208" y="4681728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agreement</a:t>
            </a:r>
            <a:endParaRPr lang="en-US" sz="16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23.74 kg vs brochure 25 kg</a:t>
            </a:r>
            <a:endParaRPr lang="en-US" sz="1600" dirty="0"/>
          </a:p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Joint-2 gravity pendulum: period matches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43600" y="2834640"/>
            <a:ext cx="5669280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943600" y="5989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CR5 Model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4" name="Image 33">
            <a:extLst>
              <a:ext uri="{FF2B5EF4-FFF2-40B4-BE49-F238E27FC236}">
                <a16:creationId xmlns:a16="http://schemas.microsoft.com/office/drawing/2014/main" id="{2D62EE51-0630-D5B8-79A6-E2A4A755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23744"/>
            <a:ext cx="5178552" cy="422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32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954F6A9B-BC2E-F0F7-F914-06BC35BFC902}"/>
              </a:ext>
            </a:extLst>
          </p:cNvPr>
          <p:cNvSpPr txBox="1"/>
          <p:nvPr/>
        </p:nvSpPr>
        <p:spPr>
          <a:xfrm>
            <a:off x="3117273" y="6470436"/>
            <a:ext cx="5444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dirty="0" err="1">
                <a:solidFill>
                  <a:schemeClr val="tx2"/>
                </a:solidFill>
              </a:rPr>
              <a:t>Fig</a:t>
            </a:r>
            <a:r>
              <a:rPr lang="fr-FR" sz="1400" dirty="0">
                <a:solidFill>
                  <a:schemeClr val="tx2"/>
                </a:solidFill>
              </a:rPr>
              <a:t> No.3.CR5 model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38A9C24-A9CB-F78B-EED4-E71E4B833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55" y="79786"/>
            <a:ext cx="11388435" cy="621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165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</a:rPr>
              <a:t>MULTIPHYSICS-MODEL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subsystems -2.</a:t>
            </a:r>
            <a:r>
              <a:rPr lang="fr-FR" dirty="0">
                <a:solidFill>
                  <a:schemeClr val="tx2"/>
                </a:solidFill>
              </a:rPr>
              <a:t> </a:t>
            </a:r>
            <a:r>
              <a:rPr lang="fr-FR" dirty="0">
                <a:solidFill>
                  <a:schemeClr val="tx2"/>
                </a:solidFill>
                <a:latin typeface="Trebuchet MS" panose="020B0603020202020204" pitchFamily="34" charset="0"/>
              </a:rPr>
              <a:t>CR5 Cobot Model</a:t>
            </a:r>
            <a:endParaRPr lang="en-US" dirty="0">
              <a:solidFill>
                <a:schemeClr val="tx2"/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17F7E2D-E798-605A-7DB6-0BE6A7086544}"/>
              </a:ext>
            </a:extLst>
          </p:cNvPr>
          <p:cNvSpPr/>
          <p:nvPr/>
        </p:nvSpPr>
        <p:spPr>
          <a:xfrm flipV="1">
            <a:off x="-38100" y="119751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EC589584-0A6F-ECC6-1503-29118922A978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FC94459-C8BA-D503-588A-613118DCC5E5}"/>
              </a:ext>
            </a:extLst>
          </p:cNvPr>
          <p:cNvSpPr/>
          <p:nvPr/>
        </p:nvSpPr>
        <p:spPr>
          <a:xfrm>
            <a:off x="585216" y="1170155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Architecture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diagram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C593828-6836-CAEA-DBED-C555A8DC1639}"/>
              </a:ext>
            </a:extLst>
          </p:cNvPr>
          <p:cNvSpPr/>
          <p:nvPr/>
        </p:nvSpPr>
        <p:spPr>
          <a:xfrm>
            <a:off x="94384" y="2078182"/>
            <a:ext cx="1406908" cy="735503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World (</a:t>
            </a:r>
            <a:r>
              <a:rPr lang="fr-FR" sz="1600" dirty="0" err="1"/>
              <a:t>gravity</a:t>
            </a:r>
            <a:r>
              <a:rPr lang="fr-FR" sz="1600" dirty="0"/>
              <a:t>)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E8152B2-5E05-12C2-EA6E-853C74C48FF7}"/>
              </a:ext>
            </a:extLst>
          </p:cNvPr>
          <p:cNvSpPr/>
          <p:nvPr/>
        </p:nvSpPr>
        <p:spPr>
          <a:xfrm>
            <a:off x="2005714" y="2078182"/>
            <a:ext cx="1199092" cy="76217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J1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(z)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974FD50-073B-3E97-DFC0-DE59E22FA52E}"/>
              </a:ext>
            </a:extLst>
          </p:cNvPr>
          <p:cNvSpPr/>
          <p:nvPr/>
        </p:nvSpPr>
        <p:spPr>
          <a:xfrm>
            <a:off x="3770141" y="1410248"/>
            <a:ext cx="1199090" cy="850876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Link1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(base)</a:t>
            </a: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26D16315-3F8D-5B22-3342-F6E9C9AD5533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1501292" y="2445934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8337E127-0123-30D5-F458-C1F36D3D7999}"/>
              </a:ext>
            </a:extLst>
          </p:cNvPr>
          <p:cNvCxnSpPr>
            <a:cxnSpLocks/>
          </p:cNvCxnSpPr>
          <p:nvPr/>
        </p:nvCxnSpPr>
        <p:spPr>
          <a:xfrm>
            <a:off x="11237693" y="2116054"/>
            <a:ext cx="0" cy="4608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6B150ED6-EAB3-8BDC-31FA-48154DB002D0}"/>
              </a:ext>
            </a:extLst>
          </p:cNvPr>
          <p:cNvSpPr/>
          <p:nvPr/>
        </p:nvSpPr>
        <p:spPr>
          <a:xfrm>
            <a:off x="7123596" y="1320653"/>
            <a:ext cx="1313577" cy="808237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Link2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</a:t>
            </a:r>
            <a:r>
              <a:rPr lang="fr-FR" sz="1600" b="1" dirty="0" err="1">
                <a:solidFill>
                  <a:schemeClr val="bg1"/>
                </a:solidFill>
              </a:rPr>
              <a:t>Upper</a:t>
            </a:r>
            <a:r>
              <a:rPr lang="fr-FR" sz="1600" b="1" dirty="0">
                <a:solidFill>
                  <a:schemeClr val="bg1"/>
                </a:solidFill>
              </a:rPr>
              <a:t>) 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DAAFD325-C865-D8DD-60FB-511FBD96AB4E}"/>
              </a:ext>
            </a:extLst>
          </p:cNvPr>
          <p:cNvSpPr/>
          <p:nvPr/>
        </p:nvSpPr>
        <p:spPr>
          <a:xfrm>
            <a:off x="10638151" y="2471540"/>
            <a:ext cx="1199083" cy="80823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Link 4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</a:t>
            </a:r>
            <a:r>
              <a:rPr lang="fr-FR" sz="1600" b="1" dirty="0" err="1">
                <a:solidFill>
                  <a:schemeClr val="bg1"/>
                </a:solidFill>
              </a:rPr>
              <a:t>Wrist</a:t>
            </a:r>
            <a:r>
              <a:rPr lang="fr-FR" sz="1600" b="1" dirty="0">
                <a:solidFill>
                  <a:schemeClr val="bg1"/>
                </a:solidFill>
              </a:rPr>
              <a:t> Pitch)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E0A3254-1498-AB00-DEF4-AF97CC7EA20F}"/>
              </a:ext>
            </a:extLst>
          </p:cNvPr>
          <p:cNvSpPr/>
          <p:nvPr/>
        </p:nvSpPr>
        <p:spPr>
          <a:xfrm>
            <a:off x="5424040" y="1374231"/>
            <a:ext cx="1199089" cy="81724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/>
              <a:t>     J2(y)	  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A2CE0DB-86C3-C9F7-CCA0-1DC93662FA1F}"/>
              </a:ext>
            </a:extLst>
          </p:cNvPr>
          <p:cNvSpPr/>
          <p:nvPr/>
        </p:nvSpPr>
        <p:spPr>
          <a:xfrm>
            <a:off x="8911215" y="1350968"/>
            <a:ext cx="1199089" cy="80823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J3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(Y)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E15AE5E-4A99-FF2C-87E3-E4453101DF06}"/>
              </a:ext>
            </a:extLst>
          </p:cNvPr>
          <p:cNvSpPr/>
          <p:nvPr/>
        </p:nvSpPr>
        <p:spPr>
          <a:xfrm>
            <a:off x="10625328" y="1325447"/>
            <a:ext cx="1199089" cy="80823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J4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(X)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1A80559-1ED7-FC8C-55CE-23E492BC1BF3}"/>
              </a:ext>
            </a:extLst>
          </p:cNvPr>
          <p:cNvSpPr/>
          <p:nvPr/>
        </p:nvSpPr>
        <p:spPr>
          <a:xfrm>
            <a:off x="8934637" y="2455594"/>
            <a:ext cx="1199089" cy="80823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J5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(Y)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CD017756-8FF6-B822-58D4-3AC323746550}"/>
              </a:ext>
            </a:extLst>
          </p:cNvPr>
          <p:cNvSpPr/>
          <p:nvPr/>
        </p:nvSpPr>
        <p:spPr>
          <a:xfrm>
            <a:off x="7135465" y="2463567"/>
            <a:ext cx="1199083" cy="80823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Link 5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</a:t>
            </a:r>
            <a:r>
              <a:rPr lang="fr-FR" sz="1600" b="1" dirty="0" err="1">
                <a:solidFill>
                  <a:schemeClr val="bg1"/>
                </a:solidFill>
              </a:rPr>
              <a:t>Wrist</a:t>
            </a:r>
            <a:r>
              <a:rPr lang="fr-FR" sz="16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2F7AE575-48CF-8629-BE23-5A55E43ADE63}"/>
              </a:ext>
            </a:extLst>
          </p:cNvPr>
          <p:cNvSpPr/>
          <p:nvPr/>
        </p:nvSpPr>
        <p:spPr>
          <a:xfrm>
            <a:off x="5384119" y="2471540"/>
            <a:ext cx="1199089" cy="80823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J6 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(Z)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0646DD8D-BE4A-6BCD-FBAB-5D7C9F779E5C}"/>
              </a:ext>
            </a:extLst>
          </p:cNvPr>
          <p:cNvSpPr/>
          <p:nvPr/>
        </p:nvSpPr>
        <p:spPr>
          <a:xfrm>
            <a:off x="3690730" y="2459268"/>
            <a:ext cx="1199089" cy="808236"/>
          </a:xfrm>
          <a:prstGeom prst="roundRect">
            <a:avLst/>
          </a:prstGeom>
          <a:solidFill>
            <a:schemeClr val="accent1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End-</a:t>
            </a:r>
            <a:r>
              <a:rPr lang="fr-FR" sz="1600" dirty="0" err="1"/>
              <a:t>effector</a:t>
            </a:r>
            <a:endParaRPr lang="fr-FR" sz="1600" b="1" dirty="0">
              <a:solidFill>
                <a:schemeClr val="bg1"/>
              </a:solidFill>
            </a:endParaRPr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5A4AD373-32A2-74F6-C7C5-475216A5E318}"/>
              </a:ext>
            </a:extLst>
          </p:cNvPr>
          <p:cNvCxnSpPr>
            <a:cxnSpLocks/>
          </p:cNvCxnSpPr>
          <p:nvPr/>
        </p:nvCxnSpPr>
        <p:spPr>
          <a:xfrm>
            <a:off x="4921261" y="1741752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83860E9F-C42F-144E-6FF5-EAF500A7777A}"/>
              </a:ext>
            </a:extLst>
          </p:cNvPr>
          <p:cNvCxnSpPr>
            <a:cxnSpLocks/>
          </p:cNvCxnSpPr>
          <p:nvPr/>
        </p:nvCxnSpPr>
        <p:spPr>
          <a:xfrm>
            <a:off x="6623129" y="1755355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A92ADD1-808A-408A-08C2-BDE066C31A80}"/>
              </a:ext>
            </a:extLst>
          </p:cNvPr>
          <p:cNvCxnSpPr>
            <a:cxnSpLocks/>
          </p:cNvCxnSpPr>
          <p:nvPr/>
        </p:nvCxnSpPr>
        <p:spPr>
          <a:xfrm>
            <a:off x="8406793" y="1742021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008232E3-4593-F75E-BBBB-0C1A0C80274D}"/>
              </a:ext>
            </a:extLst>
          </p:cNvPr>
          <p:cNvCxnSpPr>
            <a:stCxn id="45" idx="1"/>
            <a:endCxn id="24" idx="3"/>
          </p:cNvCxnSpPr>
          <p:nvPr/>
        </p:nvCxnSpPr>
        <p:spPr>
          <a:xfrm flipH="1" flipV="1">
            <a:off x="10133726" y="2859712"/>
            <a:ext cx="504425" cy="15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D2419073-38A4-F1A1-6DE5-76CD9BA9A713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8306718" y="2859712"/>
            <a:ext cx="627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93A33B2C-461C-0BC1-80DC-F977BC9FB47B}"/>
              </a:ext>
            </a:extLst>
          </p:cNvPr>
          <p:cNvCxnSpPr>
            <a:cxnSpLocks/>
            <a:stCxn id="25" idx="1"/>
            <a:endCxn id="26" idx="3"/>
          </p:cNvCxnSpPr>
          <p:nvPr/>
        </p:nvCxnSpPr>
        <p:spPr>
          <a:xfrm flipH="1">
            <a:off x="6583208" y="2867685"/>
            <a:ext cx="552257" cy="79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76DC8156-CB11-A59A-F8B9-D0359410F3C2}"/>
              </a:ext>
            </a:extLst>
          </p:cNvPr>
          <p:cNvCxnSpPr>
            <a:stCxn id="26" idx="1"/>
            <a:endCxn id="28" idx="3"/>
          </p:cNvCxnSpPr>
          <p:nvPr/>
        </p:nvCxnSpPr>
        <p:spPr>
          <a:xfrm flipH="1" flipV="1">
            <a:off x="4889819" y="2863386"/>
            <a:ext cx="494300" cy="12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 : en angle 75">
            <a:extLst>
              <a:ext uri="{FF2B5EF4-FFF2-40B4-BE49-F238E27FC236}">
                <a16:creationId xmlns:a16="http://schemas.microsoft.com/office/drawing/2014/main" id="{0A7C70D3-155D-A415-98C5-A54C5DD30C74}"/>
              </a:ext>
            </a:extLst>
          </p:cNvPr>
          <p:cNvCxnSpPr>
            <a:cxnSpLocks/>
          </p:cNvCxnSpPr>
          <p:nvPr/>
        </p:nvCxnSpPr>
        <p:spPr>
          <a:xfrm flipV="1">
            <a:off x="3204806" y="1944447"/>
            <a:ext cx="565335" cy="3432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2CFD0DE0-9BF0-E30B-DC0F-C7303BDA9A66}"/>
              </a:ext>
            </a:extLst>
          </p:cNvPr>
          <p:cNvCxnSpPr>
            <a:cxnSpLocks/>
          </p:cNvCxnSpPr>
          <p:nvPr/>
        </p:nvCxnSpPr>
        <p:spPr>
          <a:xfrm>
            <a:off x="10118675" y="1716231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1FE61760-8504-1F80-5892-6A52DF712592}"/>
              </a:ext>
            </a:extLst>
          </p:cNvPr>
          <p:cNvSpPr txBox="1"/>
          <p:nvPr/>
        </p:nvSpPr>
        <p:spPr>
          <a:xfrm>
            <a:off x="585216" y="33721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Joint axis table (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</a:rPr>
              <a:t>Dobot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</a:rPr>
              <a:t> CR5 convention)</a:t>
            </a:r>
          </a:p>
        </p:txBody>
      </p:sp>
      <p:graphicFrame>
        <p:nvGraphicFramePr>
          <p:cNvPr id="90" name="Tableau 89">
            <a:extLst>
              <a:ext uri="{FF2B5EF4-FFF2-40B4-BE49-F238E27FC236}">
                <a16:creationId xmlns:a16="http://schemas.microsoft.com/office/drawing/2014/main" id="{F2D81F55-EBEC-6FA0-F0E0-CC6DEB0614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236948"/>
              </p:ext>
            </p:extLst>
          </p:nvPr>
        </p:nvGraphicFramePr>
        <p:xfrm>
          <a:off x="737675" y="3866092"/>
          <a:ext cx="9885421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289">
                  <a:extLst>
                    <a:ext uri="{9D8B030D-6E8A-4147-A177-3AD203B41FA5}">
                      <a16:colId xmlns:a16="http://schemas.microsoft.com/office/drawing/2014/main" val="368894682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778617091"/>
                    </a:ext>
                  </a:extLst>
                </a:gridCol>
                <a:gridCol w="6314332">
                  <a:extLst>
                    <a:ext uri="{9D8B030D-6E8A-4147-A177-3AD203B41FA5}">
                      <a16:colId xmlns:a16="http://schemas.microsoft.com/office/drawing/2014/main" val="3577976028"/>
                    </a:ext>
                  </a:extLst>
                </a:gridCol>
              </a:tblGrid>
              <a:tr h="323581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Joint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Rotation Axis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Function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739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Base rotation (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waist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633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Shoulder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612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Elbow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451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Wrist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roll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420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Wrist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pitch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64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Wrist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yaw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(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tool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flange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039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593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2252056-B4B1-9302-1A31-0C20E5781409}"/>
              </a:ext>
            </a:extLst>
          </p:cNvPr>
          <p:cNvSpPr txBox="1"/>
          <p:nvPr/>
        </p:nvSpPr>
        <p:spPr>
          <a:xfrm>
            <a:off x="447006" y="5787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Components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used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 (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Modelica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 blocks):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2EE306F-B795-B2DD-6288-8FFC7A4EE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803058"/>
              </p:ext>
            </p:extLst>
          </p:nvPr>
        </p:nvGraphicFramePr>
        <p:xfrm>
          <a:off x="665018" y="1135302"/>
          <a:ext cx="11111346" cy="5143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018">
                  <a:extLst>
                    <a:ext uri="{9D8B030D-6E8A-4147-A177-3AD203B41FA5}">
                      <a16:colId xmlns:a16="http://schemas.microsoft.com/office/drawing/2014/main" val="3208142668"/>
                    </a:ext>
                  </a:extLst>
                </a:gridCol>
                <a:gridCol w="5264728">
                  <a:extLst>
                    <a:ext uri="{9D8B030D-6E8A-4147-A177-3AD203B41FA5}">
                      <a16:colId xmlns:a16="http://schemas.microsoft.com/office/drawing/2014/main" val="529691565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961027923"/>
                    </a:ext>
                  </a:extLst>
                </a:gridCol>
              </a:tblGrid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Sr.no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Block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Role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285236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Modelica.Mechanics.MultiBody.World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Global frame + gravity (9.81 m/s² along −Z)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666508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Modelica.Mechanics.MultiBody.Joints.Revolute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×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Six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revolute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joints, axes Z–Y–Y–X–Y–Z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352155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Modelica.Mechanics.MultiBody.Parts.BodyShape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×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Six links — each carrying mass, COM, inertia tensor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38646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Modelica.Mechanics.Rotational.Sources.Torque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×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Joint torque inputs (one per joint)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448015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Modelica.Mechanics.Rotational.Sensors.AngleSensor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×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Joint angles q1–q6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6578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Modelica.Mechanics.Rotational.Sensors.SpeedSensor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×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Joint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velocities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q̇1–q̇6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30955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Modelica.Mechanics.MultiBody.Sensors.AbsolutePosition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End-effector position in world frame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274904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Modelica.Mechanics.MultiBody.Sensors.AbsoluteAngles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End-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effector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orientation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364898"/>
                  </a:ext>
                </a:extLst>
              </a:tr>
            </a:tbl>
          </a:graphicData>
        </a:graphic>
      </p:graphicFrame>
      <p:sp>
        <p:nvSpPr>
          <p:cNvPr id="4" name="Shape 6">
            <a:extLst>
              <a:ext uri="{FF2B5EF4-FFF2-40B4-BE49-F238E27FC236}">
                <a16:creationId xmlns:a16="http://schemas.microsoft.com/office/drawing/2014/main" id="{11E25DBB-9311-0B66-E5E3-63BF218B8CE4}"/>
              </a:ext>
            </a:extLst>
          </p:cNvPr>
          <p:cNvSpPr/>
          <p:nvPr/>
        </p:nvSpPr>
        <p:spPr>
          <a:xfrm flipV="1">
            <a:off x="0" y="1009535"/>
            <a:ext cx="121920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6914C609-4FAE-19F4-67D9-B1934688BFCE}"/>
              </a:ext>
            </a:extLst>
          </p:cNvPr>
          <p:cNvSpPr/>
          <p:nvPr/>
        </p:nvSpPr>
        <p:spPr>
          <a:xfrm flipV="1">
            <a:off x="-38100" y="578759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2732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1BC0E092-1BEE-E202-4377-F019F80580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144301"/>
              </p:ext>
            </p:extLst>
          </p:nvPr>
        </p:nvGraphicFramePr>
        <p:xfrm>
          <a:off x="0" y="16225"/>
          <a:ext cx="12192000" cy="57080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811A9672-A5BF-0391-4B04-47B2DD553B86}"/>
              </a:ext>
            </a:extLst>
          </p:cNvPr>
          <p:cNvSpPr txBox="1"/>
          <p:nvPr/>
        </p:nvSpPr>
        <p:spPr>
          <a:xfrm>
            <a:off x="374073" y="501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CAD extraction workflow in 3DEXPERIENCE Steps</a:t>
            </a:r>
            <a:endParaRPr lang="fr-FR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73DAB85-8CED-DD14-5945-622629499E4D}"/>
              </a:ext>
            </a:extLst>
          </p:cNvPr>
          <p:cNvSpPr txBox="1"/>
          <p:nvPr/>
        </p:nvSpPr>
        <p:spPr>
          <a:xfrm>
            <a:off x="484909" y="45923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Outcome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 of the extraction:</a:t>
            </a:r>
            <a:endParaRPr lang="fr-FR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189F0426-AA08-426C-52AA-3BFB453F2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365160"/>
              </p:ext>
            </p:extLst>
          </p:nvPr>
        </p:nvGraphicFramePr>
        <p:xfrm>
          <a:off x="484909" y="5162727"/>
          <a:ext cx="8026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3200">
                  <a:extLst>
                    <a:ext uri="{9D8B030D-6E8A-4147-A177-3AD203B41FA5}">
                      <a16:colId xmlns:a16="http://schemas.microsoft.com/office/drawing/2014/main" val="2736057594"/>
                    </a:ext>
                  </a:extLst>
                </a:gridCol>
                <a:gridCol w="4013200">
                  <a:extLst>
                    <a:ext uri="{9D8B030D-6E8A-4147-A177-3AD203B41FA5}">
                      <a16:colId xmlns:a16="http://schemas.microsoft.com/office/drawing/2014/main" val="1475180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Quantity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519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Total mass (sum of 6 links)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23.74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23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Manufacturer brochure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25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721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94.9 %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689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292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img/cr5.png">
            <a:extLst>
              <a:ext uri="{FF2B5EF4-FFF2-40B4-BE49-F238E27FC236}">
                <a16:creationId xmlns:a16="http://schemas.microsoft.com/office/drawing/2014/main" id="{B2E96E5E-CDE2-2707-0E0A-2D4678F04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164037"/>
            <a:ext cx="5522976" cy="285292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0584E20-E259-418C-CBB8-BC2090EE2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037"/>
            <a:ext cx="6004214" cy="66939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6DFB01A-B0A5-7A9E-0856-5D4207764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882855"/>
            <a:ext cx="6396182" cy="3837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40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3 · XY10 STATION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Cartesian gantry + vacuum gripper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Closed-loop drive  (per axis · ×3 for X · Y · Z)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691640"/>
            <a:ext cx="1371600" cy="822960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892808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03120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429000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39312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D98A12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39312" y="1691640"/>
            <a:ext cx="1371600" cy="822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DC-equiv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65192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75504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rgbClr val="D98A12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75504" y="1691640"/>
            <a:ext cx="1371600" cy="8229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R-L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winding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01384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11696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11696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037576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47888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47888" y="16916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Lead-screw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(rot→lin)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73768" y="185623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784080" y="1691640"/>
            <a:ext cx="1371600" cy="822960"/>
          </a:xfrm>
          <a:prstGeom prst="roundRect">
            <a:avLst>
              <a:gd name="adj" fmla="val 5556"/>
            </a:avLst>
          </a:prstGeom>
          <a:solidFill>
            <a:schemeClr val="accent1">
              <a:lumMod val="60000"/>
              <a:lumOff val="40000"/>
            </a:schemeClr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784080" y="1691640"/>
            <a:ext cx="1371600" cy="8229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6928" y="2651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feedback closes the loop · vacuum gripper: Boolean command → switch → grip force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" y="3063240"/>
            <a:ext cx="5486400" cy="2926080"/>
          </a:xfrm>
          <a:prstGeom prst="roundRect">
            <a:avLst>
              <a:gd name="adj" fmla="val 2500"/>
            </a:avLst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66928" y="3063240"/>
            <a:ext cx="91440" cy="29260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32004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abstraction: DC-equivalent steppers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1248" y="37033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steppers fire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 A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chopper mode; the FMU models a smooth 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 A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time-averaged drive. At line-orchestration level what matters is envelope, timing and energy — all captured. Chopper detail belongs to EMC studies, not digital-twin operation. A documented engineering choice, not an omission.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63640" y="3063240"/>
            <a:ext cx="5349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277217" y="6263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XY10 Station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3" name="Text 30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4" name="Text 31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F5C1A5B1-86C5-DBBC-7975-26053ED19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744" y="3063240"/>
            <a:ext cx="3171583" cy="2880360"/>
          </a:xfrm>
          <a:prstGeom prst="rect">
            <a:avLst/>
          </a:prstGeom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0F666E1F-890F-0215-1CFC-18A578588EF2}"/>
              </a:ext>
            </a:extLst>
          </p:cNvPr>
          <p:cNvSpPr txBox="1"/>
          <p:nvPr/>
        </p:nvSpPr>
        <p:spPr>
          <a:xfrm>
            <a:off x="7383916" y="2818569"/>
            <a:ext cx="331123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1136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</a:rPr>
              <a:t>MULTIPHYSICS-MODEL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subsystems -3.XY10 Station Model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117F7E2D-E798-605A-7DB6-0BE6A7086544}"/>
              </a:ext>
            </a:extLst>
          </p:cNvPr>
          <p:cNvSpPr/>
          <p:nvPr/>
        </p:nvSpPr>
        <p:spPr>
          <a:xfrm flipV="1">
            <a:off x="-38100" y="119751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EC589584-0A6F-ECC6-1503-29118922A978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FC94459-C8BA-D503-588A-613118DCC5E5}"/>
              </a:ext>
            </a:extLst>
          </p:cNvPr>
          <p:cNvSpPr/>
          <p:nvPr/>
        </p:nvSpPr>
        <p:spPr>
          <a:xfrm>
            <a:off x="585216" y="1170155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Architecture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Trebuchet MS" panose="020B0603020202020204" pitchFamily="34" charset="0"/>
              </a:rPr>
              <a:t>diagram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1C593828-6836-CAEA-DBED-C555A8DC1639}"/>
              </a:ext>
            </a:extLst>
          </p:cNvPr>
          <p:cNvSpPr/>
          <p:nvPr/>
        </p:nvSpPr>
        <p:spPr>
          <a:xfrm>
            <a:off x="94384" y="2078182"/>
            <a:ext cx="1406908" cy="73550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x_cmd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(input)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E8152B2-5E05-12C2-EA6E-853C74C48FF7}"/>
              </a:ext>
            </a:extLst>
          </p:cNvPr>
          <p:cNvSpPr/>
          <p:nvPr/>
        </p:nvSpPr>
        <p:spPr>
          <a:xfrm>
            <a:off x="2005714" y="2078182"/>
            <a:ext cx="1199092" cy="7621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PID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controller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2974FD50-073B-3E97-DFC0-DE59E22FA52E}"/>
              </a:ext>
            </a:extLst>
          </p:cNvPr>
          <p:cNvSpPr/>
          <p:nvPr/>
        </p:nvSpPr>
        <p:spPr>
          <a:xfrm>
            <a:off x="3683205" y="2033830"/>
            <a:ext cx="1199090" cy="8508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DC drive</a:t>
            </a: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voltage </a:t>
            </a:r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26D16315-3F8D-5B22-3342-F6E9C9AD5533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1501292" y="2445934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8337E127-0123-30D5-F458-C1F36D3D7999}"/>
              </a:ext>
            </a:extLst>
          </p:cNvPr>
          <p:cNvCxnSpPr>
            <a:cxnSpLocks/>
          </p:cNvCxnSpPr>
          <p:nvPr/>
        </p:nvCxnSpPr>
        <p:spPr>
          <a:xfrm>
            <a:off x="11075324" y="2867063"/>
            <a:ext cx="0" cy="4608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6B150ED6-EAB3-8BDC-31FA-48154DB002D0}"/>
              </a:ext>
            </a:extLst>
          </p:cNvPr>
          <p:cNvSpPr/>
          <p:nvPr/>
        </p:nvSpPr>
        <p:spPr>
          <a:xfrm>
            <a:off x="7020799" y="2084495"/>
            <a:ext cx="1313577" cy="80823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DC machine</a:t>
            </a: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rotational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DAAFD325-C865-D8DD-60FB-511FBD96AB4E}"/>
              </a:ext>
            </a:extLst>
          </p:cNvPr>
          <p:cNvSpPr/>
          <p:nvPr/>
        </p:nvSpPr>
        <p:spPr>
          <a:xfrm>
            <a:off x="10475782" y="3298172"/>
            <a:ext cx="1199083" cy="80823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Position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sensor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5E0A3254-1498-AB00-DEF4-AF97CC7EA20F}"/>
              </a:ext>
            </a:extLst>
          </p:cNvPr>
          <p:cNvSpPr/>
          <p:nvPr/>
        </p:nvSpPr>
        <p:spPr>
          <a:xfrm>
            <a:off x="5330553" y="2049817"/>
            <a:ext cx="1199089" cy="81724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R-L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winding</a:t>
            </a:r>
            <a:endParaRPr lang="fr-FR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electrical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) 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A2CE0DB-86C3-C9F7-CCA0-1DC93662FA1F}"/>
              </a:ext>
            </a:extLst>
          </p:cNvPr>
          <p:cNvSpPr/>
          <p:nvPr/>
        </p:nvSpPr>
        <p:spPr>
          <a:xfrm>
            <a:off x="8825533" y="2041816"/>
            <a:ext cx="1268640" cy="80823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Lead-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screw</a:t>
            </a:r>
            <a:endParaRPr lang="fr-FR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(IdealGearR2T) 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E15AE5E-4A99-FF2C-87E3-E4453101DF06}"/>
              </a:ext>
            </a:extLst>
          </p:cNvPr>
          <p:cNvSpPr/>
          <p:nvPr/>
        </p:nvSpPr>
        <p:spPr>
          <a:xfrm>
            <a:off x="10521879" y="2037598"/>
            <a:ext cx="1199089" cy="80823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Linear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stage </a:t>
            </a: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(Mass) 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11A80559-1ED7-FC8C-55CE-23E492BC1BF3}"/>
              </a:ext>
            </a:extLst>
          </p:cNvPr>
          <p:cNvSpPr/>
          <p:nvPr/>
        </p:nvSpPr>
        <p:spPr>
          <a:xfrm>
            <a:off x="8825533" y="3298172"/>
            <a:ext cx="1199089" cy="80823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(feedback to PID)</a:t>
            </a:r>
          </a:p>
        </p:txBody>
      </p: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5A4AD373-32A2-74F6-C7C5-475216A5E318}"/>
              </a:ext>
            </a:extLst>
          </p:cNvPr>
          <p:cNvCxnSpPr>
            <a:cxnSpLocks/>
          </p:cNvCxnSpPr>
          <p:nvPr/>
        </p:nvCxnSpPr>
        <p:spPr>
          <a:xfrm>
            <a:off x="4877274" y="2481124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83860E9F-C42F-144E-6FF5-EAF500A7777A}"/>
              </a:ext>
            </a:extLst>
          </p:cNvPr>
          <p:cNvCxnSpPr>
            <a:cxnSpLocks/>
          </p:cNvCxnSpPr>
          <p:nvPr/>
        </p:nvCxnSpPr>
        <p:spPr>
          <a:xfrm>
            <a:off x="6529642" y="2474457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CA92ADD1-808A-408A-08C2-BDE066C31A80}"/>
              </a:ext>
            </a:extLst>
          </p:cNvPr>
          <p:cNvCxnSpPr>
            <a:cxnSpLocks/>
          </p:cNvCxnSpPr>
          <p:nvPr/>
        </p:nvCxnSpPr>
        <p:spPr>
          <a:xfrm>
            <a:off x="8321111" y="2445934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008232E3-4593-F75E-BBBB-0C1A0C80274D}"/>
              </a:ext>
            </a:extLst>
          </p:cNvPr>
          <p:cNvCxnSpPr>
            <a:stCxn id="45" idx="1"/>
            <a:endCxn id="24" idx="3"/>
          </p:cNvCxnSpPr>
          <p:nvPr/>
        </p:nvCxnSpPr>
        <p:spPr>
          <a:xfrm flipH="1">
            <a:off x="10024622" y="3702290"/>
            <a:ext cx="451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2CFD0DE0-9BF0-E30B-DC0F-C7303BDA9A66}"/>
              </a:ext>
            </a:extLst>
          </p:cNvPr>
          <p:cNvCxnSpPr>
            <a:cxnSpLocks/>
          </p:cNvCxnSpPr>
          <p:nvPr/>
        </p:nvCxnSpPr>
        <p:spPr>
          <a:xfrm>
            <a:off x="10094173" y="2413872"/>
            <a:ext cx="44324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ZoneTexte 88">
            <a:extLst>
              <a:ext uri="{FF2B5EF4-FFF2-40B4-BE49-F238E27FC236}">
                <a16:creationId xmlns:a16="http://schemas.microsoft.com/office/drawing/2014/main" id="{1FE61760-8504-1F80-5892-6A52DF712592}"/>
              </a:ext>
            </a:extLst>
          </p:cNvPr>
          <p:cNvSpPr txBox="1"/>
          <p:nvPr/>
        </p:nvSpPr>
        <p:spPr>
          <a:xfrm>
            <a:off x="527129" y="37022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Vacuum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branch</a:t>
            </a:r>
            <a:endParaRPr lang="fr-FR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2B380A8-4333-4D34-4155-1A7FDF5A07CB}"/>
              </a:ext>
            </a:extLst>
          </p:cNvPr>
          <p:cNvSpPr/>
          <p:nvPr/>
        </p:nvSpPr>
        <p:spPr>
          <a:xfrm>
            <a:off x="585216" y="4664307"/>
            <a:ext cx="1406908" cy="73550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vacuum_cmd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(Boolean) 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57D90A9-94F2-0D9F-DBF4-74A01E956FC0}"/>
              </a:ext>
            </a:extLst>
          </p:cNvPr>
          <p:cNvSpPr/>
          <p:nvPr/>
        </p:nvSpPr>
        <p:spPr>
          <a:xfrm>
            <a:off x="2517864" y="4733039"/>
            <a:ext cx="1406908" cy="73550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Switch </a:t>
            </a: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logical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C36D51F-DBF5-6852-9372-BF094C4BA798}"/>
              </a:ext>
            </a:extLst>
          </p:cNvPr>
          <p:cNvSpPr/>
          <p:nvPr/>
        </p:nvSpPr>
        <p:spPr>
          <a:xfrm>
            <a:off x="4429194" y="4748266"/>
            <a:ext cx="1406908" cy="73550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F_vacuum</a:t>
            </a:r>
            <a:endParaRPr lang="fr-FR" sz="16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(output)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CE3ED923-B64C-4A1D-3707-DE3127784BFC}"/>
              </a:ext>
            </a:extLst>
          </p:cNvPr>
          <p:cNvCxnSpPr>
            <a:cxnSpLocks/>
          </p:cNvCxnSpPr>
          <p:nvPr/>
        </p:nvCxnSpPr>
        <p:spPr>
          <a:xfrm>
            <a:off x="2002783" y="5087457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A982962-47FC-2E53-9EBD-CA2B45978929}"/>
              </a:ext>
            </a:extLst>
          </p:cNvPr>
          <p:cNvCxnSpPr>
            <a:cxnSpLocks/>
          </p:cNvCxnSpPr>
          <p:nvPr/>
        </p:nvCxnSpPr>
        <p:spPr>
          <a:xfrm>
            <a:off x="3924772" y="5068731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D046B6C1-F700-9867-0AE6-5B9105DEF7B6}"/>
              </a:ext>
            </a:extLst>
          </p:cNvPr>
          <p:cNvCxnSpPr>
            <a:cxnSpLocks/>
          </p:cNvCxnSpPr>
          <p:nvPr/>
        </p:nvCxnSpPr>
        <p:spPr>
          <a:xfrm>
            <a:off x="3197587" y="2427206"/>
            <a:ext cx="504422" cy="13334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766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>
            <a:extLst>
              <a:ext uri="{FF2B5EF4-FFF2-40B4-BE49-F238E27FC236}">
                <a16:creationId xmlns:a16="http://schemas.microsoft.com/office/drawing/2014/main" id="{10DBF060-BC7F-A000-B70C-051D7B257EDC}"/>
              </a:ext>
            </a:extLst>
          </p:cNvPr>
          <p:cNvSpPr/>
          <p:nvPr/>
        </p:nvSpPr>
        <p:spPr>
          <a:xfrm flipV="1">
            <a:off x="0" y="329377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EB554C92-B9F3-7AE3-E572-556C1D91F88A}"/>
              </a:ext>
            </a:extLst>
          </p:cNvPr>
          <p:cNvSpPr/>
          <p:nvPr/>
        </p:nvSpPr>
        <p:spPr>
          <a:xfrm flipV="1">
            <a:off x="-19050" y="869704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DB02908-582C-2370-D534-1A4F5BD446DC}"/>
              </a:ext>
            </a:extLst>
          </p:cNvPr>
          <p:cNvSpPr txBox="1"/>
          <p:nvPr/>
        </p:nvSpPr>
        <p:spPr>
          <a:xfrm>
            <a:off x="266699" y="414875"/>
            <a:ext cx="6130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Components 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used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 (</a:t>
            </a:r>
            <a:r>
              <a:rPr lang="fr-FR" b="1" dirty="0" err="1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Modelica</a:t>
            </a: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 blocks)</a:t>
            </a:r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3AD7AC68-DE27-6C89-D1C2-B9E72B1CA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861153"/>
              </p:ext>
            </p:extLst>
          </p:nvPr>
        </p:nvGraphicFramePr>
        <p:xfrm>
          <a:off x="374074" y="1135302"/>
          <a:ext cx="11610108" cy="5151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598">
                  <a:extLst>
                    <a:ext uri="{9D8B030D-6E8A-4147-A177-3AD203B41FA5}">
                      <a16:colId xmlns:a16="http://schemas.microsoft.com/office/drawing/2014/main" val="3208142668"/>
                    </a:ext>
                  </a:extLst>
                </a:gridCol>
                <a:gridCol w="6924088">
                  <a:extLst>
                    <a:ext uri="{9D8B030D-6E8A-4147-A177-3AD203B41FA5}">
                      <a16:colId xmlns:a16="http://schemas.microsoft.com/office/drawing/2014/main" val="529691565"/>
                    </a:ext>
                  </a:extLst>
                </a:gridCol>
                <a:gridCol w="4137422">
                  <a:extLst>
                    <a:ext uri="{9D8B030D-6E8A-4147-A177-3AD203B41FA5}">
                      <a16:colId xmlns:a16="http://schemas.microsoft.com/office/drawing/2014/main" val="2961027923"/>
                    </a:ext>
                  </a:extLst>
                </a:gridCol>
              </a:tblGrid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Sr.no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Block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Role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285236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Modelica.Blocks.Interfaces.RealInput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Position command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x_cmd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/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y_cmd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/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z_cmd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666508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Modelica.Blocks.Continuous.PID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Position controller (closes the loop)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352155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Modelica.Electrical.Analog.Sources.SignalVoltage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DC-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equivalent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drive voltage 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5038646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Modelica.Electrical.Analog.Basic.Resistor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Winding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resistance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448015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Modelica.Electrical.Analog.Basic.Inductor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Winding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inductance 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6578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Modelica.Electrical.Analog.Sensors.CurrentSensor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Axis drive current </a:t>
                      </a:r>
                      <a:r>
                        <a:rPr lang="en-US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i_x</a:t>
                      </a:r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/ </a:t>
                      </a:r>
                      <a:r>
                        <a:rPr lang="en-US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i_y</a:t>
                      </a:r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/ </a:t>
                      </a:r>
                      <a:r>
                        <a:rPr lang="en-US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i_z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30955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Modelica.Electrical.Machines.BasicMachines.DCMachines.DC_PermanentMagnet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DC-equivalent of the real stepper motor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274904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Modelica.Mechanics.Rotational.Components.IdealGearR2T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Lead-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screw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(rotation →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linear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motion)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3648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5262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C98F6CB4-F387-3D98-DAD5-5EBE3D16C8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977298"/>
              </p:ext>
            </p:extLst>
          </p:nvPr>
        </p:nvGraphicFramePr>
        <p:xfrm>
          <a:off x="374073" y="232352"/>
          <a:ext cx="11492345" cy="171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921">
                  <a:extLst>
                    <a:ext uri="{9D8B030D-6E8A-4147-A177-3AD203B41FA5}">
                      <a16:colId xmlns:a16="http://schemas.microsoft.com/office/drawing/2014/main" val="931173503"/>
                    </a:ext>
                  </a:extLst>
                </a:gridCol>
                <a:gridCol w="6535050">
                  <a:extLst>
                    <a:ext uri="{9D8B030D-6E8A-4147-A177-3AD203B41FA5}">
                      <a16:colId xmlns:a16="http://schemas.microsoft.com/office/drawing/2014/main" val="4212093844"/>
                    </a:ext>
                  </a:extLst>
                </a:gridCol>
                <a:gridCol w="4202374">
                  <a:extLst>
                    <a:ext uri="{9D8B030D-6E8A-4147-A177-3AD203B41FA5}">
                      <a16:colId xmlns:a16="http://schemas.microsoft.com/office/drawing/2014/main" val="1392015910"/>
                    </a:ext>
                  </a:extLst>
                </a:gridCol>
              </a:tblGrid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Modelica.Mechanics.Translational.Components.Mass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Linear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stage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carriage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452823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Modelica.Mechanics.Translational.Sensors.PositionSensor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Stage position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01270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Modelica.Mechanics.Translational.Sensors.SpeedSensor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Stage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velocity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805327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2C7D3D0E-73E4-F7A2-88AC-F9A12788A845}"/>
              </a:ext>
            </a:extLst>
          </p:cNvPr>
          <p:cNvSpPr txBox="1"/>
          <p:nvPr/>
        </p:nvSpPr>
        <p:spPr>
          <a:xfrm>
            <a:off x="349827" y="24892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Vacuum gripper components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BE9D3D38-C9A4-56C5-B19B-85FC8DE7E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380311"/>
              </p:ext>
            </p:extLst>
          </p:nvPr>
        </p:nvGraphicFramePr>
        <p:xfrm>
          <a:off x="374073" y="3196355"/>
          <a:ext cx="11468099" cy="2857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0675">
                  <a:extLst>
                    <a:ext uri="{9D8B030D-6E8A-4147-A177-3AD203B41FA5}">
                      <a16:colId xmlns:a16="http://schemas.microsoft.com/office/drawing/2014/main" val="931173503"/>
                    </a:ext>
                  </a:extLst>
                </a:gridCol>
                <a:gridCol w="6535050">
                  <a:extLst>
                    <a:ext uri="{9D8B030D-6E8A-4147-A177-3AD203B41FA5}">
                      <a16:colId xmlns:a16="http://schemas.microsoft.com/office/drawing/2014/main" val="4212093844"/>
                    </a:ext>
                  </a:extLst>
                </a:gridCol>
                <a:gridCol w="4202374">
                  <a:extLst>
                    <a:ext uri="{9D8B030D-6E8A-4147-A177-3AD203B41FA5}">
                      <a16:colId xmlns:a16="http://schemas.microsoft.com/office/drawing/2014/main" val="1392015910"/>
                    </a:ext>
                  </a:extLst>
                </a:gridCol>
              </a:tblGrid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Sr.no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Block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Role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452823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Modelica.Blocks.Interfaces.BooleanInput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Vacuum on/off command </a:t>
                      </a:r>
                      <a:r>
                        <a:rPr lang="en-US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vacuum_cmd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6701270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Modelica.Blocks.Logical.Switch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Toggles between zero force and full grip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805327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Modelica.Blocks.Sources.Constant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Defines the full-grip force level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875187"/>
                  </a:ext>
                </a:extLst>
              </a:tr>
              <a:tr h="571549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Modelica.Blocks.Interfaces.RealOutput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Vacuum force output </a:t>
                      </a:r>
                      <a:r>
                        <a:rPr lang="en-US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F_vacuum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3254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8610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217DD72-33BB-5330-E1EF-EEEF37782F71}"/>
              </a:ext>
            </a:extLst>
          </p:cNvPr>
          <p:cNvSpPr txBox="1"/>
          <p:nvPr/>
        </p:nvSpPr>
        <p:spPr>
          <a:xfrm>
            <a:off x="360218" y="196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AXIS PARAMETERS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CC44CB6-5364-E443-3E33-FE65F624F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076502"/>
              </p:ext>
            </p:extLst>
          </p:nvPr>
        </p:nvGraphicFramePr>
        <p:xfrm>
          <a:off x="471055" y="738497"/>
          <a:ext cx="11499272" cy="372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1133">
                  <a:extLst>
                    <a:ext uri="{9D8B030D-6E8A-4147-A177-3AD203B41FA5}">
                      <a16:colId xmlns:a16="http://schemas.microsoft.com/office/drawing/2014/main" val="739400680"/>
                    </a:ext>
                  </a:extLst>
                </a:gridCol>
                <a:gridCol w="3268527">
                  <a:extLst>
                    <a:ext uri="{9D8B030D-6E8A-4147-A177-3AD203B41FA5}">
                      <a16:colId xmlns:a16="http://schemas.microsoft.com/office/drawing/2014/main" val="3292622227"/>
                    </a:ext>
                  </a:extLst>
                </a:gridCol>
                <a:gridCol w="4269612">
                  <a:extLst>
                    <a:ext uri="{9D8B030D-6E8A-4147-A177-3AD203B41FA5}">
                      <a16:colId xmlns:a16="http://schemas.microsoft.com/office/drawing/2014/main" val="960381866"/>
                    </a:ext>
                  </a:extLst>
                </a:gridCol>
              </a:tblGrid>
              <a:tr h="41363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Parameter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145924"/>
                  </a:ext>
                </a:extLst>
              </a:tr>
              <a:tr h="41363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Lead-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screw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pitch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 mm/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rev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ERM XY10 fiche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14014"/>
                  </a:ext>
                </a:extLst>
              </a:tr>
              <a:tr h="41363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X-axis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carriage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≈ 2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ERM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specifications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963948"/>
                  </a:ext>
                </a:extLst>
              </a:tr>
              <a:tr h="41363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Y-axis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carriage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≈ 3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ERM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specifications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44122"/>
                  </a:ext>
                </a:extLst>
              </a:tr>
              <a:tr h="41363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Z-axis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carriage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≈ 1 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ERM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specifications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823406"/>
                  </a:ext>
                </a:extLst>
              </a:tr>
              <a:tr h="41363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Winding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resistance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Identified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TDMS no-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load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04967"/>
                  </a:ext>
                </a:extLst>
              </a:tr>
              <a:tr h="41363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Winding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inductance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Identified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TDMS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step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response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366441"/>
                  </a:ext>
                </a:extLst>
              </a:tr>
              <a:tr h="41363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Torque constant 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from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rated</a:t>
                      </a:r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stepper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NEMA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equivalent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04557"/>
                  </a:ext>
                </a:extLst>
              </a:tr>
              <a:tr h="413630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Vacuum grip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full-on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ERM vacuum </a:t>
                      </a:r>
                      <a:r>
                        <a:rPr lang="fr-FR" sz="1600" dirty="0" err="1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spec</a:t>
                      </a:r>
                      <a:endParaRPr lang="fr-FR" sz="1600" dirty="0">
                        <a:solidFill>
                          <a:schemeClr val="accent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305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35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8AC1427-2E34-4507-1FB4-020784E63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398"/>
            <a:ext cx="12192000" cy="235026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644E462-8046-E191-2493-450419F68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1513"/>
            <a:ext cx="12192000" cy="22749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B65A744-B28A-FEC7-1D09-C1C12C85FA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6487"/>
            <a:ext cx="12192000" cy="21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776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8E2DEB2-A101-1E00-E870-2824CD323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3" y="0"/>
            <a:ext cx="10266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3006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A2D04307-438E-D936-1E7E-8D5BF334E78B}"/>
              </a:ext>
            </a:extLst>
          </p:cNvPr>
          <p:cNvSpPr/>
          <p:nvPr/>
        </p:nvSpPr>
        <p:spPr>
          <a:xfrm>
            <a:off x="244394" y="211913"/>
            <a:ext cx="113504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METHODOLOGY-</a:t>
            </a:r>
            <a:r>
              <a:rPr lang="fr-FR" sz="3200" b="1" dirty="0">
                <a:solidFill>
                  <a:schemeClr val="accent1">
                    <a:lumMod val="50000"/>
                  </a:schemeClr>
                </a:solidFill>
                <a:latin typeface="Trebuchet MS" panose="020B0603020202020204" pitchFamily="34" charset="0"/>
              </a:rPr>
              <a:t>TOOLS USED</a:t>
            </a:r>
            <a:endParaRPr lang="en-US" sz="3000" b="1" dirty="0">
              <a:solidFill>
                <a:schemeClr val="accent1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BCA8EB48-EE3F-8970-2F21-7417F16B4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0506305"/>
              </p:ext>
            </p:extLst>
          </p:nvPr>
        </p:nvGraphicFramePr>
        <p:xfrm>
          <a:off x="597131" y="1218699"/>
          <a:ext cx="9671134" cy="2634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4" name="ZoneTexte 33">
            <a:extLst>
              <a:ext uri="{FF2B5EF4-FFF2-40B4-BE49-F238E27FC236}">
                <a16:creationId xmlns:a16="http://schemas.microsoft.com/office/drawing/2014/main" id="{D75143A9-EB18-B191-DA0C-2E5175C74688}"/>
              </a:ext>
            </a:extLst>
          </p:cNvPr>
          <p:cNvSpPr txBox="1"/>
          <p:nvPr/>
        </p:nvSpPr>
        <p:spPr>
          <a:xfrm>
            <a:off x="1367852" y="2968050"/>
            <a:ext cx="6093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Multiphysics modelling in </a:t>
            </a:r>
            <a:r>
              <a:rPr lang="en-US" sz="2000" b="1" dirty="0" err="1">
                <a:solidFill>
                  <a:schemeClr val="accent1">
                    <a:lumMod val="50000"/>
                  </a:schemeClr>
                </a:solidFill>
              </a:rPr>
              <a:t>Dymola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 / 3DEXPERIENCE</a:t>
            </a:r>
            <a:endParaRPr lang="fr-FR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35" name="Diagramme 34">
            <a:extLst>
              <a:ext uri="{FF2B5EF4-FFF2-40B4-BE49-F238E27FC236}">
                <a16:creationId xmlns:a16="http://schemas.microsoft.com/office/drawing/2014/main" id="{AAD45072-931E-FDC0-7E98-355488E63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75528034"/>
              </p:ext>
            </p:extLst>
          </p:nvPr>
        </p:nvGraphicFramePr>
        <p:xfrm>
          <a:off x="597131" y="3664594"/>
          <a:ext cx="9671134" cy="2634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7" name="ZoneTexte 36">
            <a:extLst>
              <a:ext uri="{FF2B5EF4-FFF2-40B4-BE49-F238E27FC236}">
                <a16:creationId xmlns:a16="http://schemas.microsoft.com/office/drawing/2014/main" id="{C71E4097-9D95-033F-645D-E6C5FA662CCA}"/>
              </a:ext>
            </a:extLst>
          </p:cNvPr>
          <p:cNvSpPr txBox="1"/>
          <p:nvPr/>
        </p:nvSpPr>
        <p:spPr>
          <a:xfrm>
            <a:off x="1367852" y="3815420"/>
            <a:ext cx="74501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accent1">
                    <a:lumMod val="50000"/>
                  </a:schemeClr>
                </a:solidFill>
              </a:rPr>
              <a:t>FMU export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Each model exported as FMI 2.0 Co-Simulation FMU.</a:t>
            </a:r>
            <a:endParaRPr lang="fr-FR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hape 6">
            <a:extLst>
              <a:ext uri="{FF2B5EF4-FFF2-40B4-BE49-F238E27FC236}">
                <a16:creationId xmlns:a16="http://schemas.microsoft.com/office/drawing/2014/main" id="{61410C7B-0E3A-503C-3384-E12C03FEAEE9}"/>
              </a:ext>
            </a:extLst>
          </p:cNvPr>
          <p:cNvSpPr/>
          <p:nvPr/>
        </p:nvSpPr>
        <p:spPr>
          <a:xfrm flipV="1">
            <a:off x="-19050" y="795735"/>
            <a:ext cx="12230100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248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17728A6-EB8A-A4D3-704E-D607C60FCF98}"/>
              </a:ext>
            </a:extLst>
          </p:cNvPr>
          <p:cNvSpPr txBox="1"/>
          <p:nvPr/>
        </p:nvSpPr>
        <p:spPr>
          <a:xfrm>
            <a:off x="249382" y="3789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2"/>
                </a:solidFill>
                <a:latin typeface="Trebuchet MS" panose="020B0603020202020204" pitchFamily="34" charset="0"/>
              </a:rPr>
              <a:t>REAL-TIME EXPERIMENT ON THE ALIX LINE</a:t>
            </a:r>
            <a:endParaRPr lang="fr-FR" b="1" dirty="0">
              <a:solidFill>
                <a:schemeClr val="tx2"/>
              </a:solidFill>
              <a:latin typeface="Trebuchet MS" panose="020B0603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7A0BFDD-CF19-0FB9-C7D7-6F209820E599}"/>
              </a:ext>
            </a:extLst>
          </p:cNvPr>
          <p:cNvSpPr txBox="1"/>
          <p:nvPr/>
        </p:nvSpPr>
        <p:spPr>
          <a:xfrm>
            <a:off x="581891" y="95559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chemeClr val="tx2"/>
                </a:solidFill>
                <a:latin typeface="Trebuchet MS" panose="020B0603020202020204" pitchFamily="34" charset="0"/>
              </a:rPr>
              <a:t>The </a:t>
            </a:r>
            <a:r>
              <a:rPr lang="fr-FR" b="1" dirty="0" err="1">
                <a:solidFill>
                  <a:schemeClr val="tx2"/>
                </a:solidFill>
                <a:latin typeface="Trebuchet MS" panose="020B0603020202020204" pitchFamily="34" charset="0"/>
              </a:rPr>
              <a:t>experimental</a:t>
            </a:r>
            <a:r>
              <a:rPr lang="fr-FR" b="1" dirty="0">
                <a:solidFill>
                  <a:schemeClr val="tx2"/>
                </a:solidFill>
                <a:latin typeface="Trebuchet MS" panose="020B0603020202020204" pitchFamily="34" charset="0"/>
              </a:rPr>
              <a:t> </a:t>
            </a:r>
            <a:r>
              <a:rPr lang="fr-FR" b="1" dirty="0" err="1">
                <a:solidFill>
                  <a:schemeClr val="tx2"/>
                </a:solidFill>
                <a:latin typeface="Trebuchet MS" panose="020B0603020202020204" pitchFamily="34" charset="0"/>
              </a:rPr>
              <a:t>sequence</a:t>
            </a:r>
            <a:r>
              <a:rPr lang="fr-FR" b="1" dirty="0">
                <a:solidFill>
                  <a:schemeClr val="tx2"/>
                </a:solidFill>
                <a:latin typeface="Trebuchet MS" panose="020B0603020202020204" pitchFamily="34" charset="0"/>
              </a:rPr>
              <a:t>: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22D40D78-A0B4-4658-AB63-C9FE6D383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780541"/>
              </p:ext>
            </p:extLst>
          </p:nvPr>
        </p:nvGraphicFramePr>
        <p:xfrm>
          <a:off x="595746" y="1597013"/>
          <a:ext cx="11139054" cy="448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634">
                  <a:extLst>
                    <a:ext uri="{9D8B030D-6E8A-4147-A177-3AD203B41FA5}">
                      <a16:colId xmlns:a16="http://schemas.microsoft.com/office/drawing/2014/main" val="739400680"/>
                    </a:ext>
                  </a:extLst>
                </a:gridCol>
                <a:gridCol w="7214128">
                  <a:extLst>
                    <a:ext uri="{9D8B030D-6E8A-4147-A177-3AD203B41FA5}">
                      <a16:colId xmlns:a16="http://schemas.microsoft.com/office/drawing/2014/main" val="3292622227"/>
                    </a:ext>
                  </a:extLst>
                </a:gridCol>
                <a:gridCol w="2667292">
                  <a:extLst>
                    <a:ext uri="{9D8B030D-6E8A-4147-A177-3AD203B41FA5}">
                      <a16:colId xmlns:a16="http://schemas.microsoft.com/office/drawing/2014/main" val="960381866"/>
                    </a:ext>
                  </a:extLst>
                </a:gridCol>
              </a:tblGrid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t (s)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Station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145924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Pot enters the line from the input magazine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(</a:t>
                      </a:r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upstream</a:t>
                      </a:r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814014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XY10 vacuum gripper picks the empty pot from the input tray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XY10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963948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XY10 places the pot onto the moving conveyor belt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XY10 → </a:t>
                      </a:r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344122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8 →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2060"/>
                          </a:solidFill>
                        </a:rPr>
                        <a:t>Conveyor transports the pot along the line</a:t>
                      </a:r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 (0.196 m/s steady state)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823406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Pot arrives at the CR5 capping station, photoelectric sensor S2 triggers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4304967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CR5 picks a cap from the cap dispenser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CR5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366441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CR5 places the cap on the pot, vision check confirms placement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CR5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004557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Conveyor restarts and carries the capped pot downstream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 err="1">
                          <a:solidFill>
                            <a:srgbClr val="002060"/>
                          </a:solidFill>
                        </a:rPr>
                        <a:t>Conveyor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2305880"/>
                  </a:ext>
                </a:extLst>
              </a:tr>
              <a:tr h="44851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002060"/>
                          </a:solidFill>
                        </a:rPr>
                        <a:t>Cycle complete — next pot enters</a:t>
                      </a:r>
                      <a:endParaRPr lang="fr-FR" sz="16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solidFill>
                            <a:srgbClr val="002060"/>
                          </a:solidFill>
                        </a:rPr>
                        <a:t>---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0676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6083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MODELS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subsystems · three physics domains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63040"/>
            <a:ext cx="3611880" cy="7772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72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CONVEYOR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95528" y="1920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multiphysics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→ mechanical → thermal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induction machine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TECHTOP 0.09 kW · NMRV gearbox i = 20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branch: losses → ambient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Modelica blocks · 161 parameters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463040"/>
            <a:ext cx="361188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572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CR5 COBOT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08576" y="1920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multibody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6008" y="2423160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Dobot CR5 — 6 revolute joints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from real CAD 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/ COM / inertia per link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torque inputs · 16 outputs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robot, not a generic arm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93024" y="146304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93024" y="1463040"/>
            <a:ext cx="3611880" cy="777240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1624" y="1572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XY10 STATION</a:t>
            </a:r>
            <a:endParaRPr lang="en-US" sz="1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21624" y="19202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+ vacuum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49056" y="2423160"/>
            <a:ext cx="31089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axes (X·Y·Z) closed-loop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→ DC drive → lead-screw → stage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gripper (Boolean force)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DC-equivalent of chopper drive</a:t>
            </a:r>
            <a:endParaRPr lang="en-US" sz="1600" dirty="0"/>
          </a:p>
          <a:p>
            <a:pPr marL="342900" indent="-342900" algn="just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inputs · 11 outputs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" y="6172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conveyor runs continuously; CR5 and XY10 act in discrete bursts — the model captures both regimes.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stages — against reality and against itself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08760"/>
            <a:ext cx="5349240" cy="64008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08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A — FMU vs real TDMS field data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95528" y="2331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i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match the world?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voltage · conveyor current fundamental · motor temperature rise · XY10 burst envelope · CR5 mass — each compared against measurement.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508760"/>
            <a:ext cx="5349240" cy="64008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5087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 — FMU vs Dymola reference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i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export stay faithful?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exported FMU is replayed in Python and compared to the original Dymola run — catching any FMU-export bug. Result: essentially lossless (T_motor differs by 0.0001 K).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45262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Signal-processing pipeline (Stage A)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TDMS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57984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31136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×200 / ×10 gains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749040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22192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ms steady window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40096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13248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13248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Band-pass 40–60 Hz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31152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04304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04304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@ 50 kHz → decimate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22208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0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Cross-correlation align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113264" y="4937760"/>
            <a:ext cx="1481328" cy="822960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6416" y="4992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186416" y="52303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6 metrics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HEADLINE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30936" y="914400"/>
            <a:ext cx="11055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model matches the line</a:t>
            </a:r>
            <a:endParaRPr lang="en-US" sz="2700" dirty="0">
              <a:solidFill>
                <a:schemeClr val="tx2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2C5F8A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0.999</a:t>
            </a:r>
            <a:endParaRPr lang="en-US" sz="3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 R²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sinusoid · 99.8% peak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74136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D98A12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65576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98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465576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 R²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65576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fundamental, phase-aligned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1F8A70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8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99.2%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72784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Thermal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72784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ΔT 11.86 K vs 11.95 K obs.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88552" y="169164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1C3358"/>
          </a:solidFill>
          <a:ln w="19050">
            <a:solidFill>
              <a:srgbClr val="9DB4D0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079992" y="185623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9DB4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94.9%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9079992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CR5 mass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79992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23.74 kg vs 25 kg brochure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355080" cy="2697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" y="37673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 voltage — TDMS measured (blue) vs model sinusoid (red)</a:t>
            </a:r>
            <a:endParaRPr lang="en-US" sz="1400" dirty="0"/>
          </a:p>
        </p:txBody>
      </p:sp>
      <p:pic>
        <p:nvPicPr>
          <p:cNvPr id="22" name="Image 0" descr="/home/claude/deckimg/valid_vol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14800"/>
            <a:ext cx="5989320" cy="1453896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9808" y="58978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0.9987 · peak 345.6 V vs 345.1 V (99.8%) · phase shift negligible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178040" y="3657600"/>
            <a:ext cx="4434840" cy="2697480"/>
          </a:xfrm>
          <a:prstGeom prst="roundRect">
            <a:avLst>
              <a:gd name="adj" fmla="val 2712"/>
            </a:avLst>
          </a:prstGeom>
          <a:solidFill>
            <a:srgbClr val="1C3358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452360" y="38404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8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B — EXPORT IS LOSSLESS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452360" y="4297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T_motor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961120" y="4297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K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0241280" y="4297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8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99.99%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452360" y="47731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i_phase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961120" y="47731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241280" y="47731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8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7452360" y="52486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P_elec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961120" y="524865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 W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10241280" y="524865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F8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99.99%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452360" y="5806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9D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FMU faithfully reproduces the Dymola model — the toolchain itself introduces no error.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SCIENTIFIC HONESTY</a:t>
            </a:r>
            <a:endParaRPr lang="en-US" sz="3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residual is named and explained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Conveyor current — 50 Hz fundamental: TDMS band-passed (blue) vs FMU (red)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110642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pic>
        <p:nvPicPr>
          <p:cNvPr id="6" name="Image 0" descr="/home/claude/deckimg/valid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327" y="1764792"/>
            <a:ext cx="9739745" cy="1911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93192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3233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3931920"/>
            <a:ext cx="91440" cy="109728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cause:  </a:t>
            </a:r>
            <a:r>
              <a:rPr lang="en-US" sz="16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unmodelled drive-rectifier delay. The model is grid-connected, so the line current shows a 14% amplitude offset (FMU 2.30 A vs measured 1.91 A) and a 105° phase offset (−5.83 ms). Both are the same physical effect — power electronics deliberately outside the current model scope. Localised, named, physically explained.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6928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" y="5166360"/>
            <a:ext cx="91440" cy="77724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5230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(Phase 2):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Rs, Rr, Lm, Lσ in the Dymola 2026x identification UI → expected to cut the 14% residual to 3–5%. Calibrate on first.tdms, validate on four.tdms.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59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line spends its power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94360" y="126644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FMU was run through a full 30-second cycle; instantaneous power was integrated (E = ∫P dt) per subsystem.</a:t>
            </a:r>
            <a:endParaRPr lang="en-US" sz="1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66928" y="196596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1984248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90.1%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92240" y="1920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Per-cycle breakdown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92240" y="2377440"/>
            <a:ext cx="201168" cy="201168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6"/>
          <p:cNvSpPr/>
          <p:nvPr/>
        </p:nvSpPr>
        <p:spPr>
          <a:xfrm>
            <a:off x="6812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869680" y="2331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3284 J  ·  108 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607040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C5F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90.1%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492240" y="2834640"/>
            <a:ext cx="201168" cy="201168"/>
          </a:xfrm>
          <a:prstGeom prst="ellipse">
            <a:avLst/>
          </a:prstGeom>
          <a:solidFill>
            <a:srgbClr val="D98A12"/>
          </a:solidFill>
          <a:ln/>
        </p:spPr>
      </p:sp>
      <p:sp>
        <p:nvSpPr>
          <p:cNvPr id="13" name="Text 10"/>
          <p:cNvSpPr/>
          <p:nvPr/>
        </p:nvSpPr>
        <p:spPr>
          <a:xfrm>
            <a:off x="6812280" y="2788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PLC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69680" y="2788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J  ·  8 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607040" y="2788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8A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6.6%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92240" y="3291840"/>
            <a:ext cx="201168" cy="201168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7" name="Text 14"/>
          <p:cNvSpPr/>
          <p:nvPr/>
        </p:nvSpPr>
        <p:spPr>
          <a:xfrm>
            <a:off x="6812280" y="3246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Pneumatic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86968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J  ·  4 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607040" y="32461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8A7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3.3%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92240" y="3749040"/>
            <a:ext cx="201168" cy="201168"/>
          </a:xfrm>
          <a:prstGeom prst="ellipse">
            <a:avLst/>
          </a:prstGeom>
          <a:solidFill>
            <a:srgbClr val="9DB4D0"/>
          </a:solidFill>
          <a:ln/>
        </p:spPr>
      </p:sp>
      <p:sp>
        <p:nvSpPr>
          <p:cNvPr id="21" name="Text 18"/>
          <p:cNvSpPr/>
          <p:nvPr/>
        </p:nvSpPr>
        <p:spPr>
          <a:xfrm>
            <a:off x="68122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XY10 steppers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86968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 J  ·  ≈ 0 W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607040" y="37033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9DB4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0.0%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92240" y="4206240"/>
            <a:ext cx="5120640" cy="0"/>
          </a:xfrm>
          <a:prstGeom prst="line">
            <a:avLst/>
          </a:prstGeom>
          <a:noFill/>
          <a:ln w="12700">
            <a:solidFill>
              <a:srgbClr val="DCE3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92240" y="4297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line   </a:t>
            </a:r>
            <a:r>
              <a:rPr lang="en-US" sz="1500" dirty="0">
                <a:solidFill>
                  <a:srgbClr val="1B2A4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3645 J  ·  121 W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492240" y="484632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F2F5F9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492240" y="4846320"/>
            <a:ext cx="91440" cy="1508760"/>
          </a:xfrm>
          <a:prstGeom prst="rect">
            <a:avLst/>
          </a:prstGeom>
          <a:solidFill>
            <a:srgbClr val="E8590C"/>
          </a:solidFill>
          <a:ln/>
        </p:spPr>
      </p:sp>
      <p:sp>
        <p:nvSpPr>
          <p:cNvPr id="28" name="Text 25"/>
          <p:cNvSpPr/>
          <p:nvPr/>
        </p:nvSpPr>
        <p:spPr>
          <a:xfrm>
            <a:off x="6766560" y="4965192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conveyor dominates by an order of magnitude because it runs continuously — making it the prime predictive-maintenance target. Its T_motor output is exposed by the model, directly supporting the Industry 5.0 sustainability pillar.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rgbClr val="002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5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3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of 12 delivered · 2 with foundation laid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4076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modelling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54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modelling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36992" y="150876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50876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4" name="Text 12"/>
          <p:cNvSpPr/>
          <p:nvPr/>
        </p:nvSpPr>
        <p:spPr>
          <a:xfrm>
            <a:off x="8193024" y="15316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modelling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93024" y="1868285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23774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435075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representation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283464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51960" y="23774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2" name="Text 20"/>
          <p:cNvSpPr/>
          <p:nvPr/>
        </p:nvSpPr>
        <p:spPr>
          <a:xfrm>
            <a:off x="4507992" y="2366079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analysis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14919" y="27386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36992" y="237744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36992" y="237744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26" name="Text 24"/>
          <p:cNvSpPr/>
          <p:nvPr/>
        </p:nvSpPr>
        <p:spPr>
          <a:xfrm>
            <a:off x="8165592" y="2411245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export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11312" y="27375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32461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6928" y="324612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0" name="Text 28"/>
          <p:cNvSpPr/>
          <p:nvPr/>
        </p:nvSpPr>
        <p:spPr>
          <a:xfrm>
            <a:off x="795528" y="32781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orchestration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1248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251960" y="32461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51960" y="324612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32918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simulation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26280" y="36438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936992" y="324612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36992" y="324612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38" name="Text 36"/>
          <p:cNvSpPr/>
          <p:nvPr/>
        </p:nvSpPr>
        <p:spPr>
          <a:xfrm>
            <a:off x="8182495" y="33044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vs measurements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11312" y="370332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66928" y="4114800"/>
            <a:ext cx="35204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66928" y="4114800"/>
            <a:ext cx="91440" cy="73152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analysis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1248" y="45720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66928" y="50749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3233F"/>
          </a:solidFill>
          <a:ln w="12700">
            <a:solidFill>
              <a:srgbClr val="DCE3ED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886968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</a:t>
            </a:r>
            <a:r>
              <a:rPr lang="en-US" sz="1600" dirty="0">
                <a:solidFill>
                  <a:srgbClr val="C9D6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delivered.   The two open items — sensitivity/observability and parameter identification — have their workflow and tooling (Dymola 2026x calibration UI) defined for Phase 2.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ALIX · Industry 5.0 Digital Twin   |   Euler Laboratory, ISAE-Supméca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11274552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C5F8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" y="0"/>
            <a:ext cx="64008" cy="6858000"/>
          </a:xfrm>
          <a:prstGeom prst="rect">
            <a:avLst/>
          </a:prstGeom>
          <a:solidFill>
            <a:srgbClr val="1F8A70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" y="0"/>
            <a:ext cx="64008" cy="6858000"/>
          </a:xfrm>
          <a:prstGeom prst="rect">
            <a:avLst/>
          </a:prstGeom>
          <a:solidFill>
            <a:srgbClr val="D98A1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>
                    <a:lumMod val="50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ONE SENTENCE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08000"/>
              </a:lnSpc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validated multiphysics digital model of the ALIX line — three subsystems, three physics domains — matching the real line to R² = 0.999 on voltage, 0.91 on current and 99.2% on thermal, with every residual physically explained.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383280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1C3358"/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61188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416052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Validated, not asserted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590288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validation against real TDMS data and against the Dymola reference — numbers, not claims.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43984" y="3383280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1C3358"/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72584" y="3611880"/>
            <a:ext cx="457200" cy="457200"/>
          </a:xfrm>
          <a:prstGeom prst="ellipse">
            <a:avLst/>
          </a:prstGeom>
          <a:solidFill>
            <a:srgbClr val="1F8A70"/>
          </a:solidFill>
          <a:ln/>
        </p:spPr>
      </p:sp>
      <p:sp>
        <p:nvSpPr>
          <p:cNvPr id="14" name="Text 12"/>
          <p:cNvSpPr/>
          <p:nvPr/>
        </p:nvSpPr>
        <p:spPr>
          <a:xfrm>
            <a:off x="4672584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72584" y="416052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by construction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72584" y="4590288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= what could be measured. Every residual is named and traced to one physical cause.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65008" y="3383280"/>
            <a:ext cx="3456432" cy="1920240"/>
          </a:xfrm>
          <a:prstGeom prst="roundRect">
            <a:avLst>
              <a:gd name="adj" fmla="val 3810"/>
            </a:avLst>
          </a:prstGeom>
          <a:solidFill>
            <a:srgbClr val="1C3358"/>
          </a:solidFill>
          <a:ln w="12700">
            <a:solidFill>
              <a:srgbClr val="33486B"/>
            </a:solidFill>
            <a:prstDash val="solid"/>
          </a:ln>
          <a:effectLst>
            <a:outerShdw blurRad="88900" dist="38100" dir="5400000" algn="bl" rotWithShape="0">
              <a:srgbClr val="8090A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93608" y="3611880"/>
            <a:ext cx="457200" cy="4572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8293608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93608" y="4160520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to extend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93608" y="4590288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Modelica · FMI · Python — a Dassault-native foundation ready for calibration, a shadow, and a full twin.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Samiksha Satre   ·   Euler Laboratory, ISAE-Supméca   ·   github.com/samikshasatre/Mechatronics-modelling-of-entire-industry-5.0</a:t>
            </a:r>
            <a:endParaRPr lang="en-US" sz="115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1" id="{8B6F2118-8764-478A-86E4-C1D5536AF902}" vid="{AB981AC2-E895-480E-A60E-9FA1B1EDA1B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Thème1</Template>
  <TotalTime>3445</TotalTime>
  <Words>2965</Words>
  <Application>Microsoft Office PowerPoint</Application>
  <PresentationFormat>Grand écran</PresentationFormat>
  <Paragraphs>651</Paragraphs>
  <Slides>33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0" baseType="lpstr">
      <vt:lpstr>Aptos Display</vt:lpstr>
      <vt:lpstr>Arial</vt:lpstr>
      <vt:lpstr>Calibri</vt:lpstr>
      <vt:lpstr>Calibri (Corps)</vt:lpstr>
      <vt:lpstr>Trebuchet MS</vt:lpstr>
      <vt:lpstr>Wingdings</vt:lpstr>
      <vt:lpstr>Thème1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Mechatronics Modelling of an Entire Industry 5.0 Production Line</dc:title>
  <dc:subject>PptxGenJS Presentation</dc:subject>
  <dc:creator>Samiksha Satre</dc:creator>
  <cp:lastModifiedBy>SATRE Samiksha</cp:lastModifiedBy>
  <cp:revision>83</cp:revision>
  <dcterms:created xsi:type="dcterms:W3CDTF">2026-05-31T13:48:38Z</dcterms:created>
  <dcterms:modified xsi:type="dcterms:W3CDTF">2026-06-03T08:42:09Z</dcterms:modified>
</cp:coreProperties>
</file>